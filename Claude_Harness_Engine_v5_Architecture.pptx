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1.png"/><Relationship Id="rId23" Type="http://schemas.openxmlformats.org/officeDocument/2006/relationships/image" Target="../media/image-1-21.png"/><Relationship Id="rId24" Type="http://schemas.openxmlformats.org/officeDocument/2006/relationships/image" Target="../media/image-1-21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21.png"/><Relationship Id="rId39" Type="http://schemas.openxmlformats.org/officeDocument/2006/relationships/image" Target="../media/image-1-9.png"/><Relationship Id="rId40" Type="http://schemas.openxmlformats.org/officeDocument/2006/relationships/image" Target="../media/image-1-13.png"/><Relationship Id="rId41" Type="http://schemas.openxmlformats.org/officeDocument/2006/relationships/image" Target="../media/image-1-17.png"/><Relationship Id="rId42" Type="http://schemas.openxmlformats.org/officeDocument/2006/relationships/image" Target="../media/image-1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</a:t>
            </a:r>
            <a:pPr algn="ctr" indent="0" marL="0">
              <a:buNone/>
            </a:pPr>
            <a:r>
              <a:rPr lang="en-US" sz="1050" b="1" spc="300" kern="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HARNESS ENGINE v5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4320" y="292608"/>
            <a:ext cx="11640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22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Engineering Harness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</a:t>
            </a:r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Skills </a:t>
            </a:r>
            <a:pPr algn="ctr" indent="0" marL="0">
              <a:buNone/>
            </a:pPr>
            <a:r>
              <a:rPr lang="en-US" sz="1400" b="1" dirty="0">
                <a:solidFill>
                  <a:srgbClr val="B0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Hooks </a:t>
            </a:r>
            <a:pPr algn="ctr" indent="0" marL="0">
              <a:buNone/>
            </a:pPr>
            <a:r>
              <a:rPr lang="en-US" sz="1400" b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GAN Agents </a:t>
            </a:r>
            <a:pPr algn="ctr" indent="0" marL="0">
              <a:buNone/>
            </a:pPr>
            <a:r>
              <a:rPr lang="en-US" sz="140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Ratchet Control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069848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Model + Harness   ·   GAN generator/evaluator loop + Karpathy monotonic ratchet   ·   scaffold once, ship safely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32304" y="1389888"/>
            <a:ext cx="7327087" cy="852221"/>
          </a:xfrm>
          <a:prstGeom prst="roundRect">
            <a:avLst>
              <a:gd name="adj" fmla="val 9657"/>
            </a:avLst>
          </a:prstGeom>
          <a:solidFill>
            <a:srgbClr val="E7F1E9"/>
          </a:solidFill>
          <a:ln w="12700">
            <a:solidFill>
              <a:srgbClr val="DCEBE0"/>
            </a:solidFill>
            <a:prstDash val="solid"/>
          </a:ln>
          <a:effectLst>
            <a:outerShdw sx="100000" sy="100000" kx="0" ky="0" algn="bl" rotWithShape="0" blurRad="50800" dist="12700" dir="5400000">
              <a:srgbClr val="8A816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0" y="154167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C6E49"/>
          </a:solidFill>
          <a:ln/>
        </p:spPr>
      </p:sp>
      <p:pic>
        <p:nvPicPr>
          <p:cNvPr id="8" name="Image 0" descr="/root/work/harness_slide/icons/w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678838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478024" y="145938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478024" y="1459382"/>
            <a:ext cx="237744" cy="237744"/>
          </a:xfrm>
          <a:prstGeom prst="ellipse">
            <a:avLst/>
          </a:prstGeom>
          <a:ln w="15875">
            <a:solidFill>
              <a:srgbClr val="2C6E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78024" y="14593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73552" y="1481328"/>
            <a:ext cx="6339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&amp; MEMORY</a:t>
            </a:r>
            <a:pPr indent="0" marL="0">
              <a:buNone/>
            </a:pPr>
            <a:r>
              <a:rPr lang="en-US" sz="900" i="1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Constitution Layer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73552" y="1801368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14" name="Image 1" descr="/root/work/harness_slide/icons/l1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83428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312" y="1819656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agent rules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4819802" y="1801368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17" name="Image 2" descr="/root/work/harness_slide/icons/l1_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098" y="183428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5562" y="1819656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project-manifest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arch · budget knobs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6366053" y="1801368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20" name="Image 3" descr="/root/work/harness_slide/icons/l1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349" y="183428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31813" y="1819656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+ process rules</a:t>
            </a:r>
            <a:endParaRPr lang="en-US" sz="830" dirty="0"/>
          </a:p>
        </p:txBody>
      </p:sp>
      <p:sp>
        <p:nvSpPr>
          <p:cNvPr id="22" name="Text 16"/>
          <p:cNvSpPr/>
          <p:nvPr/>
        </p:nvSpPr>
        <p:spPr>
          <a:xfrm>
            <a:off x="7930591" y="1499616"/>
            <a:ext cx="1755648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2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/scaffold writes it once. Always loaded, always active — the project's constitution.</a:t>
            </a:r>
            <a:endParaRPr lang="en-US" sz="820" dirty="0"/>
          </a:p>
        </p:txBody>
      </p:sp>
      <p:sp>
        <p:nvSpPr>
          <p:cNvPr id="23" name="Shape 17"/>
          <p:cNvSpPr/>
          <p:nvPr/>
        </p:nvSpPr>
        <p:spPr>
          <a:xfrm>
            <a:off x="2432304" y="2333549"/>
            <a:ext cx="7327087" cy="852221"/>
          </a:xfrm>
          <a:prstGeom prst="roundRect">
            <a:avLst>
              <a:gd name="adj" fmla="val 9657"/>
            </a:avLst>
          </a:prstGeom>
          <a:solidFill>
            <a:srgbClr val="E2EEF3"/>
          </a:solidFill>
          <a:ln w="12700">
            <a:solidFill>
              <a:srgbClr val="D2E4EC"/>
            </a:solidFill>
            <a:prstDash val="solid"/>
          </a:ln>
          <a:effectLst>
            <a:outerShdw sx="100000" sy="100000" kx="0" ky="0" algn="bl" rotWithShape="0" blurRad="50800" dist="12700" dir="5400000">
              <a:srgbClr val="8A8168">
                <a:alpha val="2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560320" y="2485339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pic>
        <p:nvPicPr>
          <p:cNvPr id="25" name="Image 4" descr="/root/work/harness_slide/icons/w_puzz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622499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2478024" y="2403043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2478024" y="2403043"/>
            <a:ext cx="237744" cy="237744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478024" y="240304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273552" y="2424989"/>
            <a:ext cx="6339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LANES</a:t>
            </a:r>
            <a:pPr indent="0" marL="0">
              <a:buNone/>
            </a:pPr>
            <a:r>
              <a:rPr lang="en-US" sz="900" i="1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Workflow Layer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3273552" y="2745029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31" name="Image 5" descr="/root/work/harness_slide/icons/l2_ter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777947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9312" y="2763317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/build /feature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public surface</a:t>
            </a:r>
            <a:endParaRPr lang="en-US" sz="830" dirty="0"/>
          </a:p>
        </p:txBody>
      </p:sp>
      <p:sp>
        <p:nvSpPr>
          <p:cNvPr id="33" name="Shape 25"/>
          <p:cNvSpPr/>
          <p:nvPr/>
        </p:nvSpPr>
        <p:spPr>
          <a:xfrm>
            <a:off x="4819802" y="2745029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34" name="Image 6" descr="/root/work/harness_slide/icons/l2_bran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098" y="2777947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185562" y="2763317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skill lanes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brd→…→auto · change · vibe</a:t>
            </a:r>
            <a:endParaRPr lang="en-US" sz="830" dirty="0"/>
          </a:p>
        </p:txBody>
      </p:sp>
      <p:sp>
        <p:nvSpPr>
          <p:cNvPr id="36" name="Shape 27"/>
          <p:cNvSpPr/>
          <p:nvPr/>
        </p:nvSpPr>
        <p:spPr>
          <a:xfrm>
            <a:off x="6366053" y="2745029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37" name="Image 7" descr="/root/work/harness_slide/icons/l2_rou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349" y="2777947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731813" y="2763317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Z/L routing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→ lane + review plan</a:t>
            </a:r>
            <a:endParaRPr lang="en-US" sz="830" dirty="0"/>
          </a:p>
        </p:txBody>
      </p:sp>
      <p:sp>
        <p:nvSpPr>
          <p:cNvPr id="39" name="Text 29"/>
          <p:cNvSpPr/>
          <p:nvPr/>
        </p:nvSpPr>
        <p:spPr>
          <a:xfrm>
            <a:off x="7930591" y="2443277"/>
            <a:ext cx="1755648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2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skills; the harness classifies scope and picks the lane for you.</a:t>
            </a:r>
            <a:endParaRPr lang="en-US" sz="820" dirty="0"/>
          </a:p>
        </p:txBody>
      </p:sp>
      <p:sp>
        <p:nvSpPr>
          <p:cNvPr id="40" name="Shape 30"/>
          <p:cNvSpPr/>
          <p:nvPr/>
        </p:nvSpPr>
        <p:spPr>
          <a:xfrm>
            <a:off x="2432304" y="3277210"/>
            <a:ext cx="7327087" cy="852221"/>
          </a:xfrm>
          <a:prstGeom prst="roundRect">
            <a:avLst>
              <a:gd name="adj" fmla="val 9657"/>
            </a:avLst>
          </a:prstGeom>
          <a:solidFill>
            <a:srgbClr val="F7EDD6"/>
          </a:solidFill>
          <a:ln w="12700">
            <a:solidFill>
              <a:srgbClr val="EEDFBE"/>
            </a:solidFill>
            <a:prstDash val="solid"/>
          </a:ln>
          <a:effectLst>
            <a:outerShdw sx="100000" sy="100000" kx="0" ky="0" algn="bl" rotWithShape="0" blurRad="50800" dist="12700" dir="5400000">
              <a:srgbClr val="8A8168">
                <a:alpha val="28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2560320" y="34290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B07414"/>
          </a:solidFill>
          <a:ln/>
        </p:spPr>
      </p:sp>
      <p:pic>
        <p:nvPicPr>
          <p:cNvPr id="42" name="Image 8" descr="/root/work/harness_slide/icons/w_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480" y="3566160"/>
            <a:ext cx="274320" cy="27432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478024" y="334670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33"/>
          <p:cNvSpPr/>
          <p:nvPr/>
        </p:nvSpPr>
        <p:spPr>
          <a:xfrm>
            <a:off x="2478024" y="3346704"/>
            <a:ext cx="237744" cy="237744"/>
          </a:xfrm>
          <a:prstGeom prst="ellipse">
            <a:avLst/>
          </a:prstGeom>
          <a:ln w="15875">
            <a:solidFill>
              <a:srgbClr val="B07414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2478024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7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3273552" y="3368650"/>
            <a:ext cx="6339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GATES</a:t>
            </a:r>
            <a:pPr indent="0" marL="0">
              <a:buNone/>
            </a:pPr>
            <a:r>
              <a:rPr lang="en-US" sz="900" i="1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Guardrail Layer</a:t>
            </a:r>
            <a:endParaRPr lang="en-US" sz="1250" dirty="0"/>
          </a:p>
        </p:txBody>
      </p:sp>
      <p:sp>
        <p:nvSpPr>
          <p:cNvPr id="47" name="Shape 36"/>
          <p:cNvSpPr/>
          <p:nvPr/>
        </p:nvSpPr>
        <p:spPr>
          <a:xfrm>
            <a:off x="3273552" y="3688690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48" name="Image 9" descr="/root/work/harness_slide/icons/l3_bol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5848" y="3721608"/>
            <a:ext cx="219456" cy="2194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3639312" y="3706978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pre/post-tool · stop</a:t>
            </a:r>
            <a:endParaRPr lang="en-US" sz="830" dirty="0"/>
          </a:p>
        </p:txBody>
      </p:sp>
      <p:sp>
        <p:nvSpPr>
          <p:cNvPr id="50" name="Shape 38"/>
          <p:cNvSpPr/>
          <p:nvPr/>
        </p:nvSpPr>
        <p:spPr>
          <a:xfrm>
            <a:off x="4819802" y="3688690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51" name="Image 10" descr="/root/work/harness_slide/icons/l3_lo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098" y="3721608"/>
            <a:ext cx="219456" cy="219456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5185562" y="3706978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rm-rf · no stub-to-green</a:t>
            </a:r>
            <a:endParaRPr lang="en-US" sz="830" dirty="0"/>
          </a:p>
        </p:txBody>
      </p:sp>
      <p:sp>
        <p:nvSpPr>
          <p:cNvPr id="53" name="Shape 40"/>
          <p:cNvSpPr/>
          <p:nvPr/>
        </p:nvSpPr>
        <p:spPr>
          <a:xfrm>
            <a:off x="6366053" y="3688690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54" name="Image 11" descr="/root/work/harness_slide/icons/l3_shie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349" y="3721608"/>
            <a:ext cx="219456" cy="219456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731813" y="3706978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pre-commit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ratchet + prompt-cache lock</a:t>
            </a:r>
            <a:endParaRPr lang="en-US" sz="830" dirty="0"/>
          </a:p>
        </p:txBody>
      </p:sp>
      <p:sp>
        <p:nvSpPr>
          <p:cNvPr id="56" name="Text 42"/>
          <p:cNvSpPr/>
          <p:nvPr/>
        </p:nvSpPr>
        <p:spPr>
          <a:xfrm>
            <a:off x="7930591" y="3386938"/>
            <a:ext cx="1755648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20" i="1" dirty="0">
                <a:solidFill>
                  <a:srgbClr val="B0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AI — fires on every write, tool call, and commit.</a:t>
            </a:r>
            <a:endParaRPr lang="en-US" sz="820" dirty="0"/>
          </a:p>
        </p:txBody>
      </p:sp>
      <p:sp>
        <p:nvSpPr>
          <p:cNvPr id="57" name="Shape 43"/>
          <p:cNvSpPr/>
          <p:nvPr/>
        </p:nvSpPr>
        <p:spPr>
          <a:xfrm>
            <a:off x="2432304" y="4220870"/>
            <a:ext cx="7327087" cy="852221"/>
          </a:xfrm>
          <a:prstGeom prst="roundRect">
            <a:avLst>
              <a:gd name="adj" fmla="val 9657"/>
            </a:avLst>
          </a:prstGeom>
          <a:solidFill>
            <a:srgbClr val="ECE6F4"/>
          </a:solidFill>
          <a:ln w="12700">
            <a:solidFill>
              <a:srgbClr val="DED3EE"/>
            </a:solidFill>
            <a:prstDash val="solid"/>
          </a:ln>
          <a:effectLst>
            <a:outerShdw sx="100000" sy="100000" kx="0" ky="0" algn="bl" rotWithShape="0" blurRad="50800" dist="12700" dir="5400000">
              <a:srgbClr val="8A8168">
                <a:alpha val="28000"/>
              </a:srgbClr>
            </a:outerShdw>
          </a:effectLst>
        </p:spPr>
      </p:sp>
      <p:sp>
        <p:nvSpPr>
          <p:cNvPr id="58" name="Shape 44"/>
          <p:cNvSpPr/>
          <p:nvPr/>
        </p:nvSpPr>
        <p:spPr>
          <a:xfrm>
            <a:off x="2560320" y="4372661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B4E9E"/>
          </a:solidFill>
          <a:ln/>
        </p:spPr>
      </p:sp>
      <p:pic>
        <p:nvPicPr>
          <p:cNvPr id="59" name="Image 12" descr="/root/work/harness_slide/icons/w_user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7480" y="4509821"/>
            <a:ext cx="274320" cy="274320"/>
          </a:xfrm>
          <a:prstGeom prst="rect">
            <a:avLst/>
          </a:prstGeom>
        </p:spPr>
      </p:pic>
      <p:sp>
        <p:nvSpPr>
          <p:cNvPr id="60" name="Shape 45"/>
          <p:cNvSpPr/>
          <p:nvPr/>
        </p:nvSpPr>
        <p:spPr>
          <a:xfrm>
            <a:off x="2478024" y="4290365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Shape 46"/>
          <p:cNvSpPr/>
          <p:nvPr/>
        </p:nvSpPr>
        <p:spPr>
          <a:xfrm>
            <a:off x="2478024" y="4290365"/>
            <a:ext cx="237744" cy="237744"/>
          </a:xfrm>
          <a:prstGeom prst="ellipse">
            <a:avLst/>
          </a:prstGeom>
          <a:ln w="15875">
            <a:solidFill>
              <a:srgbClr val="6B4E9E"/>
            </a:solidFill>
            <a:prstDash val="solid"/>
          </a:ln>
        </p:spPr>
      </p:sp>
      <p:sp>
        <p:nvSpPr>
          <p:cNvPr id="62" name="Text 47"/>
          <p:cNvSpPr/>
          <p:nvPr/>
        </p:nvSpPr>
        <p:spPr>
          <a:xfrm>
            <a:off x="2478024" y="429036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63" name="Text 48"/>
          <p:cNvSpPr/>
          <p:nvPr/>
        </p:nvSpPr>
        <p:spPr>
          <a:xfrm>
            <a:off x="3273552" y="4312310"/>
            <a:ext cx="6339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GAN LOOP</a:t>
            </a:r>
            <a:pPr indent="0" marL="0">
              <a:buNone/>
            </a:pPr>
            <a:r>
              <a:rPr lang="en-US" sz="900" i="1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Delegation Layer</a:t>
            </a:r>
            <a:endParaRPr lang="en-US" sz="1250" dirty="0"/>
          </a:p>
        </p:txBody>
      </p:sp>
      <p:sp>
        <p:nvSpPr>
          <p:cNvPr id="64" name="Shape 49"/>
          <p:cNvSpPr/>
          <p:nvPr/>
        </p:nvSpPr>
        <p:spPr>
          <a:xfrm>
            <a:off x="3273552" y="4632350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65" name="Image 13" descr="/root/work/harness_slide/icons/l4_user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55848" y="4665269"/>
            <a:ext cx="219456" cy="219456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3639312" y="4650638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subagents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reviewers</a:t>
            </a:r>
            <a:endParaRPr lang="en-US" sz="830" dirty="0"/>
          </a:p>
        </p:txBody>
      </p:sp>
      <p:sp>
        <p:nvSpPr>
          <p:cNvPr id="67" name="Shape 51"/>
          <p:cNvSpPr/>
          <p:nvPr/>
        </p:nvSpPr>
        <p:spPr>
          <a:xfrm>
            <a:off x="4819802" y="4632350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68" name="Image 14" descr="/root/work/harness_slide/icons/l4_rota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02098" y="4665269"/>
            <a:ext cx="219456" cy="219456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5185562" y="4650638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⟷ Evaluator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self-grading</a:t>
            </a:r>
            <a:endParaRPr lang="en-US" sz="830" dirty="0"/>
          </a:p>
        </p:txBody>
      </p:sp>
      <p:sp>
        <p:nvSpPr>
          <p:cNvPr id="70" name="Shape 53"/>
          <p:cNvSpPr/>
          <p:nvPr/>
        </p:nvSpPr>
        <p:spPr>
          <a:xfrm>
            <a:off x="6366053" y="4632350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71" name="Image 15" descr="/root/work/harness_slide/icons/l4_layer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349" y="4665269"/>
            <a:ext cx="219456" cy="219456"/>
          </a:xfrm>
          <a:prstGeom prst="rect">
            <a:avLst/>
          </a:prstGeom>
        </p:spPr>
      </p:pic>
      <p:sp>
        <p:nvSpPr>
          <p:cNvPr id="72" name="Text 54"/>
          <p:cNvSpPr/>
          <p:nvPr/>
        </p:nvSpPr>
        <p:spPr>
          <a:xfrm>
            <a:off x="6731813" y="4650638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· Sonnet · Haiku</a:t>
            </a:r>
            <a:endParaRPr lang="en-US" sz="830" dirty="0"/>
          </a:p>
        </p:txBody>
      </p:sp>
      <p:sp>
        <p:nvSpPr>
          <p:cNvPr id="73" name="Text 55"/>
          <p:cNvSpPr/>
          <p:nvPr/>
        </p:nvSpPr>
        <p:spPr>
          <a:xfrm>
            <a:off x="7930591" y="4330598"/>
            <a:ext cx="1755648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20" i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generate→evaluate loop, self-heal ×3; agent teams ≤5 parallel.</a:t>
            </a:r>
            <a:endParaRPr lang="en-US" sz="820" dirty="0"/>
          </a:p>
        </p:txBody>
      </p:sp>
      <p:sp>
        <p:nvSpPr>
          <p:cNvPr id="74" name="Shape 56"/>
          <p:cNvSpPr/>
          <p:nvPr/>
        </p:nvSpPr>
        <p:spPr>
          <a:xfrm>
            <a:off x="2432304" y="5164531"/>
            <a:ext cx="7327087" cy="852221"/>
          </a:xfrm>
          <a:prstGeom prst="roundRect">
            <a:avLst>
              <a:gd name="adj" fmla="val 9657"/>
            </a:avLst>
          </a:prstGeom>
          <a:solidFill>
            <a:srgbClr val="E4EEE7"/>
          </a:solidFill>
          <a:ln w="12700">
            <a:solidFill>
              <a:srgbClr val="D3E4D9"/>
            </a:solidFill>
            <a:prstDash val="solid"/>
          </a:ln>
          <a:effectLst>
            <a:outerShdw sx="100000" sy="100000" kx="0" ky="0" algn="bl" rotWithShape="0" blurRad="50800" dist="12700" dir="5400000">
              <a:srgbClr val="8A8168">
                <a:alpha val="28000"/>
              </a:srgbClr>
            </a:outerShdw>
          </a:effectLst>
        </p:spPr>
      </p:sp>
      <p:sp>
        <p:nvSpPr>
          <p:cNvPr id="75" name="Shape 57"/>
          <p:cNvSpPr/>
          <p:nvPr/>
        </p:nvSpPr>
        <p:spPr>
          <a:xfrm>
            <a:off x="2560320" y="531632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F5132"/>
          </a:solidFill>
          <a:ln/>
        </p:spPr>
      </p:sp>
      <p:pic>
        <p:nvPicPr>
          <p:cNvPr id="76" name="Image 16" descr="/root/work/harness_slide/icons/w_gaug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7480" y="5453482"/>
            <a:ext cx="274320" cy="274320"/>
          </a:xfrm>
          <a:prstGeom prst="rect">
            <a:avLst/>
          </a:prstGeom>
        </p:spPr>
      </p:pic>
      <p:sp>
        <p:nvSpPr>
          <p:cNvPr id="77" name="Shape 58"/>
          <p:cNvSpPr/>
          <p:nvPr/>
        </p:nvSpPr>
        <p:spPr>
          <a:xfrm>
            <a:off x="2478024" y="523402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Shape 59"/>
          <p:cNvSpPr/>
          <p:nvPr/>
        </p:nvSpPr>
        <p:spPr>
          <a:xfrm>
            <a:off x="2478024" y="5234026"/>
            <a:ext cx="237744" cy="237744"/>
          </a:xfrm>
          <a:prstGeom prst="ellipse">
            <a:avLst/>
          </a:prstGeom>
          <a:ln w="15875">
            <a:solidFill>
              <a:srgbClr val="1F5132"/>
            </a:solidFill>
            <a:prstDash val="solid"/>
          </a:ln>
        </p:spPr>
      </p:sp>
      <p:sp>
        <p:nvSpPr>
          <p:cNvPr id="79" name="Text 60"/>
          <p:cNvSpPr/>
          <p:nvPr/>
        </p:nvSpPr>
        <p:spPr>
          <a:xfrm>
            <a:off x="2478024" y="523402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80" name="Text 61"/>
          <p:cNvSpPr/>
          <p:nvPr/>
        </p:nvSpPr>
        <p:spPr>
          <a:xfrm>
            <a:off x="3273552" y="5255971"/>
            <a:ext cx="6339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 &amp; RATCHET</a:t>
            </a:r>
            <a:pPr indent="0" marL="0">
              <a:buNone/>
            </a:pPr>
            <a:r>
              <a:rPr lang="en-US" sz="900" i="1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Quality Layer</a:t>
            </a:r>
            <a:endParaRPr lang="en-US" sz="1250" dirty="0"/>
          </a:p>
        </p:txBody>
      </p:sp>
      <p:sp>
        <p:nvSpPr>
          <p:cNvPr id="81" name="Shape 62"/>
          <p:cNvSpPr/>
          <p:nvPr/>
        </p:nvSpPr>
        <p:spPr>
          <a:xfrm>
            <a:off x="3273552" y="5576011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82" name="Image 17" descr="/root/work/harness_slide/icons/l5_compass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5848" y="5608930"/>
            <a:ext cx="219456" cy="219456"/>
          </a:xfrm>
          <a:prstGeom prst="rect">
            <a:avLst/>
          </a:prstGeom>
        </p:spPr>
      </p:pic>
      <p:sp>
        <p:nvSpPr>
          <p:cNvPr id="83" name="Text 63"/>
          <p:cNvSpPr/>
          <p:nvPr/>
        </p:nvSpPr>
        <p:spPr>
          <a:xfrm>
            <a:off x="3639312" y="5594299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quality axes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· arch · behav · trace</a:t>
            </a:r>
            <a:endParaRPr lang="en-US" sz="830" dirty="0"/>
          </a:p>
        </p:txBody>
      </p:sp>
      <p:sp>
        <p:nvSpPr>
          <p:cNvPr id="84" name="Shape 64"/>
          <p:cNvSpPr/>
          <p:nvPr/>
        </p:nvSpPr>
        <p:spPr>
          <a:xfrm>
            <a:off x="4819802" y="5576011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85" name="Image 18" descr="/root/work/harness_slide/icons/l5_boo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02098" y="5608930"/>
            <a:ext cx="219456" cy="219456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5185562" y="5594299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× Sensors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HARNESS.md registry</a:t>
            </a:r>
            <a:endParaRPr lang="en-US" sz="830" dirty="0"/>
          </a:p>
        </p:txBody>
      </p:sp>
      <p:sp>
        <p:nvSpPr>
          <p:cNvPr id="87" name="Shape 66"/>
          <p:cNvSpPr/>
          <p:nvPr/>
        </p:nvSpPr>
        <p:spPr>
          <a:xfrm>
            <a:off x="6366053" y="5576011"/>
            <a:ext cx="1454810" cy="340157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DECB"/>
            </a:solidFill>
            <a:prstDash val="solid"/>
          </a:ln>
        </p:spPr>
      </p:sp>
      <p:pic>
        <p:nvPicPr>
          <p:cNvPr id="88" name="Image 19" descr="/root/work/harness_slide/icons/l5_char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48349" y="5608930"/>
            <a:ext cx="219456" cy="219456"/>
          </a:xfrm>
          <a:prstGeom prst="rect">
            <a:avLst/>
          </a:prstGeom>
        </p:spPr>
      </p:pic>
      <p:sp>
        <p:nvSpPr>
          <p:cNvPr id="89" name="Text 67"/>
          <p:cNvSpPr/>
          <p:nvPr/>
        </p:nvSpPr>
        <p:spPr>
          <a:xfrm>
            <a:off x="6731813" y="5594299"/>
            <a:ext cx="1034186" cy="303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ratchet</a:t>
            </a:r>
            <a:endParaRPr lang="en-US" sz="8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· cycles · perf</a:t>
            </a:r>
            <a:endParaRPr lang="en-US" sz="830" dirty="0"/>
          </a:p>
        </p:txBody>
      </p:sp>
      <p:sp>
        <p:nvSpPr>
          <p:cNvPr id="90" name="Text 68"/>
          <p:cNvSpPr/>
          <p:nvPr/>
        </p:nvSpPr>
        <p:spPr>
          <a:xfrm>
            <a:off x="7930591" y="5274259"/>
            <a:ext cx="1755648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20" i="1" dirty="0">
                <a:solidFill>
                  <a:srgbClr val="1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only moves forward. Cadence: planning → session → commit → integration → drift.</a:t>
            </a:r>
            <a:endParaRPr lang="en-US" sz="820" dirty="0"/>
          </a:p>
        </p:txBody>
      </p:sp>
      <p:pic>
        <p:nvPicPr>
          <p:cNvPr id="91" name="Image 20" descr="/root/work/harness_slide/icons/w_rout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914" cy="914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2560320" y="2196389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pic>
        <p:nvPicPr>
          <p:cNvPr id="93" name="Image 21" descr="/root/work/harness_slide/icons/w_rout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0"/>
            <a:ext cx="914" cy="914"/>
          </a:xfrm>
          <a:prstGeom prst="rect">
            <a:avLst/>
          </a:prstGeom>
        </p:spPr>
      </p:pic>
      <p:sp>
        <p:nvSpPr>
          <p:cNvPr id="94" name="Text 70"/>
          <p:cNvSpPr/>
          <p:nvPr/>
        </p:nvSpPr>
        <p:spPr>
          <a:xfrm>
            <a:off x="2560320" y="314005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pic>
        <p:nvPicPr>
          <p:cNvPr id="95" name="Image 22" descr="/root/work/harness_slide/icons/w_rout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" cy="914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2560320" y="408371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pic>
        <p:nvPicPr>
          <p:cNvPr id="97" name="Image 23" descr="/root/work/harness_slide/icons/w_rout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914" cy="914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2560320" y="5027371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9" name="Shape 73"/>
          <p:cNvSpPr/>
          <p:nvPr/>
        </p:nvSpPr>
        <p:spPr>
          <a:xfrm>
            <a:off x="256032" y="1389888"/>
            <a:ext cx="2029968" cy="4626864"/>
          </a:xfrm>
          <a:prstGeom prst="roundRect">
            <a:avLst>
              <a:gd name="adj" fmla="val 4054"/>
            </a:avLst>
          </a:prstGeom>
          <a:solidFill>
            <a:srgbClr val="F1E9D6"/>
          </a:solidFill>
          <a:ln w="12700">
            <a:solidFill>
              <a:srgbClr val="DCD0B6"/>
            </a:solidFill>
            <a:prstDash val="solid"/>
          </a:ln>
          <a:effectLst>
            <a:outerShdw sx="100000" sy="100000" kx="0" ky="0" algn="bl" rotWithShape="0" blurRad="50800" dist="12700" dir="5400000">
              <a:srgbClr val="8A8168">
                <a:alpha val="28000"/>
              </a:srgbClr>
            </a:outerShdw>
          </a:effectLst>
        </p:spPr>
      </p:sp>
      <p:sp>
        <p:nvSpPr>
          <p:cNvPr id="100" name="Shape 74"/>
          <p:cNvSpPr/>
          <p:nvPr/>
        </p:nvSpPr>
        <p:spPr>
          <a:xfrm>
            <a:off x="402336" y="1536192"/>
            <a:ext cx="365760" cy="365760"/>
          </a:xfrm>
          <a:prstGeom prst="ellipse">
            <a:avLst/>
          </a:prstGeom>
          <a:solidFill>
            <a:srgbClr val="2A2E34"/>
          </a:solidFill>
          <a:ln/>
        </p:spPr>
      </p:sp>
      <p:pic>
        <p:nvPicPr>
          <p:cNvPr id="101" name="Image 24" descr="/root/work/harness_slide/icons/w_plug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3776" y="1627632"/>
            <a:ext cx="182880" cy="182880"/>
          </a:xfrm>
          <a:prstGeom prst="rect">
            <a:avLst/>
          </a:prstGeom>
        </p:spPr>
      </p:pic>
      <p:sp>
        <p:nvSpPr>
          <p:cNvPr id="102" name="Text 75"/>
          <p:cNvSpPr/>
          <p:nvPr/>
        </p:nvSpPr>
        <p:spPr>
          <a:xfrm>
            <a:off x="859536" y="15179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EXTERNAL</a:t>
            </a:r>
            <a:endParaRPr lang="en-US" sz="1150" dirty="0"/>
          </a:p>
        </p:txBody>
      </p:sp>
      <p:pic>
        <p:nvPicPr>
          <p:cNvPr id="103" name="Image 25" descr="/root/work/harness_slide/icons/sb_plug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2336" y="2339035"/>
            <a:ext cx="201168" cy="201168"/>
          </a:xfrm>
          <a:prstGeom prst="rect">
            <a:avLst/>
          </a:prstGeom>
        </p:spPr>
      </p:pic>
      <p:sp>
        <p:nvSpPr>
          <p:cNvPr id="104" name="Text 76"/>
          <p:cNvSpPr/>
          <p:nvPr/>
        </p:nvSpPr>
        <p:spPr>
          <a:xfrm>
            <a:off x="694944" y="2048256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harness-nav MCP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 navigation server</a:t>
            </a:r>
            <a:endParaRPr lang="en-US" sz="930" dirty="0"/>
          </a:p>
        </p:txBody>
      </p:sp>
      <p:pic>
        <p:nvPicPr>
          <p:cNvPr id="105" name="Image 26" descr="/root/work/harness_slide/icons/sb_cod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2336" y="3121762"/>
            <a:ext cx="201168" cy="201168"/>
          </a:xfrm>
          <a:prstGeom prst="rect">
            <a:avLst/>
          </a:prstGeom>
        </p:spPr>
      </p:pic>
      <p:sp>
        <p:nvSpPr>
          <p:cNvPr id="106" name="Text 77"/>
          <p:cNvSpPr/>
          <p:nvPr/>
        </p:nvSpPr>
        <p:spPr>
          <a:xfrm>
            <a:off x="694944" y="2830982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servers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pyright · tsserver · gopls</a:t>
            </a:r>
            <a:endParaRPr lang="en-US" sz="930" dirty="0"/>
          </a:p>
        </p:txBody>
      </p:sp>
      <p:pic>
        <p:nvPicPr>
          <p:cNvPr id="107" name="Image 27" descr="/root/work/harness_slide/icons/sb_github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2336" y="3904488"/>
            <a:ext cx="201168" cy="201168"/>
          </a:xfrm>
          <a:prstGeom prst="rect">
            <a:avLst/>
          </a:prstGeom>
        </p:spPr>
      </p:pic>
      <p:sp>
        <p:nvSpPr>
          <p:cNvPr id="108" name="Text 78"/>
          <p:cNvSpPr/>
          <p:nvPr/>
        </p:nvSpPr>
        <p:spPr>
          <a:xfrm>
            <a:off x="694944" y="3613709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· issues · CI checks</a:t>
            </a:r>
            <a:endParaRPr lang="en-US" sz="930" dirty="0"/>
          </a:p>
        </p:txBody>
      </p:sp>
      <p:pic>
        <p:nvPicPr>
          <p:cNvPr id="109" name="Image 28" descr="/root/work/harness_slide/icons/sb_list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2336" y="4687214"/>
            <a:ext cx="201168" cy="201168"/>
          </a:xfrm>
          <a:prstGeom prst="rect">
            <a:avLst/>
          </a:prstGeom>
        </p:spPr>
      </p:pic>
      <p:sp>
        <p:nvSpPr>
          <p:cNvPr id="110" name="Text 79"/>
          <p:cNvSpPr/>
          <p:nvPr/>
        </p:nvSpPr>
        <p:spPr>
          <a:xfrm>
            <a:off x="694944" y="4396435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Jira boards</a:t>
            </a:r>
            <a:endParaRPr lang="en-US" sz="930" dirty="0"/>
          </a:p>
        </p:txBody>
      </p:sp>
      <p:pic>
        <p:nvPicPr>
          <p:cNvPr id="111" name="Image 29" descr="/root/work/harness_slide/icons/sb_puzzl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2336" y="5469941"/>
            <a:ext cx="201168" cy="201168"/>
          </a:xfrm>
          <a:prstGeom prst="rect">
            <a:avLst/>
          </a:prstGeom>
        </p:spPr>
      </p:pic>
      <p:sp>
        <p:nvSpPr>
          <p:cNvPr id="112" name="Text 80"/>
          <p:cNvSpPr/>
          <p:nvPr/>
        </p:nvSpPr>
        <p:spPr>
          <a:xfrm>
            <a:off x="694944" y="5179162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plugins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· code-review · playwright</a:t>
            </a:r>
            <a:endParaRPr lang="en-US" sz="930" dirty="0"/>
          </a:p>
        </p:txBody>
      </p:sp>
      <p:sp>
        <p:nvSpPr>
          <p:cNvPr id="113" name="Shape 81"/>
          <p:cNvSpPr/>
          <p:nvPr/>
        </p:nvSpPr>
        <p:spPr>
          <a:xfrm>
            <a:off x="9905695" y="1389888"/>
            <a:ext cx="2029968" cy="4626864"/>
          </a:xfrm>
          <a:prstGeom prst="roundRect">
            <a:avLst>
              <a:gd name="adj" fmla="val 4054"/>
            </a:avLst>
          </a:prstGeom>
          <a:solidFill>
            <a:srgbClr val="F1E9D6"/>
          </a:solidFill>
          <a:ln w="12700">
            <a:solidFill>
              <a:srgbClr val="DCD0B6"/>
            </a:solidFill>
            <a:prstDash val="solid"/>
          </a:ln>
          <a:effectLst>
            <a:outerShdw sx="100000" sy="100000" kx="0" ky="0" algn="bl" rotWithShape="0" blurRad="50800" dist="12700" dir="5400000">
              <a:srgbClr val="8A8168">
                <a:alpha val="28000"/>
              </a:srgbClr>
            </a:outerShdw>
          </a:effectLst>
        </p:spPr>
      </p:sp>
      <p:sp>
        <p:nvSpPr>
          <p:cNvPr id="114" name="Shape 82"/>
          <p:cNvSpPr/>
          <p:nvPr/>
        </p:nvSpPr>
        <p:spPr>
          <a:xfrm>
            <a:off x="10051999" y="1536192"/>
            <a:ext cx="365760" cy="365760"/>
          </a:xfrm>
          <a:prstGeom prst="ellipse">
            <a:avLst/>
          </a:prstGeom>
          <a:solidFill>
            <a:srgbClr val="2A2E34"/>
          </a:solidFill>
          <a:ln/>
        </p:spPr>
      </p:sp>
      <p:pic>
        <p:nvPicPr>
          <p:cNvPr id="115" name="Image 30" descr="/root/work/harness_slide/icons/w_server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43439" y="1627632"/>
            <a:ext cx="182880" cy="182880"/>
          </a:xfrm>
          <a:prstGeom prst="rect">
            <a:avLst/>
          </a:prstGeom>
        </p:spPr>
      </p:pic>
      <p:sp>
        <p:nvSpPr>
          <p:cNvPr id="116" name="Text 83"/>
          <p:cNvSpPr/>
          <p:nvPr/>
        </p:nvSpPr>
        <p:spPr>
          <a:xfrm>
            <a:off x="10509199" y="15179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A2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RUNTIMES &amp; DELIVERY</a:t>
            </a:r>
            <a:endParaRPr lang="en-US" sz="1150" dirty="0"/>
          </a:p>
        </p:txBody>
      </p:sp>
      <p:pic>
        <p:nvPicPr>
          <p:cNvPr id="117" name="Image 31" descr="/root/work/harness_slide/icons/sb_server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51999" y="2339035"/>
            <a:ext cx="201168" cy="201168"/>
          </a:xfrm>
          <a:prstGeom prst="rect">
            <a:avLst/>
          </a:prstGeom>
        </p:spPr>
      </p:pic>
      <p:sp>
        <p:nvSpPr>
          <p:cNvPr id="118" name="Text 84"/>
          <p:cNvSpPr/>
          <p:nvPr/>
        </p:nvSpPr>
        <p:spPr>
          <a:xfrm>
            <a:off x="10344607" y="2048256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runtimes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Agent-Factory (symphony)</a:t>
            </a:r>
            <a:endParaRPr lang="en-US" sz="930" dirty="0"/>
          </a:p>
        </p:txBody>
      </p:sp>
      <p:pic>
        <p:nvPicPr>
          <p:cNvPr id="119" name="Image 32" descr="/root/work/harness_slide/icons/sb_box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051999" y="3121762"/>
            <a:ext cx="201168" cy="201168"/>
          </a:xfrm>
          <a:prstGeom prst="rect">
            <a:avLst/>
          </a:prstGeom>
        </p:spPr>
      </p:pic>
      <p:sp>
        <p:nvSpPr>
          <p:cNvPr id="120" name="Text 85"/>
          <p:cNvSpPr/>
          <p:nvPr/>
        </p:nvSpPr>
        <p:spPr>
          <a:xfrm>
            <a:off x="10344607" y="2830982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harness-core · full · lite</a:t>
            </a:r>
            <a:endParaRPr lang="en-US" sz="930" dirty="0"/>
          </a:p>
        </p:txBody>
      </p:sp>
      <p:pic>
        <p:nvPicPr>
          <p:cNvPr id="121" name="Image 33" descr="/root/work/harness_slide/icons/sb_compass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51999" y="3904488"/>
            <a:ext cx="201168" cy="201168"/>
          </a:xfrm>
          <a:prstGeom prst="rect">
            <a:avLst/>
          </a:prstGeom>
        </p:spPr>
      </p:pic>
      <p:sp>
        <p:nvSpPr>
          <p:cNvPr id="122" name="Text 86"/>
          <p:cNvSpPr/>
          <p:nvPr/>
        </p:nvSpPr>
        <p:spPr>
          <a:xfrm>
            <a:off x="10344607" y="3613709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Governor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DeepWiki · code-graph · CCR</a:t>
            </a:r>
            <a:endParaRPr lang="en-US" sz="930" dirty="0"/>
          </a:p>
        </p:txBody>
      </p:sp>
      <p:pic>
        <p:nvPicPr>
          <p:cNvPr id="123" name="Image 34" descr="/root/work/harness_slide/icons/sb_usercheck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051999" y="4687214"/>
            <a:ext cx="201168" cy="201168"/>
          </a:xfrm>
          <a:prstGeom prst="rect">
            <a:avLst/>
          </a:prstGeom>
        </p:spPr>
      </p:pic>
      <p:sp>
        <p:nvSpPr>
          <p:cNvPr id="124" name="Text 87"/>
          <p:cNvSpPr/>
          <p:nvPr/>
        </p:nvSpPr>
        <p:spPr>
          <a:xfrm>
            <a:off x="10344607" y="4396435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proof; never auto-merges</a:t>
            </a:r>
            <a:endParaRPr lang="en-US" sz="930" dirty="0"/>
          </a:p>
        </p:txBody>
      </p:sp>
      <p:pic>
        <p:nvPicPr>
          <p:cNvPr id="125" name="Image 35" descr="/root/work/harness_slide/icons/sb_chart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051999" y="5469941"/>
            <a:ext cx="201168" cy="201168"/>
          </a:xfrm>
          <a:prstGeom prst="rect">
            <a:avLst/>
          </a:prstGeom>
        </p:spPr>
      </p:pic>
      <p:sp>
        <p:nvSpPr>
          <p:cNvPr id="126" name="Text 88"/>
          <p:cNvSpPr/>
          <p:nvPr/>
        </p:nvSpPr>
        <p:spPr>
          <a:xfrm>
            <a:off x="10344607" y="5179162"/>
            <a:ext cx="1517904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93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770" dirty="0">
                <a:solidFill>
                  <a:srgbClr val="6C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OTEL</a:t>
            </a:r>
            <a:endParaRPr lang="en-US" sz="930" dirty="0"/>
          </a:p>
        </p:txBody>
      </p:sp>
      <p:sp>
        <p:nvSpPr>
          <p:cNvPr id="127" name="Shape 89"/>
          <p:cNvSpPr/>
          <p:nvPr/>
        </p:nvSpPr>
        <p:spPr>
          <a:xfrm>
            <a:off x="256032" y="6126480"/>
            <a:ext cx="11679631" cy="585216"/>
          </a:xfrm>
          <a:prstGeom prst="roundRect">
            <a:avLst>
              <a:gd name="adj" fmla="val 14063"/>
            </a:avLst>
          </a:prstGeom>
          <a:solidFill>
            <a:srgbClr val="F4EEDF"/>
          </a:solidFill>
          <a:ln w="12700">
            <a:solidFill>
              <a:srgbClr val="DCD0B6"/>
            </a:solidFill>
            <a:prstDash val="solid"/>
          </a:ln>
        </p:spPr>
      </p:sp>
      <p:sp>
        <p:nvSpPr>
          <p:cNvPr id="128" name="Shape 90"/>
          <p:cNvSpPr/>
          <p:nvPr/>
        </p:nvSpPr>
        <p:spPr>
          <a:xfrm>
            <a:off x="630936" y="6227064"/>
            <a:ext cx="384048" cy="38404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29" name="Image 36" descr="/root/work/harness_slide/icons/w_fil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31520" y="6327648"/>
            <a:ext cx="182880" cy="182880"/>
          </a:xfrm>
          <a:prstGeom prst="rect">
            <a:avLst/>
          </a:prstGeom>
        </p:spPr>
      </p:pic>
      <p:sp>
        <p:nvSpPr>
          <p:cNvPr id="130" name="Text 91"/>
          <p:cNvSpPr/>
          <p:nvPr/>
        </p:nvSpPr>
        <p:spPr>
          <a:xfrm>
            <a:off x="1069848" y="6126480"/>
            <a:ext cx="11358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050" dirty="0"/>
          </a:p>
        </p:txBody>
      </p:sp>
      <p:sp>
        <p:nvSpPr>
          <p:cNvPr id="131" name="Text 92"/>
          <p:cNvSpPr/>
          <p:nvPr/>
        </p:nvSpPr>
        <p:spPr>
          <a:xfrm>
            <a:off x="2159965" y="612648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2" name="Shape 93"/>
          <p:cNvSpPr/>
          <p:nvPr/>
        </p:nvSpPr>
        <p:spPr>
          <a:xfrm>
            <a:off x="2470861" y="62270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3" name="Image 37" descr="/root/work/harness_slide/icons/w_rout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571445" y="6327648"/>
            <a:ext cx="182880" cy="182880"/>
          </a:xfrm>
          <a:prstGeom prst="rect">
            <a:avLst/>
          </a:prstGeom>
        </p:spPr>
      </p:pic>
      <p:sp>
        <p:nvSpPr>
          <p:cNvPr id="134" name="Text 94"/>
          <p:cNvSpPr/>
          <p:nvPr/>
        </p:nvSpPr>
        <p:spPr>
          <a:xfrm>
            <a:off x="2909773" y="6126480"/>
            <a:ext cx="11358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lane</a:t>
            </a:r>
            <a:endParaRPr lang="en-US" sz="1050" dirty="0"/>
          </a:p>
        </p:txBody>
      </p:sp>
      <p:sp>
        <p:nvSpPr>
          <p:cNvPr id="135" name="Text 95"/>
          <p:cNvSpPr/>
          <p:nvPr/>
        </p:nvSpPr>
        <p:spPr>
          <a:xfrm>
            <a:off x="3999890" y="612648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6" name="Shape 96"/>
          <p:cNvSpPr/>
          <p:nvPr/>
        </p:nvSpPr>
        <p:spPr>
          <a:xfrm>
            <a:off x="4310786" y="6227064"/>
            <a:ext cx="384048" cy="384048"/>
          </a:xfrm>
          <a:prstGeom prst="ellipse">
            <a:avLst/>
          </a:prstGeom>
          <a:solidFill>
            <a:srgbClr val="B07414"/>
          </a:solidFill>
          <a:ln/>
        </p:spPr>
      </p:sp>
      <p:pic>
        <p:nvPicPr>
          <p:cNvPr id="137" name="Image 38" descr="/root/work/harness_slide/icons/w_shiel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411370" y="6327648"/>
            <a:ext cx="182880" cy="182880"/>
          </a:xfrm>
          <a:prstGeom prst="rect">
            <a:avLst/>
          </a:prstGeom>
        </p:spPr>
      </p:pic>
      <p:sp>
        <p:nvSpPr>
          <p:cNvPr id="138" name="Text 97"/>
          <p:cNvSpPr/>
          <p:nvPr/>
        </p:nvSpPr>
        <p:spPr>
          <a:xfrm>
            <a:off x="4749698" y="6126480"/>
            <a:ext cx="11358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gates</a:t>
            </a:r>
            <a:endParaRPr lang="en-US" sz="1050" dirty="0"/>
          </a:p>
        </p:txBody>
      </p:sp>
      <p:sp>
        <p:nvSpPr>
          <p:cNvPr id="139" name="Text 98"/>
          <p:cNvSpPr/>
          <p:nvPr/>
        </p:nvSpPr>
        <p:spPr>
          <a:xfrm>
            <a:off x="5839816" y="612648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0" name="Shape 99"/>
          <p:cNvSpPr/>
          <p:nvPr/>
        </p:nvSpPr>
        <p:spPr>
          <a:xfrm>
            <a:off x="6150712" y="6227064"/>
            <a:ext cx="384048" cy="384048"/>
          </a:xfrm>
          <a:prstGeom prst="ellipse">
            <a:avLst/>
          </a:prstGeom>
          <a:solidFill>
            <a:srgbClr val="6B4E9E"/>
          </a:solidFill>
          <a:ln/>
        </p:spPr>
      </p:sp>
      <p:pic>
        <p:nvPicPr>
          <p:cNvPr id="141" name="Image 39" descr="/root/work/harness_slide/icons/w_users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251296" y="6327648"/>
            <a:ext cx="182880" cy="182880"/>
          </a:xfrm>
          <a:prstGeom prst="rect">
            <a:avLst/>
          </a:prstGeom>
        </p:spPr>
      </p:pic>
      <p:sp>
        <p:nvSpPr>
          <p:cNvPr id="142" name="Text 100"/>
          <p:cNvSpPr/>
          <p:nvPr/>
        </p:nvSpPr>
        <p:spPr>
          <a:xfrm>
            <a:off x="6589624" y="6126480"/>
            <a:ext cx="11358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judge</a:t>
            </a:r>
            <a:endParaRPr lang="en-US" sz="1050" dirty="0"/>
          </a:p>
        </p:txBody>
      </p:sp>
      <p:sp>
        <p:nvSpPr>
          <p:cNvPr id="143" name="Text 101"/>
          <p:cNvSpPr/>
          <p:nvPr/>
        </p:nvSpPr>
        <p:spPr>
          <a:xfrm>
            <a:off x="7679741" y="612648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4" name="Shape 102"/>
          <p:cNvSpPr/>
          <p:nvPr/>
        </p:nvSpPr>
        <p:spPr>
          <a:xfrm>
            <a:off x="7990637" y="6227064"/>
            <a:ext cx="384048" cy="384048"/>
          </a:xfrm>
          <a:prstGeom prst="ellipse">
            <a:avLst/>
          </a:prstGeom>
          <a:solidFill>
            <a:srgbClr val="1F5132"/>
          </a:solidFill>
          <a:ln/>
        </p:spPr>
      </p:sp>
      <p:pic>
        <p:nvPicPr>
          <p:cNvPr id="145" name="Image 40" descr="/root/work/harness_slide/icons/w_gaug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91221" y="6327648"/>
            <a:ext cx="182880" cy="182880"/>
          </a:xfrm>
          <a:prstGeom prst="rect">
            <a:avLst/>
          </a:prstGeom>
        </p:spPr>
      </p:pic>
      <p:sp>
        <p:nvSpPr>
          <p:cNvPr id="146" name="Text 103"/>
          <p:cNvSpPr/>
          <p:nvPr/>
        </p:nvSpPr>
        <p:spPr>
          <a:xfrm>
            <a:off x="8429549" y="6126480"/>
            <a:ext cx="11358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Ratchet quality</a:t>
            </a:r>
            <a:endParaRPr lang="en-US" sz="1050" dirty="0"/>
          </a:p>
        </p:txBody>
      </p:sp>
      <p:sp>
        <p:nvSpPr>
          <p:cNvPr id="147" name="Text 104"/>
          <p:cNvSpPr/>
          <p:nvPr/>
        </p:nvSpPr>
        <p:spPr>
          <a:xfrm>
            <a:off x="9519666" y="612648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8" name="Shape 105"/>
          <p:cNvSpPr/>
          <p:nvPr/>
        </p:nvSpPr>
        <p:spPr>
          <a:xfrm>
            <a:off x="9830562" y="6227064"/>
            <a:ext cx="384048" cy="384048"/>
          </a:xfrm>
          <a:prstGeom prst="ellipse">
            <a:avLst/>
          </a:prstGeom>
          <a:solidFill>
            <a:srgbClr val="22252A"/>
          </a:solidFill>
          <a:ln/>
        </p:spPr>
      </p:sp>
      <p:pic>
        <p:nvPicPr>
          <p:cNvPr id="149" name="Image 41" descr="/root/work/harness_slide/icons/w_usercheck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931146" y="6327648"/>
            <a:ext cx="182880" cy="182880"/>
          </a:xfrm>
          <a:prstGeom prst="rect">
            <a:avLst/>
          </a:prstGeom>
        </p:spPr>
      </p:pic>
      <p:sp>
        <p:nvSpPr>
          <p:cNvPr id="150" name="Text 106"/>
          <p:cNvSpPr/>
          <p:nvPr/>
        </p:nvSpPr>
        <p:spPr>
          <a:xfrm>
            <a:off x="10269474" y="6126480"/>
            <a:ext cx="11358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merges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2026-07-18T05:04:42Z</dcterms:created>
  <dcterms:modified xsi:type="dcterms:W3CDTF">2026-07-18T05:04:42Z</dcterms:modified>
</cp:coreProperties>
</file>