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91440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Calibri"/>
              </a:rPr>
              <a:t>Claude Harness Engine v1.1.1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8638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Autonomous SDLC Scaffolding for Agentic Software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alibri"/>
              </a:rPr>
              <a:t>GAN Architecture · Karpathy Ratchet · Agent Teams · Session Chaining · Superpowers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21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7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14 HOOKS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1 BOOT CMD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8 PLUGINS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Designed for engineering teams shipping long-running, agentic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What's New in v1.1.1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Updates since the original deck — codebase has grown along five axes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Brownfield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727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/brownfield maps existing codebases (codebase-map, architecture, tests, risks, change strategy) before any planning or refactor.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Vibe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/vibe — controlled small-change lane with micro-contract, narrow scope, targeted verification, reviewer enforcement.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Superpowers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5727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brainstorming · writing-plans · TDD · systematic-debugging · verification-before-completion are invoked at named pipeline stages.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8803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Lint-Drift Entropy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1729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/lint-drift sweeps agent-generated code for pattern drift and ships targeted cleanup PRs.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28803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Hardened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1729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14 hooks (was 12): pre-tool length gate, track-writes ledger, require-review Stop hook, sprint-contract-gate on commits.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8803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Plugin-First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31729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8 official Claude Code plugins enabled via settings.json (superpowers, code-review, frontend-design, context7, ...).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3484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Net effect: full SDLC + adapts to existing codebases + lets humans steer mid-flight.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Why Traditional Agent Pods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The four failure modes the harness was built to neutralize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32588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Self-Evaluation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61848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Agents grade their own work, miss critical failures, and declare success prematurely.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23444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2588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No Monotonic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1848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Each iteration can regress prior work. Coverage drops, bugs reappear, features break.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9748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78892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Context Window Amnesia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08152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Long builds lose early decisions. No state survives across sessions.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9748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78892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Flat Team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08152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All agents share equal authority. No structural separation between creation and verification.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51960"/>
            <a:ext cx="8321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The harness answers each with structural separation, ratchet gates, append-only state, and explicit role hierarchy.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Five orthogonal commitments — each subsequent slide traces back to one of these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GAN Separation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7276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Generator writes code. Evaluator verifies independently. Neither can do the other's job. No self-grading.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Karpathy Ratchet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Every metric moves forward, never backward. Monotonic quality improvement enforced by 6 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887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Institutional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57276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Failures become learned-rules.md. Knowledge compounds across sessions and is injected into all future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6974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78892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Phased Agent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08152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DAG-driven parallel execution with dependency handshakes between phases. Up to 5 teammates per phase.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6974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278892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Skills + Agents +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08152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Claude Code's three primitives composed into a runtime: skills give procedure, agents give specialized models, hooks enforce invariants.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6974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7889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3108960"/>
            <a:ext cx="237744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These five commitments are non-negotiable. Every command, agent, and hook in the codebase is an instance of one of them. If a change would weaken one, it doesn't ship.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Repository Layout — Anatomy of `.claude/`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What gets copied into every scaffolded project. This is the entire harness on disk.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02336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onsolas"/>
              </a:rPr>
              <a:t>.claude/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749039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.claude-plugin/</a:t>
            </a:r>
            <a:r>
              <a:rPr sz="1000">
                <a:solidFill>
                  <a:srgbClr val="94A3B8"/>
                </a:solidFill>
                <a:latin typeface="Calibri"/>
              </a:rPr>
              <a:t>plugin.json — name, version, description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commands/      </a:t>
            </a:r>
            <a:r>
              <a:rPr sz="1000">
                <a:solidFill>
                  <a:srgbClr val="94A3B8"/>
                </a:solidFill>
                <a:latin typeface="Calibri"/>
              </a:rPr>
              <a:t>scaffold.md — only true slash command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skills/  (21)  </a:t>
            </a:r>
            <a:r>
              <a:rPr sz="1000">
                <a:solidFill>
                  <a:srgbClr val="94A3B8"/>
                </a:solidFill>
                <a:latin typeface="Calibri"/>
              </a:rPr>
              <a:t>SKILL.md per skill, fork context, optional refs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agents/   (7)  </a:t>
            </a:r>
            <a:r>
              <a:rPr sz="1000">
                <a:solidFill>
                  <a:srgbClr val="94A3B8"/>
                </a:solidFill>
                <a:latin typeface="Calibri"/>
              </a:rPr>
              <a:t>.md per agent, frontmatter declares tools+model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hooks/   (14)  </a:t>
            </a:r>
            <a:r>
              <a:rPr sz="1000">
                <a:solidFill>
                  <a:srgbClr val="94A3B8"/>
                </a:solidFill>
                <a:latin typeface="Calibri"/>
              </a:rPr>
              <a:t>Node scripts wired in settings.json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templates/     </a:t>
            </a:r>
            <a:r>
              <a:rPr sz="1000">
                <a:solidFill>
                  <a:srgbClr val="94A3B8"/>
                </a:solidFill>
                <a:latin typeface="Calibri"/>
              </a:rPr>
              <a:t>sprint-contract.json, story.template.md, ...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state/         </a:t>
            </a:r>
            <a:r>
              <a:rPr sz="1000">
                <a:solidFill>
                  <a:srgbClr val="94A3B8"/>
                </a:solidFill>
                <a:latin typeface="Calibri"/>
              </a:rPr>
              <a:t>learned-rules, failures, vibe-log, pending-reviews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architecture.md</a:t>
            </a:r>
            <a:r>
              <a:rPr sz="1000">
                <a:solidFill>
                  <a:srgbClr val="94A3B8"/>
                </a:solidFill>
                <a:latin typeface="Calibri"/>
              </a:rPr>
              <a:t>Layer hierarchy + import rules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program.md     </a:t>
            </a:r>
            <a:r>
              <a:rPr sz="1000">
                <a:solidFill>
                  <a:srgbClr val="94A3B8"/>
                </a:solidFill>
                <a:latin typeface="Calibri"/>
              </a:rPr>
              <a:t>Karpathy human-agent bridge — edit to steer /auto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└─ settings.json  </a:t>
            </a:r>
            <a:r>
              <a:rPr sz="1000">
                <a:solidFill>
                  <a:srgbClr val="94A3B8"/>
                </a:solidFill>
                <a:latin typeface="Calibri"/>
              </a:rPr>
              <a:t>Hook config, permissions, enabled plugins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4300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070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Two parallel state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8404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Project-side  →  specs/  (BRD, stories, design, reviews, brownfield)
                features.json, claude-progress.txt, sprint-contracts/
Harness-side  →  .claude/state/  (learned-rules, failures, vibe-log,
                pending-reviews.jsonl, iteration-log, coverage-baseline)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971800"/>
            <a:ext cx="4114800" cy="1645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0358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Crucial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37560"/>
            <a:ext cx="38404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specs/  is mutated only by agents (planner, generator, evaluator).
.claude/state/  is mutated by hooks AND agents — it is the durable
ratchet memory across context windows.
program.md  is the only file humans edit during /auto.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Runtime Mechanics — How Claude Code Loads the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Five Claude Code primitives — composed into one autonomous SDLC 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commands/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True slash commands.
Claude Code reads frontmatter
and executes the file as a
turn-by-turn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5144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5144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Skill files surfaced to the
model via the Skill tool.
Claude invokes them on intent
match — they look like commands.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9624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4216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agents/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4216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Subagents with their own tool
allowlist + model tier.
Spawned via the Agent tool
from skills or other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68696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hooks/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Node scripts run by Claude
Code at lifecycle events:
PreTool, PostTool, Stop,
TaskCompleted, TeammateIdle.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templates/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Static files (.json, .md)
read by skills and agents
as authoritative scaffolds
(e.g. sprint-contract.json).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6118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Lifecycle on a typical turn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User /command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01368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Claude resolves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91256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Skill body runs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81144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Spawns Agent(s)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71032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Hooks fire on Edit/Bash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Templates / state updated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Why `/scaffold` Is the Only File in `commands/`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Bootloader vs runtime — the key distinction in the harness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11480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onsolas"/>
              </a:rPr>
              <a:t>.claude/commands/scaffold.md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The bootloader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3749039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Asks 5 setup questions (stack, project type, verification, plugins...)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Writes project-manifest.json + calibration-profile.json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Copies the entire `.claude/` tree into the target project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Generates CLAUDE.md, design.md, init.sh, .gitignore, features.json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Creates specs/, sprint-contracts/, e2e/ output directories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Initializes claude-progress.txt session 0 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43000"/>
            <a:ext cx="406908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207008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onsolas"/>
              </a:rPr>
              <a:t>.claude/skills/*/SKILL.md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54480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The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20240"/>
            <a:ext cx="3703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Once `/scaffold` has run once, all subsequent work happens through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skills surfaced as virtual slash commands.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Why it works: Claude Code ships with a Skill tool. Any file matching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`.claude/skills/&lt;name&gt;/SKILL.md` with a frontmatter `name:` and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`description:` becomes invocable. Users type `/&lt;name&gt;` and the harness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responds with the skill body — indistinguishable from a real command.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Benefit: skills get progressive disclosure (loaded only when matched),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context: fork (isolated sub-context), and `argument-hint` autocomplete.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Real `commands/` files would all be loaded into every turn's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Skills as Virtual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Frontmatter `name:` becomes the slash command — Claude routes intent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8321040" cy="77724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1381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---
name: brownfield
description: Discover and map an existing codebase before planning or changing it.
argument-hint: "[optional-focus-path-or-goal]"
context: fork
agent: planner
---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325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INVOKE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11680"/>
            <a:ext cx="2103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1325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6771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/scaffold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6771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commands/scaffold.md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6771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Real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26771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Bootstrap a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40944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/brd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40944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skills/brd/SKILL.md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40944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40944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Socratic BRD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55117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/spec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5117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skills/spec/SKILL.md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55117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55117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BRD → stories + dep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269290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692908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skills/design/SKILL.md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69290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692908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Architecture + mockups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83464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2834640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skills/build/SKILL.md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83464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2834640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9-phase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297637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/auto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297637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skills/auto/SKILL.md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297637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97637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Autonomous ratchet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11810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/implement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311810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skills/implement/SKILL.md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11810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11810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Spawn agent team for group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325983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/evaluate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25983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skills/evaluate/SKILL.md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325983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325983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Run app, verify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340156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3401568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skills/review/SKILL.md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40156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3401568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Evaluator + security scan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354330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3543300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skills/test/SKILL.md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354330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3543300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Test plan + Playwright E2E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368503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/deploy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368503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skills/deploy/SKILL.md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368503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368503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Docker Compose + init.sh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382676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/brownfield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37360" y="382676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skills/brownfield/SKILL.md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382676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66360" y="382676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Map an existing codebase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396849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/vibe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37360" y="396849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skills/vibe/SKILL.md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0" y="396849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396849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Controlled small-change lane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411022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/clarify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37360" y="4110228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skills/clarify/SKILL.md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0" y="411022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66360" y="4110228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Bounded clarification gate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425196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/fix-issue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37360" y="4251960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skills/fix-issue/SKILL.md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0" y="425196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66360" y="4251960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GitHub issue workflow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439369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/refactor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37360" y="439369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skills/refactor/SKILL.md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0480" y="439369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66360" y="439369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Quality-driven refactor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453542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/improve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37360" y="453542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skills/improve/SKILL.md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0" y="453542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453542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Story-driven enhancement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467715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/lint-drift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37360" y="467715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skills/lint-drift/SKILL.md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0480" y="467715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467715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Pattern-drift entropy scan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21 Skills, Grouped by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Lifecycle skills + reference skills — only one file in `commands/` is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Pipeline (full SDLC)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/build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/brd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/spec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/design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/implement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/evaluate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/review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/test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/deploy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/auto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Discovery &amp; Lanes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/brownfield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/vibe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/clarify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/fix-issue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/refactor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/improve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/lint-drift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Reference (no slash)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/architecture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/code-gen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/evaluation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Reference skills (architecture, code-gen, evaluation, testing) carry no `/slash` — they are read by agents inline.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Agent Activation — How a Skill Spawns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From slash command to a constrained subagent with its own tool allowlist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1. User types
/auto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29844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92224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7944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2. Skill tool resolves
skills/auto/SKILL.md</a:t>
            </a:r>
          </a:p>
        </p:txBody>
      </p:sp>
      <p:sp>
        <p:nvSpPr>
          <p:cNvPr id="11" name="Oval 10"/>
          <p:cNvSpPr/>
          <p:nvPr/>
        </p:nvSpPr>
        <p:spPr>
          <a:xfrm>
            <a:off x="1883664" y="1298448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72968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3. Skill body executes
(reads program.md,
learned-rules)</a:t>
            </a:r>
          </a:p>
        </p:txBody>
      </p:sp>
      <p:sp>
        <p:nvSpPr>
          <p:cNvPr id="14" name="Oval 13"/>
          <p:cNvSpPr/>
          <p:nvPr/>
        </p:nvSpPr>
        <p:spPr>
          <a:xfrm>
            <a:off x="3264408" y="1298448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4. Skill calls Agent tool
subagent_type='generator'</a:t>
            </a:r>
          </a:p>
        </p:txBody>
      </p:sp>
      <p:sp>
        <p:nvSpPr>
          <p:cNvPr id="17" name="Oval 16"/>
          <p:cNvSpPr/>
          <p:nvPr/>
        </p:nvSpPr>
        <p:spPr>
          <a:xfrm>
            <a:off x="4645152" y="129844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34456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0176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5. Generator runs in
fork context with its
own tool allowlist</a:t>
            </a:r>
          </a:p>
        </p:txBody>
      </p:sp>
      <p:sp>
        <p:nvSpPr>
          <p:cNvPr id="20" name="Oval 19"/>
          <p:cNvSpPr/>
          <p:nvPr/>
        </p:nvSpPr>
        <p:spPr>
          <a:xfrm>
            <a:off x="6025896" y="1298448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6. Agent emits result
back to /auto</a:t>
            </a:r>
          </a:p>
        </p:txBody>
      </p:sp>
      <p:sp>
        <p:nvSpPr>
          <p:cNvPr id="23" name="Oval 22"/>
          <p:cNvSpPr/>
          <p:nvPr/>
        </p:nvSpPr>
        <p:spPr>
          <a:xfrm>
            <a:off x="7406640" y="129844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1480" y="2423160"/>
            <a:ext cx="4114800" cy="219456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487168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Agent frontmatter is the contract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788920"/>
            <a:ext cx="38404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---
name: evaluator
description: Skeptical verifier that runs the
  application and checks sprint contract criteria...
tools:
  - Read
  - Bash
  - mcp__plugin_playwright_playwright__browser_navigate
  - mcp__plugin_playwright_playwright__browser_click
  - mcp__plugin_playwright_playwright__browser_snapshot
---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423160"/>
            <a:ext cx="406908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487168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What the runtime guarantees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788920"/>
            <a:ext cx="3794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Agents only see tools listed in their frontmatter — others raise.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`context: fork` skills run agents in a sub-context: parent is unaffected.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Model tier (Opus / Sonnet / Haiku) is set per-agent, not per-skill.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Skills inject `learned-rules.md` verbatim into every agent prompt.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Hooks still fire inside the subagent on Edit / Write / Bash.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Output returns to caller as a structured tool result — not free text.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7 Agents — Roles, Models, Tool Grants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Frontmatter declares both. Generator can spawn other agents via the Agent tool; others cannot.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417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777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188720"/>
            <a:ext cx="28346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KEY TOOL GRANTS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188720"/>
            <a:ext cx="3749039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RESPONSIBILITY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447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813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4813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4813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Glob · Grep ·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4813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BRD · stories · dep graph · architecture · schemas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9019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9385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9385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19385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+ Edit · Agent (spawns teammates)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9385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Implements code + tests · spawns agent team · TDD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3591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3957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evaluator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3957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3957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+ Playwright MCP (navigate, click, fill, snap)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3957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Runs app · 3-layer verification · structured failures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8163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8529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design-critic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28529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Opus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28529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+ Playwright MCP (resize, hover, screenshot)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8529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GAN scoring (DQ/O/C/F) · plateau pivot · 4 criteria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2735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3101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ui-designer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3101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33101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Glob · Grep · Bash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3101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React+Tailwind HTML mockups · aesthetic direction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7307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7673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onsolas"/>
              </a:rPr>
              <a:t>test-engineer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7673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37673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Edit · Glob · Grep · Bash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7673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Test plan · TC files · Playwright E2E · fixtures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1879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2245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security-reviewer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2245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42245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Grep · Glob · Bash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2245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OWASP scan · BLOCK/WARN/INFO triage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Hooks — 14 Enforcement Layers Wired in `settings.json`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Hooks run automatically at lifecycle events. They cannot be skipped by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2697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EVENT MATCHER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097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HOOK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09728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35024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53312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PreToolUse → Write|Edit|MultiEdit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353312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enforce-length-pre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353312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Block oversized files at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595628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595628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scope-directory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595628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Reject writes outside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819656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837944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837944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protect-env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837944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Refuse changes to .env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080260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080260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detect-secrets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080260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Refuse hardcoded secrets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304288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322576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322576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lint-on-save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322576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ruff / eslint on every save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564892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2564892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typecheck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2564892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mypy / tsc on every save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788920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807208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2807208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check-architecture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807208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One-way layer imports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049524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3049524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check-function-length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3049524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Functions ≤ 50 lines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273552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291840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3291840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check-file-length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3291840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Files ≤ 300 lines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3534156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3534156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track-writes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3534156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Append to pending-reviews.jsonl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3758184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776472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Bash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3776472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pre-commit-gate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3776472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Block commit if gates fail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018788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Bash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4018788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sprint-contract-gate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4018788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Block /build until contract OK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4242816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261104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Stop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4261104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require-review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74920" y="4261104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Force reviewer agent before turn ends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4503420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TaskCompleted / TeammateIdle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503420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Consolas"/>
              </a:rPr>
              <a:t>task-completed · teammate-idle-check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4503420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Close + nudge stuck teammates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Templates — How Skills Use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Static scaffolds in `.claude/templates/` are the authoritative shapes the harness writes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97864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sprint-contract.json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/auto, generator (proposes), evaluator (finalizes).
Defines api_checks, playwright_checks, design_checks, architecture_checks.
Becomes immutable after evaluator approves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43000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197864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story.template.md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35608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/spec when planner expands BRD → stories.
Provides ID · layer · group · readiness · acceptance criteria · dependencies.
/improve and /fix-issue reuse the same shape.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929384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84248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docker-compose.template.yml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21992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/deploy. Token-replaced for backend, frontend, db, evaluator network.
Health check endpoints + service ordering match verification.health_check.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929384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984248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init-sh.template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221992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/scaffold and /deploy. Placeholders {{BACKEND_INSTALL}} etc. are
filled from project-manifest presets (uv vs npm, Docker vs local).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715768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70632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playwright.config.template.ts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08376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/test and test-engineer agent. baseURL · testDir · timeouts.
Becomes e2e/ root config the evaluator's Playwright MCP runs against.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715768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770632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onsolas"/>
              </a:rPr>
              <a:t>features-template.json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08376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Schema for root features.json — every acceptance criterion becomes one entry
(passes, last_evaluated, failure_reason, failure_layer).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3502152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3557016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onsolas"/>
              </a:rPr>
              <a:t>context.template.md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794760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/brownfield when a domain glossary is warranted. Keeps domain
terms close to code without bloating CLAUDE.md.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End-to-End SDLC Pipeline — 9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Phase 0 (brownfield) is new. /build orchestrates phases 1-8; /auto handles phase 5-7 autonomously.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1371600"/>
            <a:ext cx="329184" cy="32918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/brownfield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Map
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if greenfield, skip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4168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36776" y="137160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6776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  <a:latin typeface="Consolas"/>
              </a:rPr>
              <a:t>/brd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Socratic
Interview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human 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76856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69464" y="137160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9464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76856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  <a:latin typeface="Consolas"/>
              </a:rPr>
              <a:t>/spec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2576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Stories +
Dep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856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human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9544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02152" y="137160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2152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9544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  <a:latin typeface="Consolas"/>
              </a:rPr>
              <a:t>/design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5264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Architecture
&amp; Mockups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9544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human gate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42232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34840" y="137160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2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Consolas"/>
              </a:rPr>
              <a:t>/implement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2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Agent Team
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42232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phased DAG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367528" y="137160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7528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Consolas"/>
              </a:rPr>
              <a:t>/evaluate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3-Layer
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API+UI+Vision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07608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00216" y="137160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0216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07608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Consolas"/>
              </a:rPr>
              <a:t>/review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Security
+ Sprint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7608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OWASP scan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0296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232904" y="1371600"/>
            <a:ext cx="329184" cy="32918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2904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0296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Consolas"/>
              </a:rPr>
              <a:t>/test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86016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Plan +
E2E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0296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Playwright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72984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65592" y="1371600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72984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Consolas"/>
              </a:rPr>
              <a:t>/deploy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18704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Docker +
init.sh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72984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compose stack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352044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/auto runs phases 5-7 in a self-healing loop until features pass or stopping criteria are met (max 50 iterations).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384048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/vibe is an off-pipeline lane for tiny safe changes. /improve, /refactor, /fix-issue re-enter the pipeline at /spec or /implement.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Brownfield + Vibe — Lane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Two new lanes added in v1.1.1 to handle reality: existing code and tiny low-risk edits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1148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</a:rPr>
              <a:t>/brownfield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840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Before substantial planning, refactor, or feature work in any existing repository.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Outputs (specs/brownfield/)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codebase-map.md   languages, entry points, services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architecture-map.md  modules, layers, data flow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test-map.md  commands, coverage signals, gaps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risk-map.md  auth, billing, migrations, fragile zones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change-strategy.md  recommended lane for future work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CONTEXT.md  domain glossary (only if meaningful)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143000"/>
            <a:ext cx="406908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207008"/>
            <a:ext cx="3794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923C"/>
                </a:solidFill>
                <a:latin typeface="Consolas"/>
              </a:rPr>
              <a:t>/vibe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54480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Eligibility (all must hold)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828800"/>
            <a:ext cx="3794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Change describable in one sentence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≤ 3 files, &lt; 150 lines diff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No new product workflow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Doesn't alter auth, privacy, billing, migrations, public API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Verifiable with a targeted command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Rollback is simple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46120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520440"/>
            <a:ext cx="37947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Classify (CV0/CV1/CV2) → micro-contract → inspect → TDD if behavior → narrow edit → targeted verify → reviewer 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Karpathy's Ratchet — Monotonic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Once a metric passes, it can never regress. Quality only moves forward.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234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Unit Tests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4592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pytest / vitest exit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21031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All modes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430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234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1234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Lint + Types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64592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ruff / mypy / tsc exit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21031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All modes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1430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234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1234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Coverage ≥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64592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Floor 80%, never drops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21031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All modes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7432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27432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Architecture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315468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Layer imports + schema 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" y="36118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Full / Lean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37560" y="27432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27432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Evaluator 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315468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API + Playwright vs running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36118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Full / Lean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26480" y="27432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27432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Design Critic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315468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Vision scoring (4 criteria)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36118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Full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160520"/>
            <a:ext cx="8321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Turbo mode (Opus 4.6+) collapses gates 4-6 to a single end-of-build run; gates 1-3 still fire per commit.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Self-Healing on Gate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Max 3 attempts per gate. Each attempt uses a different fix strategy.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234440"/>
            <a:ext cx="329184" cy="32918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Calibri"/>
              </a:rPr>
              <a:t>Diagnose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Read structured
failure JSON +
superpowers:
systematic-debugging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15768" y="123444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B923C"/>
                </a:solidFill>
                <a:latin typeface="Calibri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10 categories:
lint · type · import
key · timeout ·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9896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79976" y="123444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Calibri"/>
              </a:rPr>
              <a:t>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6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Targeted strategy
(must differ from
prior attempts)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4104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44184" y="1234440"/>
            <a:ext cx="329184" cy="32918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4184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A78BFA"/>
                </a:solidFill>
                <a:latin typeface="Calibri"/>
              </a:rPr>
              <a:t>Re-Run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Only the failed
gate re-executes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68312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8392" y="1234440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  <a:latin typeface="Calibri"/>
              </a:rPr>
              <a:t>Pass / Escalate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3rd fail: revert,
log, extract rule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017520"/>
            <a:ext cx="8321040" cy="16002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108960"/>
            <a:ext cx="8138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10 Failure Categories — each maps to a distinct auto-fix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lint_format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76272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type_error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03904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import_error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31536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key_error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59168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timeout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connection_refused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76272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validation_error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03904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assertion_error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31536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api_transient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59168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api_permanent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Continuous Learning — Institutional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Failures become learned rules. Knowledge compounds across sessions.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5720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Failure-Driven Learning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1. Agent encounters failure during build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2. Failure logged to .claude/state/failures.md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3. Same error type appears 2+ times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4. Learned rule extracted automatically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5. Rule appended to learned-rules.md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6. Rule injected verbatim into ALL future agent prompts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7. Prevents regression across sessions, agents, modes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14300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207008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Learned Rule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002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Source       </a:t>
            </a:r>
            <a:r>
              <a:rPr sz="1000">
                <a:solidFill>
                  <a:srgbClr val="CBD5E1"/>
                </a:solidFill>
                <a:latin typeface="Calibri"/>
              </a:rPr>
              <a:t>Group · Story · Iteration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Impact       </a:t>
            </a:r>
            <a:r>
              <a:rPr sz="1000">
                <a:solidFill>
                  <a:srgbClr val="CBD5E1"/>
                </a:solidFill>
                <a:latin typeface="Calibri"/>
              </a:rPr>
              <a:t>Quantified damage metric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Pattern      </a:t>
            </a:r>
            <a:r>
              <a:rPr sz="1000">
                <a:solidFill>
                  <a:srgbClr val="CBD5E1"/>
                </a:solidFill>
                <a:latin typeface="Calibri"/>
              </a:rPr>
              <a:t>Repeated error signature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Mistake      </a:t>
            </a:r>
            <a:r>
              <a:rPr sz="1000">
                <a:solidFill>
                  <a:srgbClr val="CBD5E1"/>
                </a:solidFill>
                <a:latin typeface="Calibri"/>
              </a:rPr>
              <a:t>What happened, why it failed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Anti-Pattern </a:t>
            </a:r>
            <a:r>
              <a:rPr sz="1000">
                <a:solidFill>
                  <a:srgbClr val="CBD5E1"/>
                </a:solidFill>
                <a:latin typeface="Calibri"/>
              </a:rPr>
              <a:t>Bad code example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Better       </a:t>
            </a:r>
            <a:r>
              <a:rPr sz="1000">
                <a:solidFill>
                  <a:srgbClr val="CBD5E1"/>
                </a:solidFill>
                <a:latin typeface="Calibri"/>
              </a:rPr>
              <a:t>Correct pattern (with code)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Rule         </a:t>
            </a:r>
            <a:r>
              <a:rPr sz="1000">
                <a:solidFill>
                  <a:srgbClr val="CBD5E1"/>
                </a:solidFill>
                <a:latin typeface="Calibri"/>
              </a:rPr>
              <a:t>Concrete instruction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Applied in   </a:t>
            </a:r>
            <a:r>
              <a:rPr sz="1000">
                <a:solidFill>
                  <a:srgbClr val="CBD5E1"/>
                </a:solidFill>
                <a:latin typeface="Calibri"/>
              </a:rPr>
              <a:t>Agents/skills required to follow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GAN-Inspired Generator vs Evaluator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Structural separation eliminates self-evaluation bias. Neither agent can do the other's job.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393192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Generator (Sonnet)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1. Propose sprint contract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2. TDD: write failing tests first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3. Implement code to pass tests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4. Spawn agent team (phased DAG)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5. Self-heal on failure (max 3)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6. Hand off to evaluator — never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060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B923C"/>
                </a:solidFill>
                <a:latin typeface="Calibri"/>
              </a:rP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188720"/>
            <a:ext cx="393192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Calibri"/>
              </a:rPr>
              <a:t>Evaluator (Opus)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9164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1. Finalize sprint contract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2. Start app (Docker / local / stub)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3. Layer 1: curl API endpoints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4. Layer 2: Playwright UI tests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5. Layer 3: design-critic vision scoring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6. Emit structured failures, never 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Three-Layer Evaluation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Evaluator never reads source code — only runs the app and checks observable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23682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Layer 1 ·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37360"/>
            <a:ext cx="236829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Calibri"/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84248"/>
            <a:ext cx="2368296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curl + jsonschema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834640"/>
            <a:ext cx="2368296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Catches:
backend logic, schema mismatches, error handling, status codes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430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280160"/>
            <a:ext cx="23682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Calibri"/>
              </a:rPr>
              <a:t>Layer 2 · Playwright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737360"/>
            <a:ext cx="236829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Calibri"/>
              </a:rPr>
              <a:t>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984248"/>
            <a:ext cx="2368296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Semantic selectors
(role, label, text, testid)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834640"/>
            <a:ext cx="2368296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Catches:
frontend bugs, broken forms, dead buttons, missing 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1430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280160"/>
            <a:ext cx="23682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Layer 3 ·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1737360"/>
            <a:ext cx="236829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Calibri"/>
              </a:rPr>
              <a:t>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984248"/>
            <a:ext cx="2368296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design-critic agent
(Opus + screenshots)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834640"/>
            <a:ext cx="2368296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Catches:
generic templates, poor spacing, weak typography, low originality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Design-Critic GAN Scoring (Full Mode)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Score = (DQ × 1.5  +  O × 1.5  +  C × 0.75  +  F × 0.75)  /  4.5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307592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1.5×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Design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Visual coherence, color palette, layout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97480" y="1307592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1.5×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Originality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Custom vs template defaults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1307592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0.75×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Typography, spacing, alignment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03720" y="1307592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0.75×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Functionality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User can understand and complete tasks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246120"/>
            <a:ext cx="4114800" cy="14173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33756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Pass conditions (BOTH required)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11880"/>
            <a:ext cx="3840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1. Weighted average ≥ 7.0  (calibration-profile.json)
2. ALL four individual scores ≥ 5.0 minimum
A high weighted average cannot mask a weak criterion.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3246120"/>
            <a:ext cx="4114800" cy="14173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33756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Plateau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611880"/>
            <a:ext cx="3840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If scores plateau across N iterations, the system forces a fundamental design pivot — new palette, layout, and typography pairing. Max 10 iterations (configurable).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Session Chaining — Multi-Context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Long builds survive context window limits through append-only state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280160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0759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program.md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30759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Constraints, steering directives — humans edit mid-run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1828800"/>
            <a:ext cx="310896" cy="31089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85623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learned-rules.md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5623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Institutional memory — injected verbatim into all agent prompts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8600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2377440"/>
            <a:ext cx="310896" cy="31089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7744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40487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claude-progress.txt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40487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Current group, completed groups, next action, 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83464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" y="2926080"/>
            <a:ext cx="310896" cy="3108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95351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features.json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95351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Pass/fail state for all features with failure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38328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7472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50215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dependency-graph.md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50215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Pick next unfinished group in sequence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93192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05079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onsolas"/>
              </a:rPr>
              <a:t>iteration-log.md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05079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Append-only history of evaluator verdicts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Recovery cost: ~700-1000 tokens. Negligible vs context window.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Four Execution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Pick the mode that matches stakes and budget. /auto and /build accept --mode.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Calibri"/>
              </a:rPr>
              <a:t>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$100-300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All 6 gates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Phased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Complex, high-stakes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B923C"/>
                </a:solidFill>
                <a:latin typeface="Calibri"/>
              </a:rPr>
              <a:t>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$30-80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Gates 1-5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Phased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Backend-heavy, internal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ADE80"/>
                </a:solidFill>
                <a:latin typeface="Calibri"/>
              </a:rPr>
              <a:t>Solo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$5-15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Gates 1-3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None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Bug fixes, small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A78BFA"/>
                </a:solidFill>
                <a:latin typeface="Calibri"/>
              </a:rPr>
              <a:t>Turbo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$30-50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1-3 per cmt + 4-6 once at end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Phased (single contract)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Highly capable model + well-spec'd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Superpowers Integration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The harness invokes superpowers:* skills at five named pipeline stages.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HARNESS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8872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SUPERPOWER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1887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81328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09344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/brd · /design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9344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brainstorming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9344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Explore alternatives before committing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48256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76272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/implement · /refactor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176272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writing-plans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176272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Structured plans before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615184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743200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/implement (teammates)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74320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test-driven-development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743200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Red-green-refactor in every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82112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310128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/fix-issue · /auto heal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310128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systematic-debugging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310128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Root cause analysis before fixing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49040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877056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/auto (done) · evaluator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877056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verification-before-completion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877056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Evidence before claiming 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Plugin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8 official plugins enabled in settings.json — complementary, never conflicting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superpowers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72768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brainstorming · writing-plans · TDD · debugging ·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280160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onsolas"/>
              </a:rPr>
              <a:t>code-review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1572768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Multi-agent PR review with confidence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20824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112264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onsolas"/>
              </a:rPr>
              <a:t>commit-commands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404872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/commit · /commit-push-pr git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020824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2" y="2112264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onsolas"/>
              </a:rPr>
              <a:t>security-guidance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404872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Edit-time security pattern checking (XSS, eval, raw HTML)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52928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944368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pr-review-toolkit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236976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Specialized PR agents (comments, tests, errors, types)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852928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2944368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Consolas"/>
              </a:rPr>
              <a:t>frontend-design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3236976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Aesthetic-direction skill used by ui-designer + frontend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685032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776472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context7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069080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MCP for up-to-date library/docs lookup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685032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3776472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onsolas"/>
              </a:rPr>
              <a:t>code-simplifier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4069080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/simplify skill used during /refactor for cleanup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Excluded by design: feature-dev (overlaps SDLC pipeline), hookify (would interfere with purpose-built hooks).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Agile Pod vs Agentic Pod — Team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Same outcome, very different cast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1148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Traditional Agile Pod  ·  6-10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Solutions Architect  </a:t>
            </a:r>
            <a:r>
              <a:rPr sz="1100">
                <a:solidFill>
                  <a:srgbClr val="CBD5E1"/>
                </a:solidFill>
                <a:latin typeface="Calibri"/>
              </a:rPr>
              <a:t>(1) — System design, tech decisions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Frontend Developer  </a:t>
            </a:r>
            <a:r>
              <a:rPr sz="1100">
                <a:solidFill>
                  <a:srgbClr val="CBD5E1"/>
                </a:solidFill>
                <a:latin typeface="Calibri"/>
              </a:rPr>
              <a:t>(2-3) — UI/UX implementation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Backend Developer  </a:t>
            </a:r>
            <a:r>
              <a:rPr sz="1100">
                <a:solidFill>
                  <a:srgbClr val="CBD5E1"/>
                </a:solidFill>
                <a:latin typeface="Calibri"/>
              </a:rPr>
              <a:t>(2-3) — APIs, services, data layer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Business Analyst  </a:t>
            </a:r>
            <a:r>
              <a:rPr sz="1100">
                <a:solidFill>
                  <a:srgbClr val="CBD5E1"/>
                </a:solidFill>
                <a:latin typeface="Calibri"/>
              </a:rPr>
              <a:t>(1) — Requirements, acceptance criteria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QA Engineer  </a:t>
            </a:r>
            <a:r>
              <a:rPr sz="1100">
                <a:solidFill>
                  <a:srgbClr val="CBD5E1"/>
                </a:solidFill>
                <a:latin typeface="Calibri"/>
              </a:rPr>
              <a:t>(1-2) — Test plans, manual + automated testing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Scrum Master  </a:t>
            </a:r>
            <a:r>
              <a:rPr sz="1100">
                <a:solidFill>
                  <a:srgbClr val="CBD5E1"/>
                </a:solidFill>
                <a:latin typeface="Calibri"/>
              </a:rPr>
              <a:t>(1) — Sprint ceremonies, impediment removal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43000"/>
            <a:ext cx="41148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07008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Agentic Pod  ·  3-4 people + 7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27632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Consolas"/>
              </a:rPr>
              <a:t>[HUMAN] </a:t>
            </a:r>
            <a:r>
              <a:rPr sz="1100" b="1">
                <a:solidFill>
                  <a:srgbClr val="F8FAFC"/>
                </a:solidFill>
                <a:latin typeface="Calibri"/>
              </a:rPr>
              <a:t>Engineer (Full-Stack)  </a:t>
            </a:r>
            <a:r>
              <a:rPr sz="1000">
                <a:solidFill>
                  <a:srgbClr val="CBD5E1"/>
                </a:solidFill>
                <a:latin typeface="Calibri"/>
              </a:rPr>
              <a:t>Reviews + steers /auto via program.md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Consolas"/>
              </a:rPr>
              <a:t>[HUMAN] </a:t>
            </a:r>
            <a:r>
              <a:rPr sz="1100" b="1">
                <a:solidFill>
                  <a:srgbClr val="F8FAFC"/>
                </a:solidFill>
                <a:latin typeface="Calibri"/>
              </a:rPr>
              <a:t>Business Analyst  </a:t>
            </a:r>
            <a:r>
              <a:rPr sz="1000">
                <a:solidFill>
                  <a:srgbClr val="CBD5E1"/>
                </a:solidFill>
                <a:latin typeface="Calibri"/>
              </a:rPr>
              <a:t>Owns BRD — the highest-leverage role now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Consolas"/>
              </a:rPr>
              <a:t>[HUMAN] </a:t>
            </a:r>
            <a:r>
              <a:rPr sz="1100" b="1">
                <a:solidFill>
                  <a:srgbClr val="F8FAFC"/>
                </a:solidFill>
                <a:latin typeface="Calibri"/>
              </a:rPr>
              <a:t>Solutions Architect  </a:t>
            </a:r>
            <a:r>
              <a:rPr sz="1000">
                <a:solidFill>
                  <a:srgbClr val="CBD5E1"/>
                </a:solidFill>
                <a:latin typeface="Calibri"/>
              </a:rPr>
              <a:t>Design phase + lane selection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FB923C"/>
                </a:solidFill>
                <a:latin typeface="Consolas"/>
              </a:rPr>
              <a:t>[AGENT] </a:t>
            </a:r>
            <a:r>
              <a:rPr sz="1100" b="1">
                <a:solidFill>
                  <a:srgbClr val="F8FAFC"/>
                </a:solidFill>
                <a:latin typeface="Calibri"/>
              </a:rPr>
              <a:t>planner / generator  </a:t>
            </a:r>
            <a:r>
              <a:rPr sz="1000">
                <a:solidFill>
                  <a:srgbClr val="CBD5E1"/>
                </a:solidFill>
                <a:latin typeface="Calibri"/>
              </a:rPr>
              <a:t>BRD/specs · code + tests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FB923C"/>
                </a:solidFill>
                <a:latin typeface="Consolas"/>
              </a:rPr>
              <a:t>[AGENT] </a:t>
            </a:r>
            <a:r>
              <a:rPr sz="1100" b="1">
                <a:solidFill>
                  <a:srgbClr val="F8FAFC"/>
                </a:solidFill>
                <a:latin typeface="Calibri"/>
              </a:rPr>
              <a:t>evaluator / design-critic  </a:t>
            </a:r>
            <a:r>
              <a:rPr sz="1000">
                <a:solidFill>
                  <a:srgbClr val="CBD5E1"/>
                </a:solidFill>
                <a:latin typeface="Calibri"/>
              </a:rPr>
              <a:t>Verification (3-layer + vision)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FB923C"/>
                </a:solidFill>
                <a:latin typeface="Consolas"/>
              </a:rPr>
              <a:t>[AGENT] </a:t>
            </a:r>
            <a:r>
              <a:rPr sz="1100" b="1">
                <a:solidFill>
                  <a:srgbClr val="F8FAFC"/>
                </a:solidFill>
                <a:latin typeface="Calibri"/>
              </a:rPr>
              <a:t>test-engineer / security-reviewer / ui-designer  </a:t>
            </a:r>
            <a:r>
              <a:rPr sz="1000">
                <a:solidFill>
                  <a:srgbClr val="CBD5E1"/>
                </a:solidFill>
                <a:latin typeface="Calibri"/>
              </a:rPr>
              <a:t>Specialist subagents on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How the Agentic Pod Changes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Side-by-side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1887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TRADITIONAL AGILE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1887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AGENTIC POD + HARNESS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81328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Team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572768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6-10 people (dedicated)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572768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3-4 people + 7 AI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01952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93392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Frontend/Backend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993392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Separate devs, handoff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93392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One agent generates both, TDD-first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322576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414016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QA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414016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Manual + automated by QA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414016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3-layer eval: API + Playwright + Vision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743200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834640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Code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834640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Peer review, async, delays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834640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GAN evaluator + security reviewer (real-time)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163824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55264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Requirements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255264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Important but recoverable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255264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Critical — drives entire autonomous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584448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75888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Sprint Velocity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3675888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Story points per sprint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675888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Stories per ratchet iteration (10-50×)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005072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096512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Quality Gates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4096512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PR reviews, CI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096512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14 hooks + 6 ratchet gates on every edit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Case Study — PE Document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Built with Claude Harness Engine — Private Equity LPA / Subscription Document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38BDF8"/>
                </a:solidFill>
                <a:latin typeface="Calibri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Features 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FB923C"/>
                </a:solidFill>
                <a:latin typeface="Calibri"/>
              </a:rPr>
              <a:t>511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Automated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4ADE80"/>
                </a:solidFill>
                <a:latin typeface="Calibri"/>
              </a:rPr>
              <a:t>97%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Code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A78BFA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Epics across 6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743200"/>
            <a:ext cx="8321040" cy="1874519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8138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Frontend   </a:t>
            </a:r>
            <a:r>
              <a:rPr sz="1100">
                <a:solidFill>
                  <a:srgbClr val="CBD5E1"/>
                </a:solidFill>
                <a:latin typeface="Calibri"/>
              </a:rPr>
              <a:t>React 19 · Vite · TypeScript · Tailwind CSS 4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Backend    </a:t>
            </a:r>
            <a:r>
              <a:rPr sz="1100">
                <a:solidFill>
                  <a:srgbClr val="CBD5E1"/>
                </a:solidFill>
                <a:latin typeface="Calibri"/>
              </a:rPr>
              <a:t>Python 3.13 · FastAPI · SQLAlchemy 2.0 (async)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Agents     </a:t>
            </a:r>
            <a:r>
              <a:rPr sz="1100">
                <a:solidFill>
                  <a:srgbClr val="CBD5E1"/>
                </a:solidFill>
                <a:latin typeface="Calibri"/>
              </a:rPr>
              <a:t>DeepAgents 0.4.12 (LangGraph) + 5 subagents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LLM        </a:t>
            </a:r>
            <a:r>
              <a:rPr sz="1100">
                <a:solidFill>
                  <a:srgbClr val="CBD5E1"/>
                </a:solidFill>
                <a:latin typeface="Calibri"/>
              </a:rPr>
              <a:t>OpenAI GPT-5.4-mini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Database   </a:t>
            </a:r>
            <a:r>
              <a:rPr sz="1100">
                <a:solidFill>
                  <a:srgbClr val="CBD5E1"/>
                </a:solidFill>
                <a:latin typeface="Calibri"/>
              </a:rPr>
              <a:t>PostgreSQL 16 + Weaviate (hybrid vector search)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Lesson Learned — Requirements Are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The scaffolding is only as good as the inputs it receives.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4114800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Well-Written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Clear Requirements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Comprehensive BRD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Detailed Stories + Dep Graph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Autonomous /auto Build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ADE80"/>
                </a:solidFill>
                <a:latin typeface="Calibri"/>
              </a:rPr>
              <a:t>→ 128 features  ·  97%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88720"/>
            <a:ext cx="4114800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Vague or Incomplete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Vague Requirements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Shallow BRD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Incomplete Spec + Stories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/auto stalls or misbuilds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→ Fallback to /vibe coding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343400"/>
            <a:ext cx="832104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70832"/>
            <a:ext cx="8138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Takeaway: Invest in the BRD. The BA / Architect role becomes the highest-leverage position in an agentic pod.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261872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GAN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26464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Eliminates self-evaluation bias — the single biggest failure mode in agentic builds.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10512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1975104"/>
            <a:ext cx="310896" cy="31089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75104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01952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Karpathy ratchet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39696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Guarantees monotonic progress — every commit makes the system strictly better.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523744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2688336"/>
            <a:ext cx="310896" cy="31089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88336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15184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Skills-as-commands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52928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One real `/scaffold` command bootstraps a runtime where 21 skills act as virtual commands. Keeps context cheap and discovery progressive.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236976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3401568"/>
            <a:ext cx="310896" cy="3108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01568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28416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Brownfield + Vibe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Two new lanes in v1.1.1 make the harness adaptable to real codebases and tiny safe edits, without bypassing the ratchet.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50208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4114800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041648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Requirements quality is the bottleneck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79392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An agentic pod of 3-4 people + 7 AI agents can outpace a 10-person agile team — but only if the BRD is rigorous.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Claude Harness Engine v1.1.1  —  Autonomous SDLC for the Age of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v1.1.1   ·   Autonomous SDLC for Agentic Software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