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image" Target="../media/image-5-28.png"/><Relationship Id="rId29" Type="http://schemas.openxmlformats.org/officeDocument/2006/relationships/image" Target="../media/image-5-29.png"/><Relationship Id="rId30" Type="http://schemas.openxmlformats.org/officeDocument/2006/relationships/image" Target="../media/image-5-30.png"/><Relationship Id="rId31" Type="http://schemas.openxmlformats.org/officeDocument/2006/relationships/image" Target="../media/image-5-31.png"/><Relationship Id="rId32" Type="http://schemas.openxmlformats.org/officeDocument/2006/relationships/image" Target="../media/image-5-32.png"/><Relationship Id="rId33" Type="http://schemas.openxmlformats.org/officeDocument/2006/relationships/image" Target="../media/image-5-33.png"/><Relationship Id="rId34" Type="http://schemas.openxmlformats.org/officeDocument/2006/relationships/image" Target="../media/image-5-34.png"/><Relationship Id="rId35" Type="http://schemas.openxmlformats.org/officeDocument/2006/relationships/image" Target="../media/image-5-9.png"/><Relationship Id="rId36" Type="http://schemas.openxmlformats.org/officeDocument/2006/relationships/image" Target="../media/image-5-13.png"/><Relationship Id="rId37" Type="http://schemas.openxmlformats.org/officeDocument/2006/relationships/image" Target="../media/image-5-17.png"/><Relationship Id="rId38" Type="http://schemas.openxmlformats.org/officeDocument/2006/relationships/image" Target="../media/image-5-38.png"/><Relationship Id="rId39" Type="http://schemas.openxmlformats.org/officeDocument/2006/relationships/slideLayout" Target="../slideLayouts/slideLayout1.xml"/><Relationship Id="rId4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1.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image" Target="../media/image-9-1.png"/><Relationship Id="rId8" Type="http://schemas.openxmlformats.org/officeDocument/2006/relationships/image" Target="../media/image-9-1.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image" Target="../media/image-21-1.png"/><Relationship Id="rId4" Type="http://schemas.openxmlformats.org/officeDocument/2006/relationships/image" Target="../media/image-21-1.png"/><Relationship Id="rId5" Type="http://schemas.openxmlformats.org/officeDocument/2006/relationships/image" Target="../media/image-21-1.png"/><Relationship Id="rId6" Type="http://schemas.openxmlformats.org/officeDocument/2006/relationships/image" Target="../media/image-21-1.png"/><Relationship Id="rId7" Type="http://schemas.openxmlformats.org/officeDocument/2006/relationships/image" Target="../media/image-21-1.png"/><Relationship Id="rId8" Type="http://schemas.openxmlformats.org/officeDocument/2006/relationships/image" Target="../media/image-21-1.png"/><Relationship Id="rId9" Type="http://schemas.openxmlformats.org/officeDocument/2006/relationships/image" Target="../media/image-21-9.png"/><Relationship Id="rId10" Type="http://schemas.openxmlformats.org/officeDocument/2006/relationships/image" Target="../media/image-21-10.png"/><Relationship Id="rId11" Type="http://schemas.openxmlformats.org/officeDocument/2006/relationships/image" Target="../media/image-21-11.png"/><Relationship Id="rId12" Type="http://schemas.openxmlformats.org/officeDocument/2006/relationships/image" Target="../media/image-21-12.png"/><Relationship Id="rId13" Type="http://schemas.openxmlformats.org/officeDocument/2006/relationships/image" Target="../media/image-21-13.png"/><Relationship Id="rId14" Type="http://schemas.openxmlformats.org/officeDocument/2006/relationships/image" Target="../media/image-21-14.png"/><Relationship Id="rId15" Type="http://schemas.openxmlformats.org/officeDocument/2006/relationships/slideLayout" Target="../slideLayouts/slideLayout1.xml"/><Relationship Id="rId1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02920" y="1371600"/>
            <a:ext cx="11185855" cy="274320"/>
          </a:xfrm>
          <a:prstGeom prst="rect">
            <a:avLst/>
          </a:prstGeom>
          <a:noFill/>
          <a:ln/>
        </p:spPr>
        <p:txBody>
          <a:bodyPr wrap="square" lIns="0" tIns="0" rIns="0" bIns="0" rtlCol="0" anchor="ctr"/>
          <a:lstStyle/>
          <a:p>
            <a:pPr algn="ctr" indent="0" marL="0">
              <a:buNone/>
            </a:pPr>
            <a:r>
              <a:rPr lang="en-US" sz="1200" b="1" dirty="0">
                <a:solidFill>
                  <a:srgbClr val="C15F3C"/>
                </a:solidFill>
                <a:latin typeface="Calibri" pitchFamily="34" charset="0"/>
                <a:ea typeface="Calibri" pitchFamily="34" charset="-122"/>
                <a:cs typeface="Calibri" pitchFamily="34" charset="-120"/>
              </a:rPr>
              <a:t>✳  </a:t>
            </a:r>
            <a:pPr algn="ctr" indent="0" marL="0">
              <a:buNone/>
            </a:pPr>
            <a:r>
              <a:rPr lang="en-US" sz="1200" b="1" spc="300" kern="0" dirty="0">
                <a:solidFill>
                  <a:srgbClr val="6C7078"/>
                </a:solidFill>
                <a:latin typeface="Calibri" pitchFamily="34" charset="0"/>
                <a:ea typeface="Calibri" pitchFamily="34" charset="-122"/>
                <a:cs typeface="Calibri" pitchFamily="34" charset="-120"/>
              </a:rPr>
              <a:t>CLAUDE HARNESS ENGINE v5</a:t>
            </a:r>
            <a:endParaRPr lang="en-US" sz="1200" dirty="0"/>
          </a:p>
        </p:txBody>
      </p:sp>
      <p:sp>
        <p:nvSpPr>
          <p:cNvPr id="3" name="Text 1"/>
          <p:cNvSpPr/>
          <p:nvPr/>
        </p:nvSpPr>
        <p:spPr>
          <a:xfrm>
            <a:off x="502920" y="1783080"/>
            <a:ext cx="11185855" cy="822960"/>
          </a:xfrm>
          <a:prstGeom prst="rect">
            <a:avLst/>
          </a:prstGeom>
          <a:noFill/>
          <a:ln/>
        </p:spPr>
        <p:txBody>
          <a:bodyPr wrap="square" lIns="0" tIns="0" rIns="0" bIns="0" rtlCol="0" anchor="ctr"/>
          <a:lstStyle/>
          <a:p>
            <a:pPr algn="ctr" indent="0" marL="0">
              <a:buNone/>
            </a:pPr>
            <a:r>
              <a:rPr lang="en-US" sz="5000" b="1" dirty="0">
                <a:solidFill>
                  <a:srgbClr val="22252A"/>
                </a:solidFill>
                <a:latin typeface="Cambria" pitchFamily="34" charset="0"/>
                <a:ea typeface="Cambria" pitchFamily="34" charset="-122"/>
                <a:cs typeface="Cambria" pitchFamily="34" charset="-120"/>
              </a:rPr>
              <a:t>The Agentic Engineering Harness</a:t>
            </a:r>
            <a:endParaRPr lang="en-US" sz="5000" dirty="0"/>
          </a:p>
        </p:txBody>
      </p:sp>
      <p:sp>
        <p:nvSpPr>
          <p:cNvPr id="4" name="Text 2"/>
          <p:cNvSpPr/>
          <p:nvPr/>
        </p:nvSpPr>
        <p:spPr>
          <a:xfrm>
            <a:off x="502920" y="2697480"/>
            <a:ext cx="11185855" cy="365760"/>
          </a:xfrm>
          <a:prstGeom prst="rect">
            <a:avLst/>
          </a:prstGeom>
          <a:noFill/>
          <a:ln/>
        </p:spPr>
        <p:txBody>
          <a:bodyPr wrap="square" lIns="0" tIns="0" rIns="0" bIns="0" rtlCol="0" anchor="ctr"/>
          <a:lstStyle/>
          <a:p>
            <a:pPr algn="ctr" indent="0" marL="0">
              <a:buNone/>
            </a:pPr>
            <a:r>
              <a:rPr lang="en-US" sz="1900" i="1" dirty="0">
                <a:solidFill>
                  <a:srgbClr val="C15F3C"/>
                </a:solidFill>
                <a:latin typeface="Cambria" pitchFamily="34" charset="0"/>
                <a:ea typeface="Cambria" pitchFamily="34" charset="-122"/>
                <a:cs typeface="Cambria" pitchFamily="34" charset="-120"/>
              </a:rPr>
              <a:t>Technical Specification  &amp;  Platform White Paper</a:t>
            </a:r>
            <a:endParaRPr lang="en-US" sz="1900" dirty="0"/>
          </a:p>
        </p:txBody>
      </p:sp>
      <p:sp>
        <p:nvSpPr>
          <p:cNvPr id="5" name="Text 3"/>
          <p:cNvSpPr/>
          <p:nvPr/>
        </p:nvSpPr>
        <p:spPr>
          <a:xfrm>
            <a:off x="1645920" y="3246120"/>
            <a:ext cx="8899855" cy="640080"/>
          </a:xfrm>
          <a:prstGeom prst="rect">
            <a:avLst/>
          </a:prstGeom>
          <a:noFill/>
          <a:ln/>
        </p:spPr>
        <p:txBody>
          <a:bodyPr wrap="square" lIns="0" tIns="0" rIns="0" bIns="0" rtlCol="0" anchor="ctr"/>
          <a:lstStyle/>
          <a:p>
            <a:pPr algn="ctr" indent="0" marL="0">
              <a:lnSpc>
                <a:spcPct val="110000"/>
              </a:lnSpc>
              <a:buNone/>
            </a:pPr>
            <a:r>
              <a:rPr lang="en-US" sz="1250" dirty="0">
                <a:solidFill>
                  <a:srgbClr val="6C7078"/>
                </a:solidFill>
                <a:latin typeface="Calibri" pitchFamily="34" charset="0"/>
                <a:ea typeface="Calibri" pitchFamily="34" charset="-122"/>
                <a:cs typeface="Calibri" pitchFamily="34" charset="-120"/>
              </a:rPr>
              <a:t>A scaffold + control system that turns Claude Code into a predictable, senior-engineer-grade software factory —</a:t>
            </a:r>
            <a:endParaRPr lang="en-US" sz="1250" dirty="0"/>
          </a:p>
          <a:p>
            <a:pPr algn="ctr" indent="0" marL="0">
              <a:lnSpc>
                <a:spcPct val="110000"/>
              </a:lnSpc>
              <a:buNone/>
            </a:pPr>
            <a:r>
              <a:rPr lang="en-US" sz="1250" dirty="0">
                <a:solidFill>
                  <a:srgbClr val="6C7078"/>
                </a:solidFill>
                <a:latin typeface="Calibri" pitchFamily="34" charset="0"/>
                <a:ea typeface="Calibri" pitchFamily="34" charset="-122"/>
                <a:cs typeface="Calibri" pitchFamily="34" charset="-120"/>
              </a:rPr>
              <a:t>GAN generator/evaluator separation, a Karpathy monotonic ratchet, and human review before every merge.</a:t>
            </a:r>
            <a:endParaRPr lang="en-US" sz="1250" dirty="0"/>
          </a:p>
        </p:txBody>
      </p:sp>
      <p:sp>
        <p:nvSpPr>
          <p:cNvPr id="6" name="Shape 4"/>
          <p:cNvSpPr/>
          <p:nvPr/>
        </p:nvSpPr>
        <p:spPr>
          <a:xfrm>
            <a:off x="3535528" y="4206240"/>
            <a:ext cx="658368" cy="658368"/>
          </a:xfrm>
          <a:prstGeom prst="ellipse">
            <a:avLst/>
          </a:prstGeom>
          <a:solidFill>
            <a:srgbClr val="2C6E49"/>
          </a:solidFill>
          <a:ln/>
        </p:spPr>
      </p:sp>
      <p:pic>
        <p:nvPicPr>
          <p:cNvPr id="7" name="Image 0" descr="/root/work/harness_slide/icons/w_book.png">    </p:cNvPr>
          <p:cNvPicPr>
            <a:picLocks noChangeAspect="1"/>
          </p:cNvPicPr>
          <p:nvPr/>
        </p:nvPicPr>
        <p:blipFill>
          <a:blip r:embed="rId1"/>
          <a:stretch>
            <a:fillRect/>
          </a:stretch>
        </p:blipFill>
        <p:spPr>
          <a:xfrm>
            <a:off x="3727552" y="4398264"/>
            <a:ext cx="274320" cy="274320"/>
          </a:xfrm>
          <a:prstGeom prst="rect">
            <a:avLst/>
          </a:prstGeom>
        </p:spPr>
      </p:pic>
      <p:sp>
        <p:nvSpPr>
          <p:cNvPr id="8" name="Shape 5"/>
          <p:cNvSpPr/>
          <p:nvPr/>
        </p:nvSpPr>
        <p:spPr>
          <a:xfrm>
            <a:off x="4651096" y="4206240"/>
            <a:ext cx="658368" cy="658368"/>
          </a:xfrm>
          <a:prstGeom prst="ellipse">
            <a:avLst/>
          </a:prstGeom>
          <a:solidFill>
            <a:srgbClr val="1C7293"/>
          </a:solidFill>
          <a:ln/>
        </p:spPr>
      </p:sp>
      <p:pic>
        <p:nvPicPr>
          <p:cNvPr id="9" name="Image 1" descr="/root/work/harness_slide/icons/w_puzzle.png">    </p:cNvPr>
          <p:cNvPicPr>
            <a:picLocks noChangeAspect="1"/>
          </p:cNvPicPr>
          <p:nvPr/>
        </p:nvPicPr>
        <p:blipFill>
          <a:blip r:embed="rId2"/>
          <a:stretch>
            <a:fillRect/>
          </a:stretch>
        </p:blipFill>
        <p:spPr>
          <a:xfrm>
            <a:off x="4843120" y="4398264"/>
            <a:ext cx="274320" cy="274320"/>
          </a:xfrm>
          <a:prstGeom prst="rect">
            <a:avLst/>
          </a:prstGeom>
        </p:spPr>
      </p:pic>
      <p:sp>
        <p:nvSpPr>
          <p:cNvPr id="10" name="Shape 6"/>
          <p:cNvSpPr/>
          <p:nvPr/>
        </p:nvSpPr>
        <p:spPr>
          <a:xfrm>
            <a:off x="5766664" y="4206240"/>
            <a:ext cx="658368" cy="658368"/>
          </a:xfrm>
          <a:prstGeom prst="ellipse">
            <a:avLst/>
          </a:prstGeom>
          <a:solidFill>
            <a:srgbClr val="B07414"/>
          </a:solidFill>
          <a:ln/>
        </p:spPr>
      </p:sp>
      <p:pic>
        <p:nvPicPr>
          <p:cNvPr id="11" name="Image 2" descr="/root/work/harness_slide/icons/w_shield.png">    </p:cNvPr>
          <p:cNvPicPr>
            <a:picLocks noChangeAspect="1"/>
          </p:cNvPicPr>
          <p:nvPr/>
        </p:nvPicPr>
        <p:blipFill>
          <a:blip r:embed="rId3"/>
          <a:stretch>
            <a:fillRect/>
          </a:stretch>
        </p:blipFill>
        <p:spPr>
          <a:xfrm>
            <a:off x="5958688" y="4398264"/>
            <a:ext cx="274320" cy="274320"/>
          </a:xfrm>
          <a:prstGeom prst="rect">
            <a:avLst/>
          </a:prstGeom>
        </p:spPr>
      </p:pic>
      <p:sp>
        <p:nvSpPr>
          <p:cNvPr id="12" name="Shape 7"/>
          <p:cNvSpPr/>
          <p:nvPr/>
        </p:nvSpPr>
        <p:spPr>
          <a:xfrm>
            <a:off x="6882232" y="4206240"/>
            <a:ext cx="658368" cy="658368"/>
          </a:xfrm>
          <a:prstGeom prst="ellipse">
            <a:avLst/>
          </a:prstGeom>
          <a:solidFill>
            <a:srgbClr val="6B4E9E"/>
          </a:solidFill>
          <a:ln/>
        </p:spPr>
      </p:sp>
      <p:pic>
        <p:nvPicPr>
          <p:cNvPr id="13" name="Image 3" descr="/root/work/harness_slide/icons/w_users.png">    </p:cNvPr>
          <p:cNvPicPr>
            <a:picLocks noChangeAspect="1"/>
          </p:cNvPicPr>
          <p:nvPr/>
        </p:nvPicPr>
        <p:blipFill>
          <a:blip r:embed="rId4"/>
          <a:stretch>
            <a:fillRect/>
          </a:stretch>
        </p:blipFill>
        <p:spPr>
          <a:xfrm>
            <a:off x="7074256" y="4398264"/>
            <a:ext cx="274320" cy="274320"/>
          </a:xfrm>
          <a:prstGeom prst="rect">
            <a:avLst/>
          </a:prstGeom>
        </p:spPr>
      </p:pic>
      <p:sp>
        <p:nvSpPr>
          <p:cNvPr id="14" name="Shape 8"/>
          <p:cNvSpPr/>
          <p:nvPr/>
        </p:nvSpPr>
        <p:spPr>
          <a:xfrm>
            <a:off x="7997800" y="4206240"/>
            <a:ext cx="658368" cy="658368"/>
          </a:xfrm>
          <a:prstGeom prst="ellipse">
            <a:avLst/>
          </a:prstGeom>
          <a:solidFill>
            <a:srgbClr val="1F5132"/>
          </a:solidFill>
          <a:ln/>
        </p:spPr>
      </p:sp>
      <p:pic>
        <p:nvPicPr>
          <p:cNvPr id="15" name="Image 4" descr="/root/work/harness_slide/icons/w_gauge.png">    </p:cNvPr>
          <p:cNvPicPr>
            <a:picLocks noChangeAspect="1"/>
          </p:cNvPicPr>
          <p:nvPr/>
        </p:nvPicPr>
        <p:blipFill>
          <a:blip r:embed="rId5"/>
          <a:stretch>
            <a:fillRect/>
          </a:stretch>
        </p:blipFill>
        <p:spPr>
          <a:xfrm>
            <a:off x="8189824" y="4398264"/>
            <a:ext cx="274320" cy="274320"/>
          </a:xfrm>
          <a:prstGeom prst="rect">
            <a:avLst/>
          </a:prstGeom>
        </p:spPr>
      </p:pic>
      <p:sp>
        <p:nvSpPr>
          <p:cNvPr id="16" name="Text 9"/>
          <p:cNvSpPr/>
          <p:nvPr/>
        </p:nvSpPr>
        <p:spPr>
          <a:xfrm>
            <a:off x="3261208" y="4919472"/>
            <a:ext cx="1207008" cy="219456"/>
          </a:xfrm>
          <a:prstGeom prst="rect">
            <a:avLst/>
          </a:prstGeom>
          <a:noFill/>
          <a:ln/>
        </p:spPr>
        <p:txBody>
          <a:bodyPr wrap="square" lIns="0" tIns="0" rIns="0" bIns="0" rtlCol="0" anchor="ctr"/>
          <a:lstStyle/>
          <a:p>
            <a:pPr algn="ctr" indent="0" marL="0">
              <a:buNone/>
            </a:pPr>
            <a:r>
              <a:rPr lang="en-US" sz="950" b="1" dirty="0">
                <a:solidFill>
                  <a:srgbClr val="2C6E49"/>
                </a:solidFill>
                <a:latin typeface="Calibri" pitchFamily="34" charset="0"/>
                <a:ea typeface="Calibri" pitchFamily="34" charset="-122"/>
                <a:cs typeface="Calibri" pitchFamily="34" charset="-120"/>
              </a:rPr>
              <a:t>Scaffold</a:t>
            </a:r>
            <a:endParaRPr lang="en-US" sz="950" dirty="0"/>
          </a:p>
        </p:txBody>
      </p:sp>
      <p:sp>
        <p:nvSpPr>
          <p:cNvPr id="17" name="Text 10"/>
          <p:cNvSpPr/>
          <p:nvPr/>
        </p:nvSpPr>
        <p:spPr>
          <a:xfrm>
            <a:off x="4376776" y="4919472"/>
            <a:ext cx="1207008" cy="219456"/>
          </a:xfrm>
          <a:prstGeom prst="rect">
            <a:avLst/>
          </a:prstGeom>
          <a:noFill/>
          <a:ln/>
        </p:spPr>
        <p:txBody>
          <a:bodyPr wrap="square" lIns="0" tIns="0" rIns="0" bIns="0" rtlCol="0" anchor="ctr"/>
          <a:lstStyle/>
          <a:p>
            <a:pPr algn="ctr" indent="0" marL="0">
              <a:buNone/>
            </a:pPr>
            <a:r>
              <a:rPr lang="en-US" sz="950" b="1" dirty="0">
                <a:solidFill>
                  <a:srgbClr val="1C7293"/>
                </a:solidFill>
                <a:latin typeface="Calibri" pitchFamily="34" charset="0"/>
                <a:ea typeface="Calibri" pitchFamily="34" charset="-122"/>
                <a:cs typeface="Calibri" pitchFamily="34" charset="-120"/>
              </a:rPr>
              <a:t>Skills</a:t>
            </a:r>
            <a:endParaRPr lang="en-US" sz="950" dirty="0"/>
          </a:p>
        </p:txBody>
      </p:sp>
      <p:sp>
        <p:nvSpPr>
          <p:cNvPr id="18" name="Text 11"/>
          <p:cNvSpPr/>
          <p:nvPr/>
        </p:nvSpPr>
        <p:spPr>
          <a:xfrm>
            <a:off x="5492344" y="4919472"/>
            <a:ext cx="1207008" cy="219456"/>
          </a:xfrm>
          <a:prstGeom prst="rect">
            <a:avLst/>
          </a:prstGeom>
          <a:noFill/>
          <a:ln/>
        </p:spPr>
        <p:txBody>
          <a:bodyPr wrap="square" lIns="0" tIns="0" rIns="0" bIns="0" rtlCol="0" anchor="ctr"/>
          <a:lstStyle/>
          <a:p>
            <a:pPr algn="ctr" indent="0" marL="0">
              <a:buNone/>
            </a:pPr>
            <a:r>
              <a:rPr lang="en-US" sz="950" b="1" dirty="0">
                <a:solidFill>
                  <a:srgbClr val="B07414"/>
                </a:solidFill>
                <a:latin typeface="Calibri" pitchFamily="34" charset="0"/>
                <a:ea typeface="Calibri" pitchFamily="34" charset="-122"/>
                <a:cs typeface="Calibri" pitchFamily="34" charset="-120"/>
              </a:rPr>
              <a:t>Hooks</a:t>
            </a:r>
            <a:endParaRPr lang="en-US" sz="950" dirty="0"/>
          </a:p>
        </p:txBody>
      </p:sp>
      <p:sp>
        <p:nvSpPr>
          <p:cNvPr id="19" name="Text 12"/>
          <p:cNvSpPr/>
          <p:nvPr/>
        </p:nvSpPr>
        <p:spPr>
          <a:xfrm>
            <a:off x="6607912" y="4919472"/>
            <a:ext cx="1207008" cy="219456"/>
          </a:xfrm>
          <a:prstGeom prst="rect">
            <a:avLst/>
          </a:prstGeom>
          <a:noFill/>
          <a:ln/>
        </p:spPr>
        <p:txBody>
          <a:bodyPr wrap="square" lIns="0" tIns="0" rIns="0" bIns="0" rtlCol="0" anchor="ctr"/>
          <a:lstStyle/>
          <a:p>
            <a:pPr algn="ctr" indent="0" marL="0">
              <a:buNone/>
            </a:pPr>
            <a:r>
              <a:rPr lang="en-US" sz="950" b="1" dirty="0">
                <a:solidFill>
                  <a:srgbClr val="6B4E9E"/>
                </a:solidFill>
                <a:latin typeface="Calibri" pitchFamily="34" charset="0"/>
                <a:ea typeface="Calibri" pitchFamily="34" charset="-122"/>
                <a:cs typeface="Calibri" pitchFamily="34" charset="-120"/>
              </a:rPr>
              <a:t>Agents</a:t>
            </a:r>
            <a:endParaRPr lang="en-US" sz="950" dirty="0"/>
          </a:p>
        </p:txBody>
      </p:sp>
      <p:sp>
        <p:nvSpPr>
          <p:cNvPr id="20" name="Text 13"/>
          <p:cNvSpPr/>
          <p:nvPr/>
        </p:nvSpPr>
        <p:spPr>
          <a:xfrm>
            <a:off x="7723480" y="4919472"/>
            <a:ext cx="1207008" cy="219456"/>
          </a:xfrm>
          <a:prstGeom prst="rect">
            <a:avLst/>
          </a:prstGeom>
          <a:noFill/>
          <a:ln/>
        </p:spPr>
        <p:txBody>
          <a:bodyPr wrap="square" lIns="0" tIns="0" rIns="0" bIns="0" rtlCol="0" anchor="ctr"/>
          <a:lstStyle/>
          <a:p>
            <a:pPr algn="ctr" indent="0" marL="0">
              <a:buNone/>
            </a:pPr>
            <a:r>
              <a:rPr lang="en-US" sz="950" b="1" dirty="0">
                <a:solidFill>
                  <a:srgbClr val="1F5132"/>
                </a:solidFill>
                <a:latin typeface="Calibri" pitchFamily="34" charset="0"/>
                <a:ea typeface="Calibri" pitchFamily="34" charset="-122"/>
                <a:cs typeface="Calibri" pitchFamily="34" charset="-120"/>
              </a:rPr>
              <a:t>Ratchet</a:t>
            </a:r>
            <a:endParaRPr lang="en-US" sz="950" dirty="0"/>
          </a:p>
        </p:txBody>
      </p:sp>
      <p:sp>
        <p:nvSpPr>
          <p:cNvPr id="21" name="Text 14"/>
          <p:cNvSpPr/>
          <p:nvPr/>
        </p:nvSpPr>
        <p:spPr>
          <a:xfrm>
            <a:off x="502920" y="5715000"/>
            <a:ext cx="11185855" cy="274320"/>
          </a:xfrm>
          <a:prstGeom prst="rect">
            <a:avLst/>
          </a:prstGeom>
          <a:noFill/>
          <a:ln/>
        </p:spPr>
        <p:txBody>
          <a:bodyPr wrap="square" lIns="0" tIns="0" rIns="0" bIns="0" rtlCol="0" anchor="ctr"/>
          <a:lstStyle/>
          <a:p>
            <a:pPr algn="ctr" indent="0" marL="0">
              <a:buNone/>
            </a:pPr>
            <a:r>
              <a:rPr lang="en-US" sz="1050" b="1" dirty="0">
                <a:solidFill>
                  <a:srgbClr val="22252A"/>
                </a:solidFill>
                <a:latin typeface="Calibri" pitchFamily="34" charset="0"/>
                <a:ea typeface="Calibri" pitchFamily="34" charset="-122"/>
                <a:cs typeface="Calibri" pitchFamily="34" charset="-120"/>
              </a:rPr>
              <a:t>Version 2.5.0</a:t>
            </a:r>
            <a:pPr algn="ctr" indent="0" marL="0">
              <a:buNone/>
            </a:pPr>
            <a:r>
              <a:rPr lang="en-US" sz="1050" dirty="0">
                <a:solidFill>
                  <a:srgbClr val="6C7078"/>
                </a:solidFill>
                <a:latin typeface="Calibri" pitchFamily="34" charset="0"/>
                <a:ea typeface="Calibri" pitchFamily="34" charset="-122"/>
                <a:cs typeface="Calibri" pitchFamily="34" charset="-120"/>
              </a:rPr>
              <a:t>     GAN + Ratchet architecture     Generator ≠ Evaluator     Quality only moves forward</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C15F3C"/>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02</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C15F3C"/>
                </a:solidFill>
                <a:latin typeface="Calibri" pitchFamily="34" charset="0"/>
                <a:ea typeface="Calibri" pitchFamily="34" charset="-122"/>
                <a:cs typeface="Calibri" pitchFamily="34" charset="-120"/>
              </a:rPr>
              <a:t>EXECUTIVE SUMMARY</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Agent = Model + Harness</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model writes code. The harness is everything around it that makes the output trustworthy — guides that steer before it acts, sensors that verify after, and a human steering loop that improves both over time.</a:t>
            </a:r>
            <a:endParaRPr lang="en-US" sz="1150" dirty="0"/>
          </a:p>
        </p:txBody>
      </p:sp>
      <p:sp>
        <p:nvSpPr>
          <p:cNvPr id="7" name="Shape 5"/>
          <p:cNvSpPr/>
          <p:nvPr/>
        </p:nvSpPr>
        <p:spPr>
          <a:xfrm>
            <a:off x="502920" y="1828800"/>
            <a:ext cx="2693594" cy="2834640"/>
          </a:xfrm>
          <a:prstGeom prst="roundRect">
            <a:avLst>
              <a:gd name="adj" fmla="val 3055"/>
            </a:avLst>
          </a:prstGeom>
          <a:solidFill>
            <a:srgbClr val="FFFFFF"/>
          </a:solidFill>
          <a:ln w="12700">
            <a:solidFill>
              <a:srgbClr val="EACFC2"/>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704088" y="2048256"/>
            <a:ext cx="457200" cy="457200"/>
          </a:xfrm>
          <a:prstGeom prst="ellipse">
            <a:avLst/>
          </a:prstGeom>
          <a:solidFill>
            <a:srgbClr val="C15F3C"/>
          </a:solidFill>
          <a:ln/>
        </p:spPr>
      </p:sp>
      <p:pic>
        <p:nvPicPr>
          <p:cNvPr id="9" name="Image 0" descr="/root/work/harness_slide/icons/w_file.png">    </p:cNvPr>
          <p:cNvPicPr>
            <a:picLocks noChangeAspect="1"/>
          </p:cNvPicPr>
          <p:nvPr/>
        </p:nvPicPr>
        <p:blipFill>
          <a:blip r:embed="rId1"/>
          <a:stretch>
            <a:fillRect/>
          </a:stretch>
        </p:blipFill>
        <p:spPr>
          <a:xfrm>
            <a:off x="841248" y="2185416"/>
            <a:ext cx="182880" cy="182880"/>
          </a:xfrm>
          <a:prstGeom prst="rect">
            <a:avLst/>
          </a:prstGeom>
        </p:spPr>
      </p:pic>
      <p:sp>
        <p:nvSpPr>
          <p:cNvPr id="10" name="Text 7"/>
          <p:cNvSpPr/>
          <p:nvPr/>
        </p:nvSpPr>
        <p:spPr>
          <a:xfrm>
            <a:off x="704088" y="2606040"/>
            <a:ext cx="2291258" cy="274320"/>
          </a:xfrm>
          <a:prstGeom prst="rect">
            <a:avLst/>
          </a:prstGeom>
          <a:noFill/>
          <a:ln/>
        </p:spPr>
        <p:txBody>
          <a:bodyPr wrap="square" lIns="0" tIns="0" rIns="0" bIns="0" rtlCol="0" anchor="ctr"/>
          <a:lstStyle/>
          <a:p>
            <a:pPr indent="0" marL="0">
              <a:buNone/>
            </a:pPr>
            <a:r>
              <a:rPr lang="en-US" sz="1300" b="1" dirty="0">
                <a:solidFill>
                  <a:srgbClr val="C15F3C"/>
                </a:solidFill>
                <a:latin typeface="Calibri" pitchFamily="34" charset="0"/>
                <a:ea typeface="Calibri" pitchFamily="34" charset="-122"/>
                <a:cs typeface="Calibri" pitchFamily="34" charset="-120"/>
              </a:rPr>
              <a:t>What it is</a:t>
            </a:r>
            <a:endParaRPr lang="en-US" sz="1300" dirty="0"/>
          </a:p>
        </p:txBody>
      </p:sp>
      <p:sp>
        <p:nvSpPr>
          <p:cNvPr id="11" name="Text 8"/>
          <p:cNvSpPr/>
          <p:nvPr/>
        </p:nvSpPr>
        <p:spPr>
          <a:xfrm>
            <a:off x="704088" y="2926080"/>
            <a:ext cx="2291258" cy="1600200"/>
          </a:xfrm>
          <a:prstGeom prst="rect">
            <a:avLst/>
          </a:prstGeom>
          <a:noFill/>
          <a:ln/>
        </p:spPr>
        <p:txBody>
          <a:bodyPr wrap="square" lIns="0" tIns="0" rIns="0" bIns="0" rtlCol="0" anchor="t"/>
          <a:lstStyle/>
          <a:p>
            <a:pPr indent="0" marL="0">
              <a:lnSpc>
                <a:spcPct val="106000"/>
              </a:lnSpc>
              <a:buNone/>
            </a:pPr>
            <a:r>
              <a:rPr lang="en-US" sz="1000" dirty="0">
                <a:solidFill>
                  <a:srgbClr val="22252A"/>
                </a:solidFill>
                <a:latin typeface="Calibri" pitchFamily="34" charset="0"/>
                <a:ea typeface="Calibri" pitchFamily="34" charset="-122"/>
                <a:cs typeface="Calibri" pitchFamily="34" charset="-120"/>
              </a:rPr>
              <a:t>A Claude Code plugin that scaffolds a full SDLC control system into any repo: agents, skills, hooks, gates, and living navigation.</a:t>
            </a:r>
            <a:endParaRPr lang="en-US" sz="1000" dirty="0"/>
          </a:p>
        </p:txBody>
      </p:sp>
      <p:sp>
        <p:nvSpPr>
          <p:cNvPr id="12" name="Shape 9"/>
          <p:cNvSpPr/>
          <p:nvPr/>
        </p:nvSpPr>
        <p:spPr>
          <a:xfrm>
            <a:off x="3333674" y="1828800"/>
            <a:ext cx="2693594" cy="2834640"/>
          </a:xfrm>
          <a:prstGeom prst="roundRect">
            <a:avLst>
              <a:gd name="adj" fmla="val 3055"/>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13" name="Shape 10"/>
          <p:cNvSpPr/>
          <p:nvPr/>
        </p:nvSpPr>
        <p:spPr>
          <a:xfrm>
            <a:off x="3534842" y="2048256"/>
            <a:ext cx="457200" cy="457200"/>
          </a:xfrm>
          <a:prstGeom prst="ellipse">
            <a:avLst/>
          </a:prstGeom>
          <a:solidFill>
            <a:srgbClr val="2C6E49"/>
          </a:solidFill>
          <a:ln/>
        </p:spPr>
      </p:sp>
      <p:pic>
        <p:nvPicPr>
          <p:cNvPr id="14" name="Image 1" descr="/root/work/harness_slide/icons/w_shield.png">    </p:cNvPr>
          <p:cNvPicPr>
            <a:picLocks noChangeAspect="1"/>
          </p:cNvPicPr>
          <p:nvPr/>
        </p:nvPicPr>
        <p:blipFill>
          <a:blip r:embed="rId2"/>
          <a:stretch>
            <a:fillRect/>
          </a:stretch>
        </p:blipFill>
        <p:spPr>
          <a:xfrm>
            <a:off x="3672002" y="2185416"/>
            <a:ext cx="182880" cy="182880"/>
          </a:xfrm>
          <a:prstGeom prst="rect">
            <a:avLst/>
          </a:prstGeom>
        </p:spPr>
      </p:pic>
      <p:sp>
        <p:nvSpPr>
          <p:cNvPr id="15" name="Text 11"/>
          <p:cNvSpPr/>
          <p:nvPr/>
        </p:nvSpPr>
        <p:spPr>
          <a:xfrm>
            <a:off x="3534842" y="2606040"/>
            <a:ext cx="2291258" cy="274320"/>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The core idea</a:t>
            </a:r>
            <a:endParaRPr lang="en-US" sz="1300" dirty="0"/>
          </a:p>
        </p:txBody>
      </p:sp>
      <p:sp>
        <p:nvSpPr>
          <p:cNvPr id="16" name="Text 12"/>
          <p:cNvSpPr/>
          <p:nvPr/>
        </p:nvSpPr>
        <p:spPr>
          <a:xfrm>
            <a:off x="3534842" y="2926080"/>
            <a:ext cx="2291258" cy="1600200"/>
          </a:xfrm>
          <a:prstGeom prst="rect">
            <a:avLst/>
          </a:prstGeom>
          <a:noFill/>
          <a:ln/>
        </p:spPr>
        <p:txBody>
          <a:bodyPr wrap="square" lIns="0" tIns="0" rIns="0" bIns="0" rtlCol="0" anchor="t"/>
          <a:lstStyle/>
          <a:p>
            <a:pPr indent="0" marL="0">
              <a:lnSpc>
                <a:spcPct val="106000"/>
              </a:lnSpc>
              <a:buNone/>
            </a:pPr>
            <a:r>
              <a:rPr lang="en-US" sz="1000" dirty="0">
                <a:solidFill>
                  <a:srgbClr val="22252A"/>
                </a:solidFill>
                <a:latin typeface="Calibri" pitchFamily="34" charset="0"/>
                <a:ea typeface="Calibri" pitchFamily="34" charset="-122"/>
                <a:cs typeface="Calibri" pitchFamily="34" charset="-120"/>
              </a:rPr>
              <a:t>Separate the writer from the grader (GAN), and let every quality metric move only forward (ratchet). Bias and regression are removed structurally.</a:t>
            </a:r>
            <a:endParaRPr lang="en-US" sz="1000" dirty="0"/>
          </a:p>
        </p:txBody>
      </p:sp>
      <p:sp>
        <p:nvSpPr>
          <p:cNvPr id="17" name="Shape 13"/>
          <p:cNvSpPr/>
          <p:nvPr/>
        </p:nvSpPr>
        <p:spPr>
          <a:xfrm>
            <a:off x="6164428" y="1828800"/>
            <a:ext cx="2693594" cy="2834640"/>
          </a:xfrm>
          <a:prstGeom prst="roundRect">
            <a:avLst>
              <a:gd name="adj" fmla="val 3055"/>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18" name="Shape 14"/>
          <p:cNvSpPr/>
          <p:nvPr/>
        </p:nvSpPr>
        <p:spPr>
          <a:xfrm>
            <a:off x="6365596" y="2048256"/>
            <a:ext cx="457200" cy="457200"/>
          </a:xfrm>
          <a:prstGeom prst="ellipse">
            <a:avLst/>
          </a:prstGeom>
          <a:solidFill>
            <a:srgbClr val="1F5132"/>
          </a:solidFill>
          <a:ln/>
        </p:spPr>
      </p:sp>
      <p:pic>
        <p:nvPicPr>
          <p:cNvPr id="19" name="Image 2" descr="/root/work/harness_slide/icons/w_gauge.png">    </p:cNvPr>
          <p:cNvPicPr>
            <a:picLocks noChangeAspect="1"/>
          </p:cNvPicPr>
          <p:nvPr/>
        </p:nvPicPr>
        <p:blipFill>
          <a:blip r:embed="rId3"/>
          <a:stretch>
            <a:fillRect/>
          </a:stretch>
        </p:blipFill>
        <p:spPr>
          <a:xfrm>
            <a:off x="6502756" y="2185416"/>
            <a:ext cx="182880" cy="182880"/>
          </a:xfrm>
          <a:prstGeom prst="rect">
            <a:avLst/>
          </a:prstGeom>
        </p:spPr>
      </p:pic>
      <p:sp>
        <p:nvSpPr>
          <p:cNvPr id="20" name="Text 15"/>
          <p:cNvSpPr/>
          <p:nvPr/>
        </p:nvSpPr>
        <p:spPr>
          <a:xfrm>
            <a:off x="6365596" y="2606040"/>
            <a:ext cx="2291258" cy="274320"/>
          </a:xfrm>
          <a:prstGeom prst="rect">
            <a:avLst/>
          </a:prstGeom>
          <a:noFill/>
          <a:ln/>
        </p:spPr>
        <p:txBody>
          <a:bodyPr wrap="square" lIns="0" tIns="0" rIns="0" bIns="0" rtlCol="0" anchor="ctr"/>
          <a:lstStyle/>
          <a:p>
            <a:pPr indent="0" marL="0">
              <a:buNone/>
            </a:pPr>
            <a:r>
              <a:rPr lang="en-US" sz="1300" b="1" dirty="0">
                <a:solidFill>
                  <a:srgbClr val="1F5132"/>
                </a:solidFill>
                <a:latin typeface="Calibri" pitchFamily="34" charset="0"/>
                <a:ea typeface="Calibri" pitchFamily="34" charset="-122"/>
                <a:cs typeface="Calibri" pitchFamily="34" charset="-120"/>
              </a:rPr>
              <a:t>The guarantee</a:t>
            </a:r>
            <a:endParaRPr lang="en-US" sz="1300" dirty="0"/>
          </a:p>
        </p:txBody>
      </p:sp>
      <p:sp>
        <p:nvSpPr>
          <p:cNvPr id="21" name="Text 16"/>
          <p:cNvSpPr/>
          <p:nvPr/>
        </p:nvSpPr>
        <p:spPr>
          <a:xfrm>
            <a:off x="6365596" y="2926080"/>
            <a:ext cx="2291258" cy="1600200"/>
          </a:xfrm>
          <a:prstGeom prst="rect">
            <a:avLst/>
          </a:prstGeom>
          <a:noFill/>
          <a:ln/>
        </p:spPr>
        <p:txBody>
          <a:bodyPr wrap="square" lIns="0" tIns="0" rIns="0" bIns="0" rtlCol="0" anchor="t"/>
          <a:lstStyle/>
          <a:p>
            <a:pPr indent="0" marL="0">
              <a:lnSpc>
                <a:spcPct val="106000"/>
              </a:lnSpc>
              <a:buNone/>
            </a:pPr>
            <a:r>
              <a:rPr lang="en-US" sz="1000" dirty="0">
                <a:solidFill>
                  <a:srgbClr val="22252A"/>
                </a:solidFill>
                <a:latin typeface="Calibri" pitchFamily="34" charset="0"/>
                <a:ea typeface="Calibri" pitchFamily="34" charset="-122"/>
                <a:cs typeface="Calibri" pitchFamily="34" charset="-120"/>
              </a:rPr>
              <a:t>Machine gates always run — tests, coverage, architecture, security, fresh-context review. The generator never grades itself; the harness never merges for you.</a:t>
            </a:r>
            <a:endParaRPr lang="en-US" sz="1000" dirty="0"/>
          </a:p>
        </p:txBody>
      </p:sp>
      <p:sp>
        <p:nvSpPr>
          <p:cNvPr id="22" name="Shape 17"/>
          <p:cNvSpPr/>
          <p:nvPr/>
        </p:nvSpPr>
        <p:spPr>
          <a:xfrm>
            <a:off x="8995181" y="1828800"/>
            <a:ext cx="2693594" cy="2834640"/>
          </a:xfrm>
          <a:prstGeom prst="roundRect">
            <a:avLst>
              <a:gd name="adj" fmla="val 3055"/>
            </a:avLst>
          </a:prstGeom>
          <a:solidFill>
            <a:srgbClr val="FFFFFF"/>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23" name="Shape 18"/>
          <p:cNvSpPr/>
          <p:nvPr/>
        </p:nvSpPr>
        <p:spPr>
          <a:xfrm>
            <a:off x="9196349" y="2048256"/>
            <a:ext cx="457200" cy="457200"/>
          </a:xfrm>
          <a:prstGeom prst="ellipse">
            <a:avLst/>
          </a:prstGeom>
          <a:solidFill>
            <a:srgbClr val="6B4E9E"/>
          </a:solidFill>
          <a:ln/>
        </p:spPr>
      </p:sp>
      <p:pic>
        <p:nvPicPr>
          <p:cNvPr id="24" name="Image 3" descr="/root/work/harness_slide/icons/w_usercheck.png">    </p:cNvPr>
          <p:cNvPicPr>
            <a:picLocks noChangeAspect="1"/>
          </p:cNvPicPr>
          <p:nvPr/>
        </p:nvPicPr>
        <p:blipFill>
          <a:blip r:embed="rId4"/>
          <a:stretch>
            <a:fillRect/>
          </a:stretch>
        </p:blipFill>
        <p:spPr>
          <a:xfrm>
            <a:off x="9333509" y="2185416"/>
            <a:ext cx="182880" cy="182880"/>
          </a:xfrm>
          <a:prstGeom prst="rect">
            <a:avLst/>
          </a:prstGeom>
        </p:spPr>
      </p:pic>
      <p:sp>
        <p:nvSpPr>
          <p:cNvPr id="25" name="Text 19"/>
          <p:cNvSpPr/>
          <p:nvPr/>
        </p:nvSpPr>
        <p:spPr>
          <a:xfrm>
            <a:off x="9196349" y="2606040"/>
            <a:ext cx="2291258" cy="274320"/>
          </a:xfrm>
          <a:prstGeom prst="rect">
            <a:avLst/>
          </a:prstGeom>
          <a:noFill/>
          <a:ln/>
        </p:spPr>
        <p:txBody>
          <a:bodyPr wrap="square" lIns="0" tIns="0" rIns="0" bIns="0" rtlCol="0" anchor="ctr"/>
          <a:lstStyle/>
          <a:p>
            <a:pPr indent="0" marL="0">
              <a:buNone/>
            </a:pPr>
            <a:r>
              <a:rPr lang="en-US" sz="1300" b="1" dirty="0">
                <a:solidFill>
                  <a:srgbClr val="6B4E9E"/>
                </a:solidFill>
                <a:latin typeface="Calibri" pitchFamily="34" charset="0"/>
                <a:ea typeface="Calibri" pitchFamily="34" charset="-122"/>
                <a:cs typeface="Calibri" pitchFamily="34" charset="-120"/>
              </a:rPr>
              <a:t>The outcome</a:t>
            </a:r>
            <a:endParaRPr lang="en-US" sz="1300" dirty="0"/>
          </a:p>
        </p:txBody>
      </p:sp>
      <p:sp>
        <p:nvSpPr>
          <p:cNvPr id="26" name="Text 20"/>
          <p:cNvSpPr/>
          <p:nvPr/>
        </p:nvSpPr>
        <p:spPr>
          <a:xfrm>
            <a:off x="9196349" y="2926080"/>
            <a:ext cx="2291258" cy="1600200"/>
          </a:xfrm>
          <a:prstGeom prst="rect">
            <a:avLst/>
          </a:prstGeom>
          <a:noFill/>
          <a:ln/>
        </p:spPr>
        <p:txBody>
          <a:bodyPr wrap="square" lIns="0" tIns="0" rIns="0" bIns="0" rtlCol="0" anchor="t"/>
          <a:lstStyle/>
          <a:p>
            <a:pPr indent="0" marL="0">
              <a:lnSpc>
                <a:spcPct val="106000"/>
              </a:lnSpc>
              <a:buNone/>
            </a:pPr>
            <a:r>
              <a:rPr lang="en-US" sz="1000" dirty="0">
                <a:solidFill>
                  <a:srgbClr val="22252A"/>
                </a:solidFill>
                <a:latin typeface="Calibri" pitchFamily="34" charset="0"/>
                <a:ea typeface="Calibri" pitchFamily="34" charset="-122"/>
                <a:cs typeface="Calibri" pitchFamily="34" charset="-120"/>
              </a:rPr>
              <a:t>Autonomous, resumable, multi-session builds that behave like a disciplined senior engineer — and leave an auditable trail a human can trust.</a:t>
            </a:r>
            <a:endParaRPr lang="en-US" sz="1000" dirty="0"/>
          </a:p>
        </p:txBody>
      </p:sp>
      <p:sp>
        <p:nvSpPr>
          <p:cNvPr id="27" name="Shape 21"/>
          <p:cNvSpPr/>
          <p:nvPr/>
        </p:nvSpPr>
        <p:spPr>
          <a:xfrm>
            <a:off x="502920" y="4892040"/>
            <a:ext cx="11185855" cy="1005840"/>
          </a:xfrm>
          <a:prstGeom prst="roundRect">
            <a:avLst>
              <a:gd name="adj" fmla="val 8182"/>
            </a:avLst>
          </a:prstGeom>
          <a:solidFill>
            <a:srgbClr val="F7E8E0"/>
          </a:solidFill>
          <a:ln w="12700">
            <a:solidFill>
              <a:srgbClr val="EACFC2"/>
            </a:solidFill>
            <a:prstDash val="solid"/>
          </a:ln>
        </p:spPr>
      </p:sp>
      <p:sp>
        <p:nvSpPr>
          <p:cNvPr id="28" name="Text 22"/>
          <p:cNvSpPr/>
          <p:nvPr/>
        </p:nvSpPr>
        <p:spPr>
          <a:xfrm>
            <a:off x="731520" y="4892040"/>
            <a:ext cx="10728655" cy="1005840"/>
          </a:xfrm>
          <a:prstGeom prst="rect">
            <a:avLst/>
          </a:prstGeom>
          <a:noFill/>
          <a:ln/>
        </p:spPr>
        <p:txBody>
          <a:bodyPr wrap="square" lIns="0" tIns="0" rIns="0" bIns="0" rtlCol="0" anchor="ctr"/>
          <a:lstStyle/>
          <a:p>
            <a:pPr indent="0" marL="0">
              <a:lnSpc>
                <a:spcPct val="104000"/>
              </a:lnSpc>
              <a:buNone/>
            </a:pPr>
            <a:r>
              <a:rPr lang="en-US" sz="1200" b="1" dirty="0">
                <a:solidFill>
                  <a:srgbClr val="C15F3C"/>
                </a:solidFill>
                <a:latin typeface="Calibri" pitchFamily="34" charset="0"/>
                <a:ea typeface="Calibri" pitchFamily="34" charset="-122"/>
                <a:cs typeface="Calibri" pitchFamily="34" charset="-120"/>
              </a:rPr>
              <a:t>The thesis   </a:t>
            </a:r>
            <a:pPr indent="0" marL="0">
              <a:lnSpc>
                <a:spcPct val="104000"/>
              </a:lnSpc>
              <a:buNone/>
            </a:pPr>
            <a:r>
              <a:rPr lang="en-US" sz="1100" dirty="0">
                <a:solidFill>
                  <a:srgbClr val="22252A"/>
                </a:solidFill>
                <a:latin typeface="Calibri" pitchFamily="34" charset="0"/>
                <a:ea typeface="Calibri" pitchFamily="34" charset="-122"/>
                <a:cs typeface="Calibri" pitchFamily="34" charset="-120"/>
              </a:rPr>
              <a:t>A senior MIT-grade engineer plans before coding, writes the test first, never marks their own homework, refuses to let quality slip, reviews before merge, and learns from every mistake. The harness encodes each of those habits as a mechanism — so the behaviour is </a:t>
            </a:r>
            <a:pPr indent="0" marL="0">
              <a:lnSpc>
                <a:spcPct val="104000"/>
              </a:lnSpc>
              <a:buNone/>
            </a:pPr>
            <a:r>
              <a:rPr lang="en-US" sz="1100" b="1" dirty="0">
                <a:solidFill>
                  <a:srgbClr val="22252A"/>
                </a:solidFill>
                <a:latin typeface="Calibri" pitchFamily="34" charset="0"/>
                <a:ea typeface="Calibri" pitchFamily="34" charset="-122"/>
                <a:cs typeface="Calibri" pitchFamily="34" charset="-120"/>
              </a:rPr>
              <a:t>predictable, not aspirational.</a:t>
            </a:r>
            <a:endParaRPr lang="en-US" sz="1200" dirty="0"/>
          </a:p>
        </p:txBody>
      </p:sp>
      <p:sp>
        <p:nvSpPr>
          <p:cNvPr id="29" name="Text 23"/>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Executive summary</a:t>
            </a:r>
            <a:endParaRPr lang="en-US" sz="850" dirty="0"/>
          </a:p>
        </p:txBody>
      </p:sp>
      <p:sp>
        <p:nvSpPr>
          <p:cNvPr id="30" name="Text 24"/>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02 / 21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C15F3C"/>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C15F3C"/>
                </a:solidFill>
                <a:latin typeface="Calibri" pitchFamily="34" charset="0"/>
                <a:ea typeface="Calibri" pitchFamily="34" charset="-122"/>
                <a:cs typeface="Calibri" pitchFamily="34" charset="-120"/>
              </a:rPr>
              <a:t>MOTIVATION</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Why autonomous code generation fails</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Left unharnessed, an agent generating code over many iterations hits three failure modes that compound. The harness is designed around defeating each one.</a:t>
            </a:r>
            <a:endParaRPr lang="en-US" sz="1150" dirty="0"/>
          </a:p>
        </p:txBody>
      </p:sp>
      <p:sp>
        <p:nvSpPr>
          <p:cNvPr id="7" name="Shape 5"/>
          <p:cNvSpPr/>
          <p:nvPr/>
        </p:nvSpPr>
        <p:spPr>
          <a:xfrm>
            <a:off x="502920" y="1828800"/>
            <a:ext cx="3545738" cy="3977640"/>
          </a:xfrm>
          <a:prstGeom prst="roundRect">
            <a:avLst>
              <a:gd name="adj" fmla="val 2321"/>
            </a:avLst>
          </a:prstGeom>
          <a:solidFill>
            <a:srgbClr val="FFFFFF"/>
          </a:solidFill>
          <a:ln w="12700">
            <a:solidFill>
              <a:srgbClr val="EBDAB4"/>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731520" y="2084832"/>
            <a:ext cx="512064" cy="512064"/>
          </a:xfrm>
          <a:prstGeom prst="ellipse">
            <a:avLst/>
          </a:prstGeom>
          <a:solidFill>
            <a:srgbClr val="B07414"/>
          </a:solidFill>
          <a:ln/>
        </p:spPr>
      </p:sp>
      <p:pic>
        <p:nvPicPr>
          <p:cNvPr id="9" name="Image 0" descr="/root/work/harness_slide/icons/w_users.png">    </p:cNvPr>
          <p:cNvPicPr>
            <a:picLocks noChangeAspect="1"/>
          </p:cNvPicPr>
          <p:nvPr/>
        </p:nvPicPr>
        <p:blipFill>
          <a:blip r:embed="rId1"/>
          <a:stretch>
            <a:fillRect/>
          </a:stretch>
        </p:blipFill>
        <p:spPr>
          <a:xfrm>
            <a:off x="886968" y="2240280"/>
            <a:ext cx="201168" cy="201168"/>
          </a:xfrm>
          <a:prstGeom prst="rect">
            <a:avLst/>
          </a:prstGeom>
        </p:spPr>
      </p:pic>
      <p:sp>
        <p:nvSpPr>
          <p:cNvPr id="10" name="Text 7"/>
          <p:cNvSpPr/>
          <p:nvPr/>
        </p:nvSpPr>
        <p:spPr>
          <a:xfrm>
            <a:off x="1371600" y="2084832"/>
            <a:ext cx="2539898" cy="512064"/>
          </a:xfrm>
          <a:prstGeom prst="rect">
            <a:avLst/>
          </a:prstGeom>
          <a:noFill/>
          <a:ln/>
        </p:spPr>
        <p:txBody>
          <a:bodyPr wrap="square" lIns="0" tIns="0" rIns="0" bIns="0" rtlCol="0" anchor="ctr"/>
          <a:lstStyle/>
          <a:p>
            <a:pPr indent="0" marL="0">
              <a:buNone/>
            </a:pPr>
            <a:r>
              <a:rPr lang="en-US" sz="1350" b="1" dirty="0">
                <a:solidFill>
                  <a:srgbClr val="B07414"/>
                </a:solidFill>
                <a:latin typeface="Calibri" pitchFamily="34" charset="0"/>
                <a:ea typeface="Calibri" pitchFamily="34" charset="-122"/>
                <a:cs typeface="Calibri" pitchFamily="34" charset="-120"/>
              </a:rPr>
              <a:t>Self-evaluation bias</a:t>
            </a:r>
            <a:endParaRPr lang="en-US" sz="1350" dirty="0"/>
          </a:p>
        </p:txBody>
      </p:sp>
      <p:sp>
        <p:nvSpPr>
          <p:cNvPr id="11" name="Text 8"/>
          <p:cNvSpPr/>
          <p:nvPr/>
        </p:nvSpPr>
        <p:spPr>
          <a:xfrm>
            <a:off x="731520" y="2743200"/>
            <a:ext cx="3088538" cy="457200"/>
          </a:xfrm>
          <a:prstGeom prst="rect">
            <a:avLst/>
          </a:prstGeom>
          <a:noFill/>
          <a:ln/>
        </p:spPr>
        <p:txBody>
          <a:bodyPr wrap="square" lIns="0" tIns="0" rIns="0" bIns="0" rtlCol="0" anchor="ctr"/>
          <a:lstStyle/>
          <a:p>
            <a:pPr indent="0" marL="0">
              <a:lnSpc>
                <a:spcPct val="102000"/>
              </a:lnSpc>
              <a:buNone/>
            </a:pPr>
            <a:r>
              <a:rPr lang="en-US" sz="1050" i="1" dirty="0">
                <a:solidFill>
                  <a:srgbClr val="6C7078"/>
                </a:solidFill>
                <a:latin typeface="Calibri" pitchFamily="34" charset="0"/>
                <a:ea typeface="Calibri" pitchFamily="34" charset="-122"/>
                <a:cs typeface="Calibri" pitchFamily="34" charset="-120"/>
              </a:rPr>
              <a:t>The author cannot objectively judge its own work.</a:t>
            </a:r>
            <a:endParaRPr lang="en-US" sz="1050" dirty="0"/>
          </a:p>
        </p:txBody>
      </p:sp>
      <p:sp>
        <p:nvSpPr>
          <p:cNvPr id="12" name="Text 9"/>
          <p:cNvSpPr/>
          <p:nvPr/>
        </p:nvSpPr>
        <p:spPr>
          <a:xfrm>
            <a:off x="758952" y="3291840"/>
            <a:ext cx="3042818" cy="1554480"/>
          </a:xfrm>
          <a:prstGeom prst="rect">
            <a:avLst/>
          </a:prstGeom>
          <a:noFill/>
          <a:ln/>
        </p:spPr>
        <p:txBody>
          <a:bodyPr wrap="square" lIns="0" tIns="0" rIns="0" bIns="0" rtlCol="0" anchor="t"/>
          <a:lstStyle/>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Confirmation bias — “I wrote it, so it works.”</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Rationalization — “the test is probably wrong.”</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Scope creep — gold-plating beyond the spec.</a:t>
            </a:r>
            <a:endParaRPr lang="en-US" sz="1030" dirty="0"/>
          </a:p>
        </p:txBody>
      </p:sp>
      <p:sp>
        <p:nvSpPr>
          <p:cNvPr id="13" name="Shape 10"/>
          <p:cNvSpPr/>
          <p:nvPr/>
        </p:nvSpPr>
        <p:spPr>
          <a:xfrm>
            <a:off x="704088" y="5148072"/>
            <a:ext cx="3143402" cy="493776"/>
          </a:xfrm>
          <a:prstGeom prst="roundRect">
            <a:avLst>
              <a:gd name="adj" fmla="val 12963"/>
            </a:avLst>
          </a:prstGeom>
          <a:solidFill>
            <a:srgbClr val="F7EDD6"/>
          </a:solidFill>
          <a:ln w="12700">
            <a:solidFill>
              <a:srgbClr val="EBDAB4"/>
            </a:solidFill>
            <a:prstDash val="solid"/>
          </a:ln>
        </p:spPr>
      </p:sp>
      <p:sp>
        <p:nvSpPr>
          <p:cNvPr id="14" name="Text 11"/>
          <p:cNvSpPr/>
          <p:nvPr/>
        </p:nvSpPr>
        <p:spPr>
          <a:xfrm>
            <a:off x="813816" y="5148072"/>
            <a:ext cx="2942234" cy="493776"/>
          </a:xfrm>
          <a:prstGeom prst="rect">
            <a:avLst/>
          </a:prstGeom>
          <a:noFill/>
          <a:ln/>
        </p:spPr>
        <p:txBody>
          <a:bodyPr wrap="square" lIns="0" tIns="0" rIns="0" bIns="0" rtlCol="0" anchor="ctr"/>
          <a:lstStyle/>
          <a:p>
            <a:pPr indent="0" marL="0">
              <a:buNone/>
            </a:pPr>
            <a:r>
              <a:rPr lang="en-US" sz="980" b="1" dirty="0">
                <a:solidFill>
                  <a:srgbClr val="B07414"/>
                </a:solidFill>
                <a:latin typeface="Calibri" pitchFamily="34" charset="0"/>
                <a:ea typeface="Calibri" pitchFamily="34" charset="-122"/>
                <a:cs typeface="Calibri" pitchFamily="34" charset="-120"/>
              </a:rPr>
              <a:t>Defeated by: GAN generator ≠ evaluator.</a:t>
            </a:r>
            <a:endParaRPr lang="en-US" sz="980" dirty="0"/>
          </a:p>
        </p:txBody>
      </p:sp>
      <p:sp>
        <p:nvSpPr>
          <p:cNvPr id="15" name="Shape 12"/>
          <p:cNvSpPr/>
          <p:nvPr/>
        </p:nvSpPr>
        <p:spPr>
          <a:xfrm>
            <a:off x="4322978" y="1828800"/>
            <a:ext cx="3545738" cy="3977640"/>
          </a:xfrm>
          <a:prstGeom prst="roundRect">
            <a:avLst>
              <a:gd name="adj" fmla="val 23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16" name="Shape 13"/>
          <p:cNvSpPr/>
          <p:nvPr/>
        </p:nvSpPr>
        <p:spPr>
          <a:xfrm>
            <a:off x="4551578" y="2084832"/>
            <a:ext cx="512064" cy="512064"/>
          </a:xfrm>
          <a:prstGeom prst="ellipse">
            <a:avLst/>
          </a:prstGeom>
          <a:solidFill>
            <a:srgbClr val="1F5132"/>
          </a:solidFill>
          <a:ln/>
        </p:spPr>
      </p:sp>
      <p:pic>
        <p:nvPicPr>
          <p:cNvPr id="17" name="Image 1" descr="/root/work/harness_slide/icons/w_gauge.png">    </p:cNvPr>
          <p:cNvPicPr>
            <a:picLocks noChangeAspect="1"/>
          </p:cNvPicPr>
          <p:nvPr/>
        </p:nvPicPr>
        <p:blipFill>
          <a:blip r:embed="rId2"/>
          <a:stretch>
            <a:fillRect/>
          </a:stretch>
        </p:blipFill>
        <p:spPr>
          <a:xfrm>
            <a:off x="4707026" y="2240280"/>
            <a:ext cx="201168" cy="201168"/>
          </a:xfrm>
          <a:prstGeom prst="rect">
            <a:avLst/>
          </a:prstGeom>
        </p:spPr>
      </p:pic>
      <p:sp>
        <p:nvSpPr>
          <p:cNvPr id="18" name="Text 14"/>
          <p:cNvSpPr/>
          <p:nvPr/>
        </p:nvSpPr>
        <p:spPr>
          <a:xfrm>
            <a:off x="5191658" y="2084832"/>
            <a:ext cx="2539898" cy="512064"/>
          </a:xfrm>
          <a:prstGeom prst="rect">
            <a:avLst/>
          </a:prstGeom>
          <a:noFill/>
          <a:ln/>
        </p:spPr>
        <p:txBody>
          <a:bodyPr wrap="square" lIns="0" tIns="0" rIns="0" bIns="0" rtlCol="0" anchor="ctr"/>
          <a:lstStyle/>
          <a:p>
            <a:pPr indent="0" marL="0">
              <a:buNone/>
            </a:pPr>
            <a:r>
              <a:rPr lang="en-US" sz="1350" b="1" dirty="0">
                <a:solidFill>
                  <a:srgbClr val="1F5132"/>
                </a:solidFill>
                <a:latin typeface="Calibri" pitchFamily="34" charset="0"/>
                <a:ea typeface="Calibri" pitchFamily="34" charset="-122"/>
                <a:cs typeface="Calibri" pitchFamily="34" charset="-120"/>
              </a:rPr>
              <a:t>Quality regression</a:t>
            </a:r>
            <a:endParaRPr lang="en-US" sz="1350" dirty="0"/>
          </a:p>
        </p:txBody>
      </p:sp>
      <p:sp>
        <p:nvSpPr>
          <p:cNvPr id="19" name="Text 15"/>
          <p:cNvSpPr/>
          <p:nvPr/>
        </p:nvSpPr>
        <p:spPr>
          <a:xfrm>
            <a:off x="4551578" y="2743200"/>
            <a:ext cx="3088538" cy="457200"/>
          </a:xfrm>
          <a:prstGeom prst="rect">
            <a:avLst/>
          </a:prstGeom>
          <a:noFill/>
          <a:ln/>
        </p:spPr>
        <p:txBody>
          <a:bodyPr wrap="square" lIns="0" tIns="0" rIns="0" bIns="0" rtlCol="0" anchor="ctr"/>
          <a:lstStyle/>
          <a:p>
            <a:pPr indent="0" marL="0">
              <a:lnSpc>
                <a:spcPct val="102000"/>
              </a:lnSpc>
              <a:buNone/>
            </a:pPr>
            <a:r>
              <a:rPr lang="en-US" sz="1050" i="1" dirty="0">
                <a:solidFill>
                  <a:srgbClr val="6C7078"/>
                </a:solidFill>
                <a:latin typeface="Calibri" pitchFamily="34" charset="0"/>
                <a:ea typeface="Calibri" pitchFamily="34" charset="-122"/>
                <a:cs typeface="Calibri" pitchFamily="34" charset="-120"/>
              </a:rPr>
              <a:t>Without enforcement the codebase decays each iteration.</a:t>
            </a:r>
            <a:endParaRPr lang="en-US" sz="1050" dirty="0"/>
          </a:p>
        </p:txBody>
      </p:sp>
      <p:sp>
        <p:nvSpPr>
          <p:cNvPr id="20" name="Text 16"/>
          <p:cNvSpPr/>
          <p:nvPr/>
        </p:nvSpPr>
        <p:spPr>
          <a:xfrm>
            <a:off x="4579010" y="3291840"/>
            <a:ext cx="3042818" cy="1554480"/>
          </a:xfrm>
          <a:prstGeom prst="rect">
            <a:avLst/>
          </a:prstGeom>
          <a:noFill/>
          <a:ln/>
        </p:spPr>
        <p:txBody>
          <a:bodyPr wrap="square" lIns="0" tIns="0" rIns="0" bIns="0" rtlCol="0" anchor="t"/>
          <a:lstStyle/>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Coverage silently drops.</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Functions grow, architecture drifts.</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Each fix introduces two new problems.</a:t>
            </a:r>
            <a:endParaRPr lang="en-US" sz="1030" dirty="0"/>
          </a:p>
        </p:txBody>
      </p:sp>
      <p:sp>
        <p:nvSpPr>
          <p:cNvPr id="21" name="Shape 17"/>
          <p:cNvSpPr/>
          <p:nvPr/>
        </p:nvSpPr>
        <p:spPr>
          <a:xfrm>
            <a:off x="4524146" y="5148072"/>
            <a:ext cx="3143402" cy="493776"/>
          </a:xfrm>
          <a:prstGeom prst="roundRect">
            <a:avLst>
              <a:gd name="adj" fmla="val 12963"/>
            </a:avLst>
          </a:prstGeom>
          <a:solidFill>
            <a:srgbClr val="E4EEE7"/>
          </a:solidFill>
          <a:ln w="12700">
            <a:solidFill>
              <a:srgbClr val="CFE0D5"/>
            </a:solidFill>
            <a:prstDash val="solid"/>
          </a:ln>
        </p:spPr>
      </p:sp>
      <p:sp>
        <p:nvSpPr>
          <p:cNvPr id="22" name="Text 18"/>
          <p:cNvSpPr/>
          <p:nvPr/>
        </p:nvSpPr>
        <p:spPr>
          <a:xfrm>
            <a:off x="4633874" y="5148072"/>
            <a:ext cx="2942234" cy="493776"/>
          </a:xfrm>
          <a:prstGeom prst="rect">
            <a:avLst/>
          </a:prstGeom>
          <a:noFill/>
          <a:ln/>
        </p:spPr>
        <p:txBody>
          <a:bodyPr wrap="square" lIns="0" tIns="0" rIns="0" bIns="0" rtlCol="0" anchor="ctr"/>
          <a:lstStyle/>
          <a:p>
            <a:pPr indent="0" marL="0">
              <a:buNone/>
            </a:pPr>
            <a:r>
              <a:rPr lang="en-US" sz="980" b="1" dirty="0">
                <a:solidFill>
                  <a:srgbClr val="1F5132"/>
                </a:solidFill>
                <a:latin typeface="Calibri" pitchFamily="34" charset="0"/>
                <a:ea typeface="Calibri" pitchFamily="34" charset="-122"/>
                <a:cs typeface="Calibri" pitchFamily="34" charset="-120"/>
              </a:rPr>
              <a:t>Defeated by: the monotonic ratchet.</a:t>
            </a:r>
            <a:endParaRPr lang="en-US" sz="980" dirty="0"/>
          </a:p>
        </p:txBody>
      </p:sp>
      <p:sp>
        <p:nvSpPr>
          <p:cNvPr id="23" name="Shape 19"/>
          <p:cNvSpPr/>
          <p:nvPr/>
        </p:nvSpPr>
        <p:spPr>
          <a:xfrm>
            <a:off x="8143037" y="1828800"/>
            <a:ext cx="3545738" cy="3977640"/>
          </a:xfrm>
          <a:prstGeom prst="roundRect">
            <a:avLst>
              <a:gd name="adj" fmla="val 2321"/>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24" name="Shape 20"/>
          <p:cNvSpPr/>
          <p:nvPr/>
        </p:nvSpPr>
        <p:spPr>
          <a:xfrm>
            <a:off x="8371637" y="2084832"/>
            <a:ext cx="512064" cy="512064"/>
          </a:xfrm>
          <a:prstGeom prst="ellipse">
            <a:avLst/>
          </a:prstGeom>
          <a:solidFill>
            <a:srgbClr val="2C6E49"/>
          </a:solidFill>
          <a:ln/>
        </p:spPr>
      </p:sp>
      <p:pic>
        <p:nvPicPr>
          <p:cNvPr id="25" name="Image 2" descr="/root/work/harness_slide/icons/w_book.png">    </p:cNvPr>
          <p:cNvPicPr>
            <a:picLocks noChangeAspect="1"/>
          </p:cNvPicPr>
          <p:nvPr/>
        </p:nvPicPr>
        <p:blipFill>
          <a:blip r:embed="rId3"/>
          <a:stretch>
            <a:fillRect/>
          </a:stretch>
        </p:blipFill>
        <p:spPr>
          <a:xfrm>
            <a:off x="8527085" y="2240280"/>
            <a:ext cx="201168" cy="201168"/>
          </a:xfrm>
          <a:prstGeom prst="rect">
            <a:avLst/>
          </a:prstGeom>
        </p:spPr>
      </p:pic>
      <p:sp>
        <p:nvSpPr>
          <p:cNvPr id="26" name="Text 21"/>
          <p:cNvSpPr/>
          <p:nvPr/>
        </p:nvSpPr>
        <p:spPr>
          <a:xfrm>
            <a:off x="9011717" y="2084832"/>
            <a:ext cx="2539898" cy="512064"/>
          </a:xfrm>
          <a:prstGeom prst="rect">
            <a:avLst/>
          </a:prstGeom>
          <a:noFill/>
          <a:ln/>
        </p:spPr>
        <p:txBody>
          <a:bodyPr wrap="square" lIns="0" tIns="0" rIns="0" bIns="0" rtlCol="0" anchor="ctr"/>
          <a:lstStyle/>
          <a:p>
            <a:pPr indent="0" marL="0">
              <a:buNone/>
            </a:pPr>
            <a:r>
              <a:rPr lang="en-US" sz="1350" b="1" dirty="0">
                <a:solidFill>
                  <a:srgbClr val="2C6E49"/>
                </a:solidFill>
                <a:latin typeface="Calibri" pitchFamily="34" charset="0"/>
                <a:ea typeface="Calibri" pitchFamily="34" charset="-122"/>
                <a:cs typeface="Calibri" pitchFamily="34" charset="-120"/>
              </a:rPr>
              <a:t>Context exhaustion</a:t>
            </a:r>
            <a:endParaRPr lang="en-US" sz="1350" dirty="0"/>
          </a:p>
        </p:txBody>
      </p:sp>
      <p:sp>
        <p:nvSpPr>
          <p:cNvPr id="27" name="Text 22"/>
          <p:cNvSpPr/>
          <p:nvPr/>
        </p:nvSpPr>
        <p:spPr>
          <a:xfrm>
            <a:off x="8371637" y="2743200"/>
            <a:ext cx="3088538" cy="457200"/>
          </a:xfrm>
          <a:prstGeom prst="rect">
            <a:avLst/>
          </a:prstGeom>
          <a:noFill/>
          <a:ln/>
        </p:spPr>
        <p:txBody>
          <a:bodyPr wrap="square" lIns="0" tIns="0" rIns="0" bIns="0" rtlCol="0" anchor="ctr"/>
          <a:lstStyle/>
          <a:p>
            <a:pPr indent="0" marL="0">
              <a:lnSpc>
                <a:spcPct val="102000"/>
              </a:lnSpc>
              <a:buNone/>
            </a:pPr>
            <a:r>
              <a:rPr lang="en-US" sz="1050" i="1" dirty="0">
                <a:solidFill>
                  <a:srgbClr val="6C7078"/>
                </a:solidFill>
                <a:latin typeface="Calibri" pitchFamily="34" charset="0"/>
                <a:ea typeface="Calibri" pitchFamily="34" charset="-122"/>
                <a:cs typeface="Calibri" pitchFamily="34" charset="-120"/>
              </a:rPr>
              <a:t>Real projects exceed a single context window.</a:t>
            </a:r>
            <a:endParaRPr lang="en-US" sz="1050" dirty="0"/>
          </a:p>
        </p:txBody>
      </p:sp>
      <p:sp>
        <p:nvSpPr>
          <p:cNvPr id="28" name="Text 23"/>
          <p:cNvSpPr/>
          <p:nvPr/>
        </p:nvSpPr>
        <p:spPr>
          <a:xfrm>
            <a:off x="8399069" y="3291840"/>
            <a:ext cx="3042818" cy="1554480"/>
          </a:xfrm>
          <a:prstGeom prst="rect">
            <a:avLst/>
          </a:prstGeom>
          <a:noFill/>
          <a:ln/>
        </p:spPr>
        <p:txBody>
          <a:bodyPr wrap="square" lIns="0" tIns="0" rIns="0" bIns="0" rtlCol="0" anchor="t"/>
          <a:lstStyle/>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Work restarts from scratch each session.</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Hard-won knowledge is lost.</a:t>
            </a:r>
            <a:endParaRPr lang="en-US" sz="1030" dirty="0"/>
          </a:p>
          <a:p>
            <a:pPr marL="342900" indent="-342900">
              <a:spcAft>
                <a:spcPts val="600"/>
              </a:spcAft>
              <a:buSzPct val="100000"/>
              <a:buChar char="•"/>
            </a:pPr>
            <a:r>
              <a:rPr lang="en-US" sz="1030" dirty="0">
                <a:solidFill>
                  <a:srgbClr val="22252A"/>
                </a:solidFill>
                <a:latin typeface="Calibri" pitchFamily="34" charset="0"/>
                <a:ea typeface="Calibri" pitchFamily="34" charset="-122"/>
                <a:cs typeface="Calibri" pitchFamily="34" charset="-120"/>
              </a:rPr>
              <a:t>The same mistakes repeat forever.</a:t>
            </a:r>
            <a:endParaRPr lang="en-US" sz="1030" dirty="0"/>
          </a:p>
        </p:txBody>
      </p:sp>
      <p:sp>
        <p:nvSpPr>
          <p:cNvPr id="29" name="Shape 24"/>
          <p:cNvSpPr/>
          <p:nvPr/>
        </p:nvSpPr>
        <p:spPr>
          <a:xfrm>
            <a:off x="8344205" y="5148072"/>
            <a:ext cx="3143402" cy="493776"/>
          </a:xfrm>
          <a:prstGeom prst="roundRect">
            <a:avLst>
              <a:gd name="adj" fmla="val 12963"/>
            </a:avLst>
          </a:prstGeom>
          <a:solidFill>
            <a:srgbClr val="E7F1E9"/>
          </a:solidFill>
          <a:ln w="12700">
            <a:solidFill>
              <a:srgbClr val="D6E7DB"/>
            </a:solidFill>
            <a:prstDash val="solid"/>
          </a:ln>
        </p:spPr>
      </p:sp>
      <p:sp>
        <p:nvSpPr>
          <p:cNvPr id="30" name="Text 25"/>
          <p:cNvSpPr/>
          <p:nvPr/>
        </p:nvSpPr>
        <p:spPr>
          <a:xfrm>
            <a:off x="8453933" y="5148072"/>
            <a:ext cx="2942234" cy="493776"/>
          </a:xfrm>
          <a:prstGeom prst="rect">
            <a:avLst/>
          </a:prstGeom>
          <a:noFill/>
          <a:ln/>
        </p:spPr>
        <p:txBody>
          <a:bodyPr wrap="square" lIns="0" tIns="0" rIns="0" bIns="0" rtlCol="0" anchor="ctr"/>
          <a:lstStyle/>
          <a:p>
            <a:pPr indent="0" marL="0">
              <a:buNone/>
            </a:pPr>
            <a:r>
              <a:rPr lang="en-US" sz="980" b="1" dirty="0">
                <a:solidFill>
                  <a:srgbClr val="2C6E49"/>
                </a:solidFill>
                <a:latin typeface="Calibri" pitchFamily="34" charset="0"/>
                <a:ea typeface="Calibri" pitchFamily="34" charset="-122"/>
                <a:cs typeface="Calibri" pitchFamily="34" charset="-120"/>
              </a:rPr>
              <a:t>Defeated by: session chaining + learned rules.</a:t>
            </a:r>
            <a:endParaRPr lang="en-US" sz="980" dirty="0"/>
          </a:p>
        </p:txBody>
      </p:sp>
      <p:sp>
        <p:nvSpPr>
          <p:cNvPr id="31" name="Text 26"/>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The problem</a:t>
            </a:r>
            <a:endParaRPr lang="en-US" sz="850" dirty="0"/>
          </a:p>
        </p:txBody>
      </p:sp>
      <p:sp>
        <p:nvSpPr>
          <p:cNvPr id="32" name="Text 27"/>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03 / 21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A2E34"/>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04</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A2E34"/>
                </a:solidFill>
                <a:latin typeface="Calibri" pitchFamily="34" charset="0"/>
                <a:ea typeface="Calibri" pitchFamily="34" charset="-122"/>
                <a:cs typeface="Calibri" pitchFamily="34" charset="-120"/>
              </a:rPr>
              <a:t>INTERACTING WITH CODING AGENTS</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Four phases of human–agent collaboration</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“In the loop” means fixing the artifacts; “on the loop” means engineering the system that produces them. Where a team sits on this spectrum decides whether agents create leverage — or bottlenecks.</a:t>
            </a:r>
            <a:endParaRPr lang="en-US" sz="1150" dirty="0"/>
          </a:p>
        </p:txBody>
      </p:sp>
      <p:sp>
        <p:nvSpPr>
          <p:cNvPr id="7" name="Shape 5"/>
          <p:cNvSpPr/>
          <p:nvPr/>
        </p:nvSpPr>
        <p:spPr>
          <a:xfrm>
            <a:off x="502920" y="1828800"/>
            <a:ext cx="2549576" cy="3154680"/>
          </a:xfrm>
          <a:prstGeom prst="roundRect">
            <a:avLst>
              <a:gd name="adj" fmla="val 3228"/>
            </a:avLst>
          </a:prstGeom>
          <a:solidFill>
            <a:srgbClr val="FFFFFF"/>
          </a:solidFill>
          <a:ln w="12700">
            <a:solidFill>
              <a:srgbClr val="EACFC2"/>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704088" y="2029968"/>
            <a:ext cx="420624" cy="420624"/>
          </a:xfrm>
          <a:prstGeom prst="ellipse">
            <a:avLst/>
          </a:prstGeom>
          <a:solidFill>
            <a:srgbClr val="C15F3C"/>
          </a:solidFill>
          <a:ln/>
        </p:spPr>
      </p:sp>
      <p:sp>
        <p:nvSpPr>
          <p:cNvPr id="9" name="Text 7"/>
          <p:cNvSpPr/>
          <p:nvPr/>
        </p:nvSpPr>
        <p:spPr>
          <a:xfrm>
            <a:off x="704088" y="20299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216152" y="2029968"/>
            <a:ext cx="1726616" cy="420624"/>
          </a:xfrm>
          <a:prstGeom prst="rect">
            <a:avLst/>
          </a:prstGeom>
          <a:noFill/>
          <a:ln/>
        </p:spPr>
        <p:txBody>
          <a:bodyPr wrap="square" lIns="0" tIns="0" rIns="0" bIns="0" rtlCol="0" anchor="ctr"/>
          <a:lstStyle/>
          <a:p>
            <a:pPr indent="0" marL="0">
              <a:buNone/>
            </a:pPr>
            <a:r>
              <a:rPr lang="en-US" sz="860" b="1" spc="100" kern="0" dirty="0">
                <a:solidFill>
                  <a:srgbClr val="C15F3C"/>
                </a:solidFill>
                <a:latin typeface="Calibri" pitchFamily="34" charset="0"/>
                <a:ea typeface="Calibri" pitchFamily="34" charset="-122"/>
                <a:cs typeface="Calibri" pitchFamily="34" charset="-120"/>
              </a:rPr>
              <a:t>OUTSIDE THE LOOP</a:t>
            </a:r>
            <a:endParaRPr lang="en-US" sz="860" dirty="0"/>
          </a:p>
        </p:txBody>
      </p:sp>
      <p:sp>
        <p:nvSpPr>
          <p:cNvPr id="11" name="Text 9"/>
          <p:cNvSpPr/>
          <p:nvPr/>
        </p:nvSpPr>
        <p:spPr>
          <a:xfrm>
            <a:off x="722376" y="2560320"/>
            <a:ext cx="2110664" cy="457200"/>
          </a:xfrm>
          <a:prstGeom prst="rect">
            <a:avLst/>
          </a:prstGeom>
          <a:noFill/>
          <a:ln/>
        </p:spPr>
        <p:txBody>
          <a:bodyPr wrap="square" lIns="0" tIns="0" rIns="0" bIns="0" rtlCol="0" anchor="t"/>
          <a:lstStyle/>
          <a:p>
            <a:pPr indent="0" marL="0">
              <a:lnSpc>
                <a:spcPct val="98000"/>
              </a:lnSpc>
              <a:buNone/>
            </a:pPr>
            <a:r>
              <a:rPr lang="en-US" sz="1250" b="1" dirty="0">
                <a:solidFill>
                  <a:srgbClr val="22252A"/>
                </a:solidFill>
                <a:latin typeface="Calibri" pitchFamily="34" charset="0"/>
                <a:ea typeface="Calibri" pitchFamily="34" charset="-122"/>
                <a:cs typeface="Calibri" pitchFamily="34" charset="-120"/>
              </a:rPr>
              <a:t>Humans outside the loop</a:t>
            </a:r>
            <a:endParaRPr lang="en-US" sz="1250" dirty="0"/>
          </a:p>
        </p:txBody>
      </p:sp>
      <p:sp>
        <p:nvSpPr>
          <p:cNvPr id="12" name="Text 10"/>
          <p:cNvSpPr/>
          <p:nvPr/>
        </p:nvSpPr>
        <p:spPr>
          <a:xfrm>
            <a:off x="722376" y="3127248"/>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C15F3C"/>
                </a:solidFill>
                <a:latin typeface="Calibri" pitchFamily="34" charset="0"/>
                <a:ea typeface="Calibri" pitchFamily="34" charset="-122"/>
                <a:cs typeface="Calibri" pitchFamily="34" charset="-120"/>
              </a:rPr>
              <a:t>HUMAN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Owns the “why” — ideas &amp; outcomes.</a:t>
            </a:r>
            <a:endParaRPr lang="en-US" sz="760" dirty="0"/>
          </a:p>
        </p:txBody>
      </p:sp>
      <p:sp>
        <p:nvSpPr>
          <p:cNvPr id="13" name="Text 11"/>
          <p:cNvSpPr/>
          <p:nvPr/>
        </p:nvSpPr>
        <p:spPr>
          <a:xfrm>
            <a:off x="722376" y="3803904"/>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C15F3C"/>
                </a:solidFill>
                <a:latin typeface="Calibri" pitchFamily="34" charset="0"/>
                <a:ea typeface="Calibri" pitchFamily="34" charset="-122"/>
                <a:cs typeface="Calibri" pitchFamily="34" charset="-120"/>
              </a:rPr>
              <a:t>AGENT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Owns the “how” end-to-end.</a:t>
            </a:r>
            <a:endParaRPr lang="en-US" sz="760" dirty="0"/>
          </a:p>
        </p:txBody>
      </p:sp>
      <p:sp>
        <p:nvSpPr>
          <p:cNvPr id="14" name="Shape 12"/>
          <p:cNvSpPr/>
          <p:nvPr/>
        </p:nvSpPr>
        <p:spPr>
          <a:xfrm>
            <a:off x="685800" y="4416552"/>
            <a:ext cx="2183816" cy="457200"/>
          </a:xfrm>
          <a:prstGeom prst="roundRect">
            <a:avLst>
              <a:gd name="adj" fmla="val 12000"/>
            </a:avLst>
          </a:prstGeom>
          <a:solidFill>
            <a:srgbClr val="F7E8E0"/>
          </a:solidFill>
          <a:ln w="12700">
            <a:solidFill>
              <a:srgbClr val="EACFC2"/>
            </a:solidFill>
            <a:prstDash val="solid"/>
          </a:ln>
        </p:spPr>
      </p:sp>
      <p:sp>
        <p:nvSpPr>
          <p:cNvPr id="15" name="Text 13"/>
          <p:cNvSpPr/>
          <p:nvPr/>
        </p:nvSpPr>
        <p:spPr>
          <a:xfrm>
            <a:off x="795528" y="4416552"/>
            <a:ext cx="1964360" cy="457200"/>
          </a:xfrm>
          <a:prstGeom prst="rect">
            <a:avLst/>
          </a:prstGeom>
          <a:noFill/>
          <a:ln/>
        </p:spPr>
        <p:txBody>
          <a:bodyPr wrap="square" lIns="0" tIns="0" rIns="0" bIns="0" rtlCol="0" anchor="ctr"/>
          <a:lstStyle/>
          <a:p>
            <a:pPr indent="0" marL="0">
              <a:lnSpc>
                <a:spcPct val="95000"/>
              </a:lnSpc>
              <a:buNone/>
            </a:pPr>
            <a:r>
              <a:rPr lang="en-US" sz="840" b="1" dirty="0">
                <a:solidFill>
                  <a:srgbClr val="C15F3C"/>
                </a:solidFill>
                <a:latin typeface="Calibri" pitchFamily="34" charset="0"/>
                <a:ea typeface="Calibri" pitchFamily="34" charset="-122"/>
                <a:cs typeface="Calibri" pitchFamily="34" charset="-120"/>
              </a:rPr>
              <a:t>“Vibe coding”: fast, but unpredictable.</a:t>
            </a:r>
            <a:endParaRPr lang="en-US" sz="840" dirty="0"/>
          </a:p>
        </p:txBody>
      </p:sp>
      <p:sp>
        <p:nvSpPr>
          <p:cNvPr id="16" name="Text 14"/>
          <p:cNvSpPr/>
          <p:nvPr/>
        </p:nvSpPr>
        <p:spPr>
          <a:xfrm>
            <a:off x="3034208" y="1828800"/>
            <a:ext cx="365760" cy="3154680"/>
          </a:xfrm>
          <a:prstGeom prst="rect">
            <a:avLst/>
          </a:prstGeom>
          <a:noFill/>
          <a:ln/>
        </p:spPr>
        <p:txBody>
          <a:bodyPr wrap="square" lIns="0" tIns="0" rIns="0" bIns="0" rtlCol="0" anchor="ctr"/>
          <a:lstStyle/>
          <a:p>
            <a:pPr algn="ctr" indent="0" marL="0">
              <a:buNone/>
            </a:pPr>
            <a:r>
              <a:rPr lang="en-US" sz="1700" b="1" dirty="0">
                <a:solidFill>
                  <a:srgbClr val="9A9EA6"/>
                </a:solidFill>
                <a:latin typeface="Calibri" pitchFamily="34" charset="0"/>
                <a:ea typeface="Calibri" pitchFamily="34" charset="-122"/>
                <a:cs typeface="Calibri" pitchFamily="34" charset="-120"/>
              </a:rPr>
              <a:t>→</a:t>
            </a:r>
            <a:endParaRPr lang="en-US" sz="1700" dirty="0"/>
          </a:p>
        </p:txBody>
      </p:sp>
      <p:sp>
        <p:nvSpPr>
          <p:cNvPr id="17" name="Shape 15"/>
          <p:cNvSpPr/>
          <p:nvPr/>
        </p:nvSpPr>
        <p:spPr>
          <a:xfrm>
            <a:off x="3381680" y="1828800"/>
            <a:ext cx="2549576" cy="3154680"/>
          </a:xfrm>
          <a:prstGeom prst="roundRect">
            <a:avLst>
              <a:gd name="adj" fmla="val 3228"/>
            </a:avLst>
          </a:prstGeom>
          <a:solidFill>
            <a:srgbClr val="FFFFFF"/>
          </a:solidFill>
          <a:ln w="12700">
            <a:solidFill>
              <a:srgbClr val="EBDAB4"/>
            </a:solidFill>
            <a:prstDash val="solid"/>
          </a:ln>
          <a:effectLst>
            <a:outerShdw sx="100000" sy="100000" kx="0" ky="0" algn="bl" rotWithShape="0" blurRad="50800" dist="12700" dir="5400000">
              <a:srgbClr val="8A8168">
                <a:alpha val="25000"/>
              </a:srgbClr>
            </a:outerShdw>
          </a:effectLst>
        </p:spPr>
      </p:sp>
      <p:sp>
        <p:nvSpPr>
          <p:cNvPr id="18" name="Shape 16"/>
          <p:cNvSpPr/>
          <p:nvPr/>
        </p:nvSpPr>
        <p:spPr>
          <a:xfrm>
            <a:off x="3582848" y="2029968"/>
            <a:ext cx="420624" cy="420624"/>
          </a:xfrm>
          <a:prstGeom prst="ellipse">
            <a:avLst/>
          </a:prstGeom>
          <a:solidFill>
            <a:srgbClr val="B07414"/>
          </a:solidFill>
          <a:ln/>
        </p:spPr>
      </p:sp>
      <p:sp>
        <p:nvSpPr>
          <p:cNvPr id="19" name="Text 17"/>
          <p:cNvSpPr/>
          <p:nvPr/>
        </p:nvSpPr>
        <p:spPr>
          <a:xfrm>
            <a:off x="3582848" y="20299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20" name="Text 18"/>
          <p:cNvSpPr/>
          <p:nvPr/>
        </p:nvSpPr>
        <p:spPr>
          <a:xfrm>
            <a:off x="4094912" y="2029968"/>
            <a:ext cx="1726616" cy="420624"/>
          </a:xfrm>
          <a:prstGeom prst="rect">
            <a:avLst/>
          </a:prstGeom>
          <a:noFill/>
          <a:ln/>
        </p:spPr>
        <p:txBody>
          <a:bodyPr wrap="square" lIns="0" tIns="0" rIns="0" bIns="0" rtlCol="0" anchor="ctr"/>
          <a:lstStyle/>
          <a:p>
            <a:pPr indent="0" marL="0">
              <a:buNone/>
            </a:pPr>
            <a:r>
              <a:rPr lang="en-US" sz="860" b="1" spc="100" kern="0" dirty="0">
                <a:solidFill>
                  <a:srgbClr val="B07414"/>
                </a:solidFill>
                <a:latin typeface="Calibri" pitchFamily="34" charset="0"/>
                <a:ea typeface="Calibri" pitchFamily="34" charset="-122"/>
                <a:cs typeface="Calibri" pitchFamily="34" charset="-120"/>
              </a:rPr>
              <a:t>IN THE LOOP</a:t>
            </a:r>
            <a:endParaRPr lang="en-US" sz="860" dirty="0"/>
          </a:p>
        </p:txBody>
      </p:sp>
      <p:sp>
        <p:nvSpPr>
          <p:cNvPr id="21" name="Text 19"/>
          <p:cNvSpPr/>
          <p:nvPr/>
        </p:nvSpPr>
        <p:spPr>
          <a:xfrm>
            <a:off x="3601136" y="2560320"/>
            <a:ext cx="2110664" cy="457200"/>
          </a:xfrm>
          <a:prstGeom prst="rect">
            <a:avLst/>
          </a:prstGeom>
          <a:noFill/>
          <a:ln/>
        </p:spPr>
        <p:txBody>
          <a:bodyPr wrap="square" lIns="0" tIns="0" rIns="0" bIns="0" rtlCol="0" anchor="t"/>
          <a:lstStyle/>
          <a:p>
            <a:pPr indent="0" marL="0">
              <a:lnSpc>
                <a:spcPct val="98000"/>
              </a:lnSpc>
              <a:buNone/>
            </a:pPr>
            <a:r>
              <a:rPr lang="en-US" sz="1250" b="1" dirty="0">
                <a:solidFill>
                  <a:srgbClr val="22252A"/>
                </a:solidFill>
                <a:latin typeface="Calibri" pitchFamily="34" charset="0"/>
                <a:ea typeface="Calibri" pitchFamily="34" charset="-122"/>
                <a:cs typeface="Calibri" pitchFamily="34" charset="-120"/>
              </a:rPr>
              <a:t>Humans in the loop</a:t>
            </a:r>
            <a:endParaRPr lang="en-US" sz="1250" dirty="0"/>
          </a:p>
        </p:txBody>
      </p:sp>
      <p:sp>
        <p:nvSpPr>
          <p:cNvPr id="22" name="Text 20"/>
          <p:cNvSpPr/>
          <p:nvPr/>
        </p:nvSpPr>
        <p:spPr>
          <a:xfrm>
            <a:off x="3601136" y="3127248"/>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B07414"/>
                </a:solidFill>
                <a:latin typeface="Calibri" pitchFamily="34" charset="0"/>
                <a:ea typeface="Calibri" pitchFamily="34" charset="-122"/>
                <a:cs typeface="Calibri" pitchFamily="34" charset="-120"/>
              </a:rPr>
              <a:t>HUMAN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Inspects &amp; hand-corrects every artifact.</a:t>
            </a:r>
            <a:endParaRPr lang="en-US" sz="760" dirty="0"/>
          </a:p>
        </p:txBody>
      </p:sp>
      <p:sp>
        <p:nvSpPr>
          <p:cNvPr id="23" name="Text 21"/>
          <p:cNvSpPr/>
          <p:nvPr/>
        </p:nvSpPr>
        <p:spPr>
          <a:xfrm>
            <a:off x="3601136" y="3803904"/>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B07414"/>
                </a:solidFill>
                <a:latin typeface="Calibri" pitchFamily="34" charset="0"/>
                <a:ea typeface="Calibri" pitchFamily="34" charset="-122"/>
                <a:cs typeface="Calibri" pitchFamily="34" charset="-120"/>
              </a:rPr>
              <a:t>AGENT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Generates code for review.</a:t>
            </a:r>
            <a:endParaRPr lang="en-US" sz="760" dirty="0"/>
          </a:p>
        </p:txBody>
      </p:sp>
      <p:sp>
        <p:nvSpPr>
          <p:cNvPr id="24" name="Shape 22"/>
          <p:cNvSpPr/>
          <p:nvPr/>
        </p:nvSpPr>
        <p:spPr>
          <a:xfrm>
            <a:off x="3564560" y="4416552"/>
            <a:ext cx="2183816" cy="457200"/>
          </a:xfrm>
          <a:prstGeom prst="roundRect">
            <a:avLst>
              <a:gd name="adj" fmla="val 12000"/>
            </a:avLst>
          </a:prstGeom>
          <a:solidFill>
            <a:srgbClr val="F7EDD6"/>
          </a:solidFill>
          <a:ln w="12700">
            <a:solidFill>
              <a:srgbClr val="EBDAB4"/>
            </a:solidFill>
            <a:prstDash val="solid"/>
          </a:ln>
        </p:spPr>
      </p:sp>
      <p:sp>
        <p:nvSpPr>
          <p:cNvPr id="25" name="Text 23"/>
          <p:cNvSpPr/>
          <p:nvPr/>
        </p:nvSpPr>
        <p:spPr>
          <a:xfrm>
            <a:off x="3674288" y="4416552"/>
            <a:ext cx="1964360" cy="457200"/>
          </a:xfrm>
          <a:prstGeom prst="rect">
            <a:avLst/>
          </a:prstGeom>
          <a:noFill/>
          <a:ln/>
        </p:spPr>
        <p:txBody>
          <a:bodyPr wrap="square" lIns="0" tIns="0" rIns="0" bIns="0" rtlCol="0" anchor="ctr"/>
          <a:lstStyle/>
          <a:p>
            <a:pPr indent="0" marL="0">
              <a:lnSpc>
                <a:spcPct val="95000"/>
              </a:lnSpc>
              <a:buNone/>
            </a:pPr>
            <a:r>
              <a:rPr lang="en-US" sz="840" b="1" dirty="0">
                <a:solidFill>
                  <a:srgbClr val="B07414"/>
                </a:solidFill>
                <a:latin typeface="Calibri" pitchFamily="34" charset="0"/>
                <a:ea typeface="Calibri" pitchFamily="34" charset="-122"/>
                <a:cs typeface="Calibri" pitchFamily="34" charset="-120"/>
              </a:rPr>
              <a:t>Gatekeeper → the human is the bottleneck.</a:t>
            </a:r>
            <a:endParaRPr lang="en-US" sz="840" dirty="0"/>
          </a:p>
        </p:txBody>
      </p:sp>
      <p:sp>
        <p:nvSpPr>
          <p:cNvPr id="26" name="Text 24"/>
          <p:cNvSpPr/>
          <p:nvPr/>
        </p:nvSpPr>
        <p:spPr>
          <a:xfrm>
            <a:off x="5912968" y="1828800"/>
            <a:ext cx="365760" cy="3154680"/>
          </a:xfrm>
          <a:prstGeom prst="rect">
            <a:avLst/>
          </a:prstGeom>
          <a:noFill/>
          <a:ln/>
        </p:spPr>
        <p:txBody>
          <a:bodyPr wrap="square" lIns="0" tIns="0" rIns="0" bIns="0" rtlCol="0" anchor="ctr"/>
          <a:lstStyle/>
          <a:p>
            <a:pPr algn="ctr" indent="0" marL="0">
              <a:buNone/>
            </a:pPr>
            <a:r>
              <a:rPr lang="en-US" sz="1700" b="1" dirty="0">
                <a:solidFill>
                  <a:srgbClr val="9A9EA6"/>
                </a:solidFill>
                <a:latin typeface="Calibri" pitchFamily="34" charset="0"/>
                <a:ea typeface="Calibri" pitchFamily="34" charset="-122"/>
                <a:cs typeface="Calibri" pitchFamily="34" charset="-120"/>
              </a:rPr>
              <a:t>→</a:t>
            </a:r>
            <a:endParaRPr lang="en-US" sz="1700" dirty="0"/>
          </a:p>
        </p:txBody>
      </p:sp>
      <p:sp>
        <p:nvSpPr>
          <p:cNvPr id="27" name="Shape 25"/>
          <p:cNvSpPr/>
          <p:nvPr/>
        </p:nvSpPr>
        <p:spPr>
          <a:xfrm>
            <a:off x="6260440" y="1828800"/>
            <a:ext cx="2549576" cy="3154680"/>
          </a:xfrm>
          <a:prstGeom prst="roundRect">
            <a:avLst>
              <a:gd name="adj" fmla="val 3228"/>
            </a:avLst>
          </a:prstGeom>
          <a:solidFill>
            <a:srgbClr val="FFFFFF"/>
          </a:solidFill>
          <a:ln w="12700">
            <a:solidFill>
              <a:srgbClr val="2C6E49"/>
            </a:solidFill>
            <a:prstDash val="solid"/>
          </a:ln>
          <a:effectLst>
            <a:outerShdw sx="100000" sy="100000" kx="0" ky="0" algn="bl" rotWithShape="0" blurRad="50800" dist="12700" dir="5400000">
              <a:srgbClr val="8A8168">
                <a:alpha val="25000"/>
              </a:srgbClr>
            </a:outerShdw>
          </a:effectLst>
        </p:spPr>
      </p:sp>
      <p:sp>
        <p:nvSpPr>
          <p:cNvPr id="28" name="Shape 26"/>
          <p:cNvSpPr/>
          <p:nvPr/>
        </p:nvSpPr>
        <p:spPr>
          <a:xfrm>
            <a:off x="6260440" y="1828800"/>
            <a:ext cx="2549576" cy="3154680"/>
          </a:xfrm>
          <a:prstGeom prst="roundRect">
            <a:avLst>
              <a:gd name="adj" fmla="val 3228"/>
            </a:avLst>
          </a:prstGeom>
          <a:ln w="25400">
            <a:solidFill>
              <a:srgbClr val="2C6E49"/>
            </a:solidFill>
            <a:prstDash val="solid"/>
          </a:ln>
        </p:spPr>
      </p:sp>
      <p:sp>
        <p:nvSpPr>
          <p:cNvPr id="29" name="Shape 27"/>
          <p:cNvSpPr/>
          <p:nvPr/>
        </p:nvSpPr>
        <p:spPr>
          <a:xfrm>
            <a:off x="6461608" y="2029968"/>
            <a:ext cx="420624" cy="420624"/>
          </a:xfrm>
          <a:prstGeom prst="ellipse">
            <a:avLst/>
          </a:prstGeom>
          <a:solidFill>
            <a:srgbClr val="2C6E49"/>
          </a:solidFill>
          <a:ln/>
        </p:spPr>
      </p:sp>
      <p:sp>
        <p:nvSpPr>
          <p:cNvPr id="30" name="Text 28"/>
          <p:cNvSpPr/>
          <p:nvPr/>
        </p:nvSpPr>
        <p:spPr>
          <a:xfrm>
            <a:off x="6461608" y="20299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31" name="Text 29"/>
          <p:cNvSpPr/>
          <p:nvPr/>
        </p:nvSpPr>
        <p:spPr>
          <a:xfrm>
            <a:off x="6973672" y="2029968"/>
            <a:ext cx="1726616" cy="420624"/>
          </a:xfrm>
          <a:prstGeom prst="rect">
            <a:avLst/>
          </a:prstGeom>
          <a:noFill/>
          <a:ln/>
        </p:spPr>
        <p:txBody>
          <a:bodyPr wrap="square" lIns="0" tIns="0" rIns="0" bIns="0" rtlCol="0" anchor="ctr"/>
          <a:lstStyle/>
          <a:p>
            <a:pPr indent="0" marL="0">
              <a:buNone/>
            </a:pPr>
            <a:r>
              <a:rPr lang="en-US" sz="860" b="1" spc="100" kern="0" dirty="0">
                <a:solidFill>
                  <a:srgbClr val="2C6E49"/>
                </a:solidFill>
                <a:latin typeface="Calibri" pitchFamily="34" charset="0"/>
                <a:ea typeface="Calibri" pitchFamily="34" charset="-122"/>
                <a:cs typeface="Calibri" pitchFamily="34" charset="-120"/>
              </a:rPr>
              <a:t>ON THE LOOP</a:t>
            </a:r>
            <a:endParaRPr lang="en-US" sz="860" dirty="0"/>
          </a:p>
        </p:txBody>
      </p:sp>
      <p:sp>
        <p:nvSpPr>
          <p:cNvPr id="32" name="Text 30"/>
          <p:cNvSpPr/>
          <p:nvPr/>
        </p:nvSpPr>
        <p:spPr>
          <a:xfrm>
            <a:off x="6479896" y="2560320"/>
            <a:ext cx="2110664" cy="457200"/>
          </a:xfrm>
          <a:prstGeom prst="rect">
            <a:avLst/>
          </a:prstGeom>
          <a:noFill/>
          <a:ln/>
        </p:spPr>
        <p:txBody>
          <a:bodyPr wrap="square" lIns="0" tIns="0" rIns="0" bIns="0" rtlCol="0" anchor="t"/>
          <a:lstStyle/>
          <a:p>
            <a:pPr indent="0" marL="0">
              <a:lnSpc>
                <a:spcPct val="98000"/>
              </a:lnSpc>
              <a:buNone/>
            </a:pPr>
            <a:r>
              <a:rPr lang="en-US" sz="1250" b="1" dirty="0">
                <a:solidFill>
                  <a:srgbClr val="22252A"/>
                </a:solidFill>
                <a:latin typeface="Calibri" pitchFamily="34" charset="0"/>
                <a:ea typeface="Calibri" pitchFamily="34" charset="-122"/>
                <a:cs typeface="Calibri" pitchFamily="34" charset="-120"/>
              </a:rPr>
              <a:t>Humans on the loop</a:t>
            </a:r>
            <a:endParaRPr lang="en-US" sz="1250" dirty="0"/>
          </a:p>
        </p:txBody>
      </p:sp>
      <p:sp>
        <p:nvSpPr>
          <p:cNvPr id="33" name="Text 31"/>
          <p:cNvSpPr/>
          <p:nvPr/>
        </p:nvSpPr>
        <p:spPr>
          <a:xfrm>
            <a:off x="6479896" y="3127248"/>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2C6E49"/>
                </a:solidFill>
                <a:latin typeface="Calibri" pitchFamily="34" charset="0"/>
                <a:ea typeface="Calibri" pitchFamily="34" charset="-122"/>
                <a:cs typeface="Calibri" pitchFamily="34" charset="-120"/>
              </a:rPr>
              <a:t>HUMAN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Builds &amp; tunes the harness — specs, gates, workflow.</a:t>
            </a:r>
            <a:endParaRPr lang="en-US" sz="760" dirty="0"/>
          </a:p>
        </p:txBody>
      </p:sp>
      <p:sp>
        <p:nvSpPr>
          <p:cNvPr id="34" name="Text 32"/>
          <p:cNvSpPr/>
          <p:nvPr/>
        </p:nvSpPr>
        <p:spPr>
          <a:xfrm>
            <a:off x="6479896" y="3803904"/>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2C6E49"/>
                </a:solidFill>
                <a:latin typeface="Calibri" pitchFamily="34" charset="0"/>
                <a:ea typeface="Calibri" pitchFamily="34" charset="-122"/>
                <a:cs typeface="Calibri" pitchFamily="34" charset="-120"/>
              </a:rPr>
              <a:t>AGENT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Operates inside the harness.</a:t>
            </a:r>
            <a:endParaRPr lang="en-US" sz="760" dirty="0"/>
          </a:p>
        </p:txBody>
      </p:sp>
      <p:sp>
        <p:nvSpPr>
          <p:cNvPr id="35" name="Shape 33"/>
          <p:cNvSpPr/>
          <p:nvPr/>
        </p:nvSpPr>
        <p:spPr>
          <a:xfrm>
            <a:off x="6443320" y="4416552"/>
            <a:ext cx="2183816" cy="457200"/>
          </a:xfrm>
          <a:prstGeom prst="roundRect">
            <a:avLst>
              <a:gd name="adj" fmla="val 12000"/>
            </a:avLst>
          </a:prstGeom>
          <a:solidFill>
            <a:srgbClr val="E7F1E9"/>
          </a:solidFill>
          <a:ln w="12700">
            <a:solidFill>
              <a:srgbClr val="D6E7DB"/>
            </a:solidFill>
            <a:prstDash val="solid"/>
          </a:ln>
        </p:spPr>
      </p:sp>
      <p:sp>
        <p:nvSpPr>
          <p:cNvPr id="36" name="Text 34"/>
          <p:cNvSpPr/>
          <p:nvPr/>
        </p:nvSpPr>
        <p:spPr>
          <a:xfrm>
            <a:off x="6553048" y="4416552"/>
            <a:ext cx="1964360" cy="457200"/>
          </a:xfrm>
          <a:prstGeom prst="rect">
            <a:avLst/>
          </a:prstGeom>
          <a:noFill/>
          <a:ln/>
        </p:spPr>
        <p:txBody>
          <a:bodyPr wrap="square" lIns="0" tIns="0" rIns="0" bIns="0" rtlCol="0" anchor="ctr"/>
          <a:lstStyle/>
          <a:p>
            <a:pPr indent="0" marL="0">
              <a:lnSpc>
                <a:spcPct val="95000"/>
              </a:lnSpc>
              <a:buNone/>
            </a:pPr>
            <a:r>
              <a:rPr lang="en-US" sz="840" b="1" dirty="0">
                <a:solidFill>
                  <a:srgbClr val="2C6E49"/>
                </a:solidFill>
                <a:latin typeface="Calibri" pitchFamily="34" charset="0"/>
                <a:ea typeface="Calibri" pitchFamily="34" charset="-122"/>
                <a:cs typeface="Calibri" pitchFamily="34" charset="-120"/>
              </a:rPr>
              <a:t>Fix the system, not the artifact.</a:t>
            </a:r>
            <a:endParaRPr lang="en-US" sz="840" dirty="0"/>
          </a:p>
        </p:txBody>
      </p:sp>
      <p:sp>
        <p:nvSpPr>
          <p:cNvPr id="37" name="Text 35"/>
          <p:cNvSpPr/>
          <p:nvPr/>
        </p:nvSpPr>
        <p:spPr>
          <a:xfrm>
            <a:off x="6260440" y="5038344"/>
            <a:ext cx="2549576" cy="219456"/>
          </a:xfrm>
          <a:prstGeom prst="rect">
            <a:avLst/>
          </a:prstGeom>
          <a:noFill/>
          <a:ln/>
        </p:spPr>
        <p:txBody>
          <a:bodyPr wrap="square" lIns="0" tIns="0" rIns="0" bIns="0" rtlCol="0" anchor="ctr"/>
          <a:lstStyle/>
          <a:p>
            <a:pPr algn="ctr" indent="0" marL="0">
              <a:buNone/>
            </a:pPr>
            <a:r>
              <a:rPr lang="en-US" sz="880" b="1" dirty="0">
                <a:solidFill>
                  <a:srgbClr val="2C6E49"/>
                </a:solidFill>
                <a:latin typeface="Calibri" pitchFamily="34" charset="0"/>
                <a:ea typeface="Calibri" pitchFamily="34" charset="-122"/>
                <a:cs typeface="Calibri" pitchFamily="34" charset="-120"/>
              </a:rPr>
              <a:t>▲ Harness v5 lives here</a:t>
            </a:r>
            <a:endParaRPr lang="en-US" sz="880" dirty="0"/>
          </a:p>
        </p:txBody>
      </p:sp>
      <p:sp>
        <p:nvSpPr>
          <p:cNvPr id="38" name="Text 36"/>
          <p:cNvSpPr/>
          <p:nvPr/>
        </p:nvSpPr>
        <p:spPr>
          <a:xfrm>
            <a:off x="8791727" y="1828800"/>
            <a:ext cx="365760" cy="3154680"/>
          </a:xfrm>
          <a:prstGeom prst="rect">
            <a:avLst/>
          </a:prstGeom>
          <a:noFill/>
          <a:ln/>
        </p:spPr>
        <p:txBody>
          <a:bodyPr wrap="square" lIns="0" tIns="0" rIns="0" bIns="0" rtlCol="0" anchor="ctr"/>
          <a:lstStyle/>
          <a:p>
            <a:pPr algn="ctr" indent="0" marL="0">
              <a:buNone/>
            </a:pPr>
            <a:r>
              <a:rPr lang="en-US" sz="1700" b="1" dirty="0">
                <a:solidFill>
                  <a:srgbClr val="9A9EA6"/>
                </a:solidFill>
                <a:latin typeface="Calibri" pitchFamily="34" charset="0"/>
                <a:ea typeface="Calibri" pitchFamily="34" charset="-122"/>
                <a:cs typeface="Calibri" pitchFamily="34" charset="-120"/>
              </a:rPr>
              <a:t>→</a:t>
            </a:r>
            <a:endParaRPr lang="en-US" sz="1700" dirty="0"/>
          </a:p>
        </p:txBody>
      </p:sp>
      <p:sp>
        <p:nvSpPr>
          <p:cNvPr id="39" name="Shape 37"/>
          <p:cNvSpPr/>
          <p:nvPr/>
        </p:nvSpPr>
        <p:spPr>
          <a:xfrm>
            <a:off x="9139199" y="1828800"/>
            <a:ext cx="2549576" cy="3154680"/>
          </a:xfrm>
          <a:prstGeom prst="roundRect">
            <a:avLst>
              <a:gd name="adj" fmla="val 3228"/>
            </a:avLst>
          </a:prstGeom>
          <a:solidFill>
            <a:srgbClr val="FFFFFF"/>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40" name="Shape 38"/>
          <p:cNvSpPr/>
          <p:nvPr/>
        </p:nvSpPr>
        <p:spPr>
          <a:xfrm>
            <a:off x="9340367" y="2029968"/>
            <a:ext cx="420624" cy="420624"/>
          </a:xfrm>
          <a:prstGeom prst="ellipse">
            <a:avLst/>
          </a:prstGeom>
          <a:solidFill>
            <a:srgbClr val="6B4E9E"/>
          </a:solidFill>
          <a:ln/>
        </p:spPr>
      </p:sp>
      <p:sp>
        <p:nvSpPr>
          <p:cNvPr id="41" name="Text 39"/>
          <p:cNvSpPr/>
          <p:nvPr/>
        </p:nvSpPr>
        <p:spPr>
          <a:xfrm>
            <a:off x="9340367" y="20299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42" name="Text 40"/>
          <p:cNvSpPr/>
          <p:nvPr/>
        </p:nvSpPr>
        <p:spPr>
          <a:xfrm>
            <a:off x="9852431" y="2029968"/>
            <a:ext cx="1726616" cy="420624"/>
          </a:xfrm>
          <a:prstGeom prst="rect">
            <a:avLst/>
          </a:prstGeom>
          <a:noFill/>
          <a:ln/>
        </p:spPr>
        <p:txBody>
          <a:bodyPr wrap="square" lIns="0" tIns="0" rIns="0" bIns="0" rtlCol="0" anchor="ctr"/>
          <a:lstStyle/>
          <a:p>
            <a:pPr indent="0" marL="0">
              <a:buNone/>
            </a:pPr>
            <a:r>
              <a:rPr lang="en-US" sz="860" b="1" spc="100" kern="0" dirty="0">
                <a:solidFill>
                  <a:srgbClr val="6B4E9E"/>
                </a:solidFill>
                <a:latin typeface="Calibri" pitchFamily="34" charset="0"/>
                <a:ea typeface="Calibri" pitchFamily="34" charset="-122"/>
                <a:cs typeface="Calibri" pitchFamily="34" charset="-120"/>
              </a:rPr>
              <a:t>THE FLYWHEEL</a:t>
            </a:r>
            <a:endParaRPr lang="en-US" sz="860" dirty="0"/>
          </a:p>
        </p:txBody>
      </p:sp>
      <p:sp>
        <p:nvSpPr>
          <p:cNvPr id="43" name="Text 41"/>
          <p:cNvSpPr/>
          <p:nvPr/>
        </p:nvSpPr>
        <p:spPr>
          <a:xfrm>
            <a:off x="9358655" y="2560320"/>
            <a:ext cx="2110664" cy="457200"/>
          </a:xfrm>
          <a:prstGeom prst="rect">
            <a:avLst/>
          </a:prstGeom>
          <a:noFill/>
          <a:ln/>
        </p:spPr>
        <p:txBody>
          <a:bodyPr wrap="square" lIns="0" tIns="0" rIns="0" bIns="0" rtlCol="0" anchor="t"/>
          <a:lstStyle/>
          <a:p>
            <a:pPr indent="0" marL="0">
              <a:lnSpc>
                <a:spcPct val="98000"/>
              </a:lnSpc>
              <a:buNone/>
            </a:pPr>
            <a:r>
              <a:rPr lang="en-US" sz="1250" b="1" dirty="0">
                <a:solidFill>
                  <a:srgbClr val="22252A"/>
                </a:solidFill>
                <a:latin typeface="Calibri" pitchFamily="34" charset="0"/>
                <a:ea typeface="Calibri" pitchFamily="34" charset="-122"/>
                <a:cs typeface="Calibri" pitchFamily="34" charset="-120"/>
              </a:rPr>
              <a:t>The agentic flywheel</a:t>
            </a:r>
            <a:endParaRPr lang="en-US" sz="1250" dirty="0"/>
          </a:p>
        </p:txBody>
      </p:sp>
      <p:sp>
        <p:nvSpPr>
          <p:cNvPr id="44" name="Text 42"/>
          <p:cNvSpPr/>
          <p:nvPr/>
        </p:nvSpPr>
        <p:spPr>
          <a:xfrm>
            <a:off x="9358655" y="3127248"/>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6B4E9E"/>
                </a:solidFill>
                <a:latin typeface="Calibri" pitchFamily="34" charset="0"/>
                <a:ea typeface="Calibri" pitchFamily="34" charset="-122"/>
                <a:cs typeface="Calibri" pitchFamily="34" charset="-120"/>
              </a:rPr>
              <a:t>HUMAN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Directs agents to improve the harness from data.</a:t>
            </a:r>
            <a:endParaRPr lang="en-US" sz="760" dirty="0"/>
          </a:p>
        </p:txBody>
      </p:sp>
      <p:sp>
        <p:nvSpPr>
          <p:cNvPr id="45" name="Text 43"/>
          <p:cNvSpPr/>
          <p:nvPr/>
        </p:nvSpPr>
        <p:spPr>
          <a:xfrm>
            <a:off x="9358655" y="3803904"/>
            <a:ext cx="2110664" cy="658368"/>
          </a:xfrm>
          <a:prstGeom prst="rect">
            <a:avLst/>
          </a:prstGeom>
          <a:noFill/>
          <a:ln/>
        </p:spPr>
        <p:txBody>
          <a:bodyPr wrap="square" lIns="0" tIns="0" rIns="0" bIns="0" rtlCol="0" anchor="t"/>
          <a:lstStyle/>
          <a:p>
            <a:pPr indent="0" marL="0">
              <a:lnSpc>
                <a:spcPct val="100000"/>
              </a:lnSpc>
              <a:buNone/>
            </a:pPr>
            <a:r>
              <a:rPr lang="en-US" sz="760" b="1" spc="100" kern="0" dirty="0">
                <a:solidFill>
                  <a:srgbClr val="6B4E9E"/>
                </a:solidFill>
                <a:latin typeface="Calibri" pitchFamily="34" charset="0"/>
                <a:ea typeface="Calibri" pitchFamily="34" charset="-122"/>
                <a:cs typeface="Calibri" pitchFamily="34" charset="-120"/>
              </a:rPr>
              <a:t>AGENT
</a:t>
            </a:r>
            <a:pPr indent="0" marL="0">
              <a:lnSpc>
                <a:spcPct val="100000"/>
              </a:lnSpc>
              <a:buNone/>
            </a:pPr>
            <a:r>
              <a:rPr lang="en-US" sz="920" dirty="0">
                <a:solidFill>
                  <a:srgbClr val="22252A"/>
                </a:solidFill>
                <a:latin typeface="Calibri" pitchFamily="34" charset="0"/>
                <a:ea typeface="Calibri" pitchFamily="34" charset="-122"/>
                <a:cs typeface="Calibri" pitchFamily="34" charset="-120"/>
              </a:rPr>
              <a:t>Analyzes signals; recommends &amp; auto-applies fixes.</a:t>
            </a:r>
            <a:endParaRPr lang="en-US" sz="760" dirty="0"/>
          </a:p>
        </p:txBody>
      </p:sp>
      <p:sp>
        <p:nvSpPr>
          <p:cNvPr id="46" name="Shape 44"/>
          <p:cNvSpPr/>
          <p:nvPr/>
        </p:nvSpPr>
        <p:spPr>
          <a:xfrm>
            <a:off x="9322079" y="4416552"/>
            <a:ext cx="2183816" cy="457200"/>
          </a:xfrm>
          <a:prstGeom prst="roundRect">
            <a:avLst>
              <a:gd name="adj" fmla="val 12000"/>
            </a:avLst>
          </a:prstGeom>
          <a:solidFill>
            <a:srgbClr val="ECE6F4"/>
          </a:solidFill>
          <a:ln w="12700">
            <a:solidFill>
              <a:srgbClr val="DBCFEC"/>
            </a:solidFill>
            <a:prstDash val="solid"/>
          </a:ln>
        </p:spPr>
      </p:sp>
      <p:sp>
        <p:nvSpPr>
          <p:cNvPr id="47" name="Text 45"/>
          <p:cNvSpPr/>
          <p:nvPr/>
        </p:nvSpPr>
        <p:spPr>
          <a:xfrm>
            <a:off x="9431807" y="4416552"/>
            <a:ext cx="1964360" cy="457200"/>
          </a:xfrm>
          <a:prstGeom prst="rect">
            <a:avLst/>
          </a:prstGeom>
          <a:noFill/>
          <a:ln/>
        </p:spPr>
        <p:txBody>
          <a:bodyPr wrap="square" lIns="0" tIns="0" rIns="0" bIns="0" rtlCol="0" anchor="ctr"/>
          <a:lstStyle/>
          <a:p>
            <a:pPr indent="0" marL="0">
              <a:lnSpc>
                <a:spcPct val="95000"/>
              </a:lnSpc>
              <a:buNone/>
            </a:pPr>
            <a:r>
              <a:rPr lang="en-US" sz="840" b="1" dirty="0">
                <a:solidFill>
                  <a:srgbClr val="6B4E9E"/>
                </a:solidFill>
                <a:latin typeface="Calibri" pitchFamily="34" charset="0"/>
                <a:ea typeface="Calibri" pitchFamily="34" charset="-122"/>
                <a:cs typeface="Calibri" pitchFamily="34" charset="-120"/>
              </a:rPr>
              <a:t>Self-improving loop.</a:t>
            </a:r>
            <a:endParaRPr lang="en-US" sz="840" dirty="0"/>
          </a:p>
        </p:txBody>
      </p:sp>
      <p:sp>
        <p:nvSpPr>
          <p:cNvPr id="48" name="Text 46"/>
          <p:cNvSpPr/>
          <p:nvPr/>
        </p:nvSpPr>
        <p:spPr>
          <a:xfrm>
            <a:off x="9139199" y="5038344"/>
            <a:ext cx="2549576" cy="219456"/>
          </a:xfrm>
          <a:prstGeom prst="rect">
            <a:avLst/>
          </a:prstGeom>
          <a:noFill/>
          <a:ln/>
        </p:spPr>
        <p:txBody>
          <a:bodyPr wrap="square" lIns="0" tIns="0" rIns="0" bIns="0" rtlCol="0" anchor="ctr"/>
          <a:lstStyle/>
          <a:p>
            <a:pPr algn="ctr" indent="0" marL="0">
              <a:buNone/>
            </a:pPr>
            <a:r>
              <a:rPr lang="en-US" sz="880" b="1" dirty="0">
                <a:solidFill>
                  <a:srgbClr val="6B4E9E"/>
                </a:solidFill>
                <a:latin typeface="Calibri" pitchFamily="34" charset="0"/>
                <a:ea typeface="Calibri" pitchFamily="34" charset="-122"/>
                <a:cs typeface="Calibri" pitchFamily="34" charset="-120"/>
              </a:rPr>
              <a:t>▲ within reach</a:t>
            </a:r>
            <a:endParaRPr lang="en-US" sz="880" dirty="0"/>
          </a:p>
        </p:txBody>
      </p:sp>
      <p:sp>
        <p:nvSpPr>
          <p:cNvPr id="49" name="Text 47"/>
          <p:cNvSpPr/>
          <p:nvPr/>
        </p:nvSpPr>
        <p:spPr>
          <a:xfrm>
            <a:off x="502920" y="5138928"/>
            <a:ext cx="3657600" cy="201168"/>
          </a:xfrm>
          <a:prstGeom prst="rect">
            <a:avLst/>
          </a:prstGeom>
          <a:noFill/>
          <a:ln/>
        </p:spPr>
        <p:txBody>
          <a:bodyPr wrap="square" lIns="0" tIns="0" rIns="0" bIns="0" rtlCol="0" anchor="ctr"/>
          <a:lstStyle/>
          <a:p>
            <a:pPr indent="0" marL="0">
              <a:buNone/>
            </a:pPr>
            <a:r>
              <a:rPr lang="en-US" sz="850" i="1" dirty="0">
                <a:solidFill>
                  <a:srgbClr val="9A9EA6"/>
                </a:solidFill>
                <a:latin typeface="Calibri" pitchFamily="34" charset="0"/>
                <a:ea typeface="Calibri" pitchFamily="34" charset="-122"/>
                <a:cs typeface="Calibri" pitchFamily="34" charset="-120"/>
              </a:rPr>
              <a:t>less structure · faster but riskier</a:t>
            </a:r>
            <a:endParaRPr lang="en-US" sz="850" dirty="0"/>
          </a:p>
        </p:txBody>
      </p:sp>
      <p:sp>
        <p:nvSpPr>
          <p:cNvPr id="50" name="Text 48"/>
          <p:cNvSpPr/>
          <p:nvPr/>
        </p:nvSpPr>
        <p:spPr>
          <a:xfrm>
            <a:off x="7573975" y="5138928"/>
            <a:ext cx="4114800" cy="201168"/>
          </a:xfrm>
          <a:prstGeom prst="rect">
            <a:avLst/>
          </a:prstGeom>
          <a:noFill/>
          <a:ln/>
        </p:spPr>
        <p:txBody>
          <a:bodyPr wrap="square" lIns="0" tIns="0" rIns="0" bIns="0" rtlCol="0" anchor="ctr"/>
          <a:lstStyle/>
          <a:p>
            <a:pPr algn="r" indent="0" marL="0">
              <a:buNone/>
            </a:pPr>
            <a:r>
              <a:rPr lang="en-US" sz="850" i="1" dirty="0">
                <a:solidFill>
                  <a:srgbClr val="9A9EA6"/>
                </a:solidFill>
                <a:latin typeface="Calibri" pitchFamily="34" charset="0"/>
                <a:ea typeface="Calibri" pitchFamily="34" charset="-122"/>
                <a:cs typeface="Calibri" pitchFamily="34" charset="-120"/>
              </a:rPr>
              <a:t>more leverage · predictable · self-improving</a:t>
            </a:r>
            <a:endParaRPr lang="en-US" sz="850" dirty="0"/>
          </a:p>
        </p:txBody>
      </p:sp>
      <p:sp>
        <p:nvSpPr>
          <p:cNvPr id="51" name="Shape 49"/>
          <p:cNvSpPr/>
          <p:nvPr/>
        </p:nvSpPr>
        <p:spPr>
          <a:xfrm>
            <a:off x="502920" y="5413248"/>
            <a:ext cx="11185855" cy="786384"/>
          </a:xfrm>
          <a:prstGeom prst="roundRect">
            <a:avLst>
              <a:gd name="adj" fmla="val 10465"/>
            </a:avLst>
          </a:prstGeom>
          <a:solidFill>
            <a:srgbClr val="E7F1E9"/>
          </a:solidFill>
          <a:ln w="12700">
            <a:solidFill>
              <a:srgbClr val="D6E7DB"/>
            </a:solidFill>
            <a:prstDash val="solid"/>
          </a:ln>
        </p:spPr>
      </p:sp>
      <p:sp>
        <p:nvSpPr>
          <p:cNvPr id="52" name="Text 50"/>
          <p:cNvSpPr/>
          <p:nvPr/>
        </p:nvSpPr>
        <p:spPr>
          <a:xfrm>
            <a:off x="731520" y="5413248"/>
            <a:ext cx="10728655" cy="786384"/>
          </a:xfrm>
          <a:prstGeom prst="rect">
            <a:avLst/>
          </a:prstGeom>
          <a:noFill/>
          <a:ln/>
        </p:spPr>
        <p:txBody>
          <a:bodyPr wrap="square" lIns="0" tIns="0" rIns="0" bIns="0" rtlCol="0" anchor="ctr"/>
          <a:lstStyle/>
          <a:p>
            <a:pPr indent="0" marL="0">
              <a:lnSpc>
                <a:spcPct val="103000"/>
              </a:lnSpc>
              <a:buNone/>
            </a:pPr>
            <a:r>
              <a:rPr lang="en-US" sz="1100" b="1" dirty="0">
                <a:solidFill>
                  <a:srgbClr val="C15F3C"/>
                </a:solidFill>
                <a:latin typeface="Calibri" pitchFamily="34" charset="0"/>
                <a:ea typeface="Calibri" pitchFamily="34" charset="-122"/>
                <a:cs typeface="Calibri" pitchFamily="34" charset="-120"/>
              </a:rPr>
              <a:t>Where your team goes next   </a:t>
            </a:r>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Scaffold v1 left you </a:t>
            </a:r>
            <a:pPr indent="0" marL="0">
              <a:lnSpc>
                <a:spcPct val="103000"/>
              </a:lnSpc>
              <a:buNone/>
            </a:pPr>
            <a:r>
              <a:rPr lang="en-US" sz="1030" b="1" dirty="0">
                <a:solidFill>
                  <a:srgbClr val="C15F3C"/>
                </a:solidFill>
                <a:latin typeface="Calibri" pitchFamily="34" charset="0"/>
                <a:ea typeface="Calibri" pitchFamily="34" charset="-122"/>
                <a:cs typeface="Calibri" pitchFamily="34" charset="-120"/>
              </a:rPr>
              <a:t>outside the loop</a:t>
            </a:r>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 (vibe). This platform is the harness that moves you </a:t>
            </a:r>
            <a:pPr indent="0" marL="0">
              <a:lnSpc>
                <a:spcPct val="103000"/>
              </a:lnSpc>
              <a:buNone/>
            </a:pPr>
            <a:r>
              <a:rPr lang="en-US" sz="1030" b="1" dirty="0">
                <a:solidFill>
                  <a:srgbClr val="2C6E49"/>
                </a:solidFill>
                <a:latin typeface="Calibri" pitchFamily="34" charset="0"/>
                <a:ea typeface="Calibri" pitchFamily="34" charset="-122"/>
                <a:cs typeface="Calibri" pitchFamily="34" charset="-120"/>
              </a:rPr>
              <a:t>on the loop</a:t>
            </a:r>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 — you improve specs, gates and workflow instead of hand-patching code — with the </a:t>
            </a:r>
            <a:pPr indent="0" marL="0">
              <a:lnSpc>
                <a:spcPct val="103000"/>
              </a:lnSpc>
              <a:buNone/>
            </a:pPr>
            <a:r>
              <a:rPr lang="en-US" sz="1030" b="1" dirty="0">
                <a:solidFill>
                  <a:srgbClr val="6B4E9E"/>
                </a:solidFill>
                <a:latin typeface="Calibri" pitchFamily="34" charset="0"/>
                <a:ea typeface="Calibri" pitchFamily="34" charset="-122"/>
                <a:cs typeface="Calibri" pitchFamily="34" charset="-120"/>
              </a:rPr>
              <a:t>agentic flywheel</a:t>
            </a:r>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 (learned-rules, control-budget, loop-health) within reach.</a:t>
            </a:r>
            <a:endParaRPr lang="en-US" sz="1100" dirty="0"/>
          </a:p>
        </p:txBody>
      </p:sp>
      <p:sp>
        <p:nvSpPr>
          <p:cNvPr id="53" name="Text 51"/>
          <p:cNvSpPr/>
          <p:nvPr/>
        </p:nvSpPr>
        <p:spPr>
          <a:xfrm>
            <a:off x="502920" y="6236208"/>
            <a:ext cx="8229600" cy="182880"/>
          </a:xfrm>
          <a:prstGeom prst="rect">
            <a:avLst/>
          </a:prstGeom>
          <a:noFill/>
          <a:ln/>
        </p:spPr>
        <p:txBody>
          <a:bodyPr wrap="square" lIns="0" tIns="0" rIns="0" bIns="0" rtlCol="0" anchor="ctr"/>
          <a:lstStyle/>
          <a:p>
            <a:pPr indent="0" marL="0">
              <a:buNone/>
            </a:pPr>
            <a:r>
              <a:rPr lang="en-US" sz="780" i="1" dirty="0">
                <a:solidFill>
                  <a:srgbClr val="9A9EA6"/>
                </a:solidFill>
                <a:latin typeface="Calibri" pitchFamily="34" charset="0"/>
                <a:ea typeface="Calibri" pitchFamily="34" charset="-122"/>
                <a:cs typeface="Calibri" pitchFamily="34" charset="-120"/>
              </a:rPr>
              <a:t>Source: Birgitta Böckeler, “Humans and Agents,” martinfowler.com (Exploring Gen AI).</a:t>
            </a:r>
            <a:endParaRPr lang="en-US" sz="780" dirty="0"/>
          </a:p>
        </p:txBody>
      </p:sp>
      <p:sp>
        <p:nvSpPr>
          <p:cNvPr id="54" name="Text 52"/>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Human–agent interaction</a:t>
            </a:r>
            <a:endParaRPr lang="en-US" sz="850" dirty="0"/>
          </a:p>
        </p:txBody>
      </p:sp>
      <p:sp>
        <p:nvSpPr>
          <p:cNvPr id="55" name="Text 53"/>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04 / 21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274320" y="109728"/>
            <a:ext cx="11640312" cy="256032"/>
          </a:xfrm>
          <a:prstGeom prst="rect">
            <a:avLst/>
          </a:prstGeom>
          <a:noFill/>
          <a:ln/>
        </p:spPr>
        <p:txBody>
          <a:bodyPr wrap="square" lIns="0" tIns="0" rIns="0" bIns="0" rtlCol="0" anchor="ctr"/>
          <a:lstStyle/>
          <a:p>
            <a:pPr algn="ctr" indent="0" marL="0">
              <a:buNone/>
            </a:pPr>
            <a:r>
              <a:rPr lang="en-US" sz="1050" b="1" dirty="0">
                <a:solidFill>
                  <a:srgbClr val="C15F3C"/>
                </a:solidFill>
                <a:latin typeface="Calibri" pitchFamily="34" charset="0"/>
                <a:ea typeface="Calibri" pitchFamily="34" charset="-122"/>
                <a:cs typeface="Calibri" pitchFamily="34" charset="-120"/>
              </a:rPr>
              <a:t>✳  </a:t>
            </a:r>
            <a:pPr algn="ctr" indent="0" marL="0">
              <a:buNone/>
            </a:pPr>
            <a:r>
              <a:rPr lang="en-US" sz="1050" b="1" spc="300" kern="0" dirty="0">
                <a:solidFill>
                  <a:srgbClr val="6C7078"/>
                </a:solidFill>
                <a:latin typeface="Calibri" pitchFamily="34" charset="0"/>
                <a:ea typeface="Calibri" pitchFamily="34" charset="-122"/>
                <a:cs typeface="Calibri" pitchFamily="34" charset="-120"/>
              </a:rPr>
              <a:t>CLAUDE HARNESS ENGINE v5</a:t>
            </a:r>
            <a:endParaRPr lang="en-US" sz="1050" dirty="0"/>
          </a:p>
        </p:txBody>
      </p:sp>
      <p:sp>
        <p:nvSpPr>
          <p:cNvPr id="3" name="Text 1"/>
          <p:cNvSpPr/>
          <p:nvPr/>
        </p:nvSpPr>
        <p:spPr>
          <a:xfrm>
            <a:off x="274320" y="292608"/>
            <a:ext cx="11640312" cy="530352"/>
          </a:xfrm>
          <a:prstGeom prst="rect">
            <a:avLst/>
          </a:prstGeom>
          <a:noFill/>
          <a:ln/>
        </p:spPr>
        <p:txBody>
          <a:bodyPr wrap="square" lIns="0" tIns="0" rIns="0" bIns="0" rtlCol="0" anchor="ctr"/>
          <a:lstStyle/>
          <a:p>
            <a:pPr algn="ctr" indent="0" marL="0">
              <a:buNone/>
            </a:pPr>
            <a:r>
              <a:rPr lang="en-US" sz="3400" b="1" dirty="0">
                <a:solidFill>
                  <a:srgbClr val="22252A"/>
                </a:solidFill>
                <a:latin typeface="Cambria" pitchFamily="34" charset="0"/>
                <a:ea typeface="Cambria" pitchFamily="34" charset="-122"/>
                <a:cs typeface="Cambria" pitchFamily="34" charset="-120"/>
              </a:rPr>
              <a:t>The Agentic Engineering Harness</a:t>
            </a:r>
            <a:endParaRPr lang="en-US" sz="3400" dirty="0"/>
          </a:p>
        </p:txBody>
      </p:sp>
      <p:sp>
        <p:nvSpPr>
          <p:cNvPr id="4" name="Text 2"/>
          <p:cNvSpPr/>
          <p:nvPr/>
        </p:nvSpPr>
        <p:spPr>
          <a:xfrm>
            <a:off x="274320" y="786384"/>
            <a:ext cx="11640312" cy="256032"/>
          </a:xfrm>
          <a:prstGeom prst="rect">
            <a:avLst/>
          </a:prstGeom>
          <a:noFill/>
          <a:ln/>
        </p:spPr>
        <p:txBody>
          <a:bodyPr wrap="square" lIns="0" tIns="0" rIns="0" bIns="0" rtlCol="0" anchor="ctr"/>
          <a:lstStyle/>
          <a:p>
            <a:pPr algn="ctr" indent="0" marL="0">
              <a:buNone/>
            </a:pPr>
            <a:r>
              <a:rPr lang="en-US" sz="1350" b="1" dirty="0">
                <a:solidFill>
                  <a:srgbClr val="2C6E49"/>
                </a:solidFill>
                <a:latin typeface="Calibri" pitchFamily="34" charset="0"/>
                <a:ea typeface="Calibri" pitchFamily="34" charset="-122"/>
                <a:cs typeface="Calibri" pitchFamily="34" charset="-120"/>
              </a:rPr>
              <a:t>Scaffold </a:t>
            </a:r>
            <a:pPr algn="ctr" indent="0" marL="0">
              <a:buNone/>
            </a:pPr>
            <a:r>
              <a:rPr lang="en-US" sz="1350" b="1" dirty="0">
                <a:solidFill>
                  <a:srgbClr val="1C7293"/>
                </a:solidFill>
                <a:latin typeface="Calibri" pitchFamily="34" charset="0"/>
                <a:ea typeface="Calibri" pitchFamily="34" charset="-122"/>
                <a:cs typeface="Calibri" pitchFamily="34" charset="-120"/>
              </a:rPr>
              <a:t>+ Skills </a:t>
            </a:r>
            <a:pPr algn="ctr" indent="0" marL="0">
              <a:buNone/>
            </a:pPr>
            <a:r>
              <a:rPr lang="en-US" sz="1350" b="1" dirty="0">
                <a:solidFill>
                  <a:srgbClr val="B07414"/>
                </a:solidFill>
                <a:latin typeface="Calibri" pitchFamily="34" charset="0"/>
                <a:ea typeface="Calibri" pitchFamily="34" charset="-122"/>
                <a:cs typeface="Calibri" pitchFamily="34" charset="-120"/>
              </a:rPr>
              <a:t>+ Hooks </a:t>
            </a:r>
            <a:pPr algn="ctr" indent="0" marL="0">
              <a:buNone/>
            </a:pPr>
            <a:r>
              <a:rPr lang="en-US" sz="1350" b="1" dirty="0">
                <a:solidFill>
                  <a:srgbClr val="6B4E9E"/>
                </a:solidFill>
                <a:latin typeface="Calibri" pitchFamily="34" charset="0"/>
                <a:ea typeface="Calibri" pitchFamily="34" charset="-122"/>
                <a:cs typeface="Calibri" pitchFamily="34" charset="-120"/>
              </a:rPr>
              <a:t>+ GAN Agents </a:t>
            </a:r>
            <a:pPr algn="ctr" indent="0" marL="0">
              <a:buNone/>
            </a:pPr>
            <a:r>
              <a:rPr lang="en-US" sz="1350" b="1" dirty="0">
                <a:solidFill>
                  <a:srgbClr val="1F5132"/>
                </a:solidFill>
                <a:latin typeface="Calibri" pitchFamily="34" charset="0"/>
                <a:ea typeface="Calibri" pitchFamily="34" charset="-122"/>
                <a:cs typeface="Calibri" pitchFamily="34" charset="-120"/>
              </a:rPr>
              <a:t>+ Ratchet Control System</a:t>
            </a:r>
            <a:endParaRPr lang="en-US" sz="1350" dirty="0"/>
          </a:p>
        </p:txBody>
      </p:sp>
      <p:sp>
        <p:nvSpPr>
          <p:cNvPr id="5" name="Shape 3"/>
          <p:cNvSpPr/>
          <p:nvPr/>
        </p:nvSpPr>
        <p:spPr>
          <a:xfrm>
            <a:off x="2432304" y="1280160"/>
            <a:ext cx="7327087" cy="859536"/>
          </a:xfrm>
          <a:prstGeom prst="roundRect">
            <a:avLst>
              <a:gd name="adj" fmla="val 9574"/>
            </a:avLst>
          </a:prstGeom>
          <a:solidFill>
            <a:srgbClr val="E7F1E9"/>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6" name="Shape 4"/>
          <p:cNvSpPr/>
          <p:nvPr/>
        </p:nvSpPr>
        <p:spPr>
          <a:xfrm>
            <a:off x="2560320" y="1444752"/>
            <a:ext cx="530352" cy="530352"/>
          </a:xfrm>
          <a:prstGeom prst="roundRect">
            <a:avLst>
              <a:gd name="adj" fmla="val 17241"/>
            </a:avLst>
          </a:prstGeom>
          <a:solidFill>
            <a:srgbClr val="2C6E49"/>
          </a:solidFill>
          <a:ln/>
        </p:spPr>
      </p:sp>
      <p:pic>
        <p:nvPicPr>
          <p:cNvPr id="7" name="Image 0" descr="/root/work/harness_slide/icons/w_book.png">    </p:cNvPr>
          <p:cNvPicPr>
            <a:picLocks noChangeAspect="1"/>
          </p:cNvPicPr>
          <p:nvPr/>
        </p:nvPicPr>
        <p:blipFill>
          <a:blip r:embed="rId1"/>
          <a:stretch>
            <a:fillRect/>
          </a:stretch>
        </p:blipFill>
        <p:spPr>
          <a:xfrm>
            <a:off x="2697480" y="1581912"/>
            <a:ext cx="256032" cy="256032"/>
          </a:xfrm>
          <a:prstGeom prst="rect">
            <a:avLst/>
          </a:prstGeom>
        </p:spPr>
      </p:pic>
      <p:sp>
        <p:nvSpPr>
          <p:cNvPr id="8" name="Shape 5"/>
          <p:cNvSpPr/>
          <p:nvPr/>
        </p:nvSpPr>
        <p:spPr>
          <a:xfrm>
            <a:off x="2478024" y="1362456"/>
            <a:ext cx="237744" cy="237744"/>
          </a:xfrm>
          <a:prstGeom prst="ellipse">
            <a:avLst/>
          </a:prstGeom>
          <a:solidFill>
            <a:srgbClr val="FFFFFF"/>
          </a:solidFill>
          <a:ln/>
        </p:spPr>
      </p:sp>
      <p:sp>
        <p:nvSpPr>
          <p:cNvPr id="9" name="Shape 6"/>
          <p:cNvSpPr/>
          <p:nvPr/>
        </p:nvSpPr>
        <p:spPr>
          <a:xfrm>
            <a:off x="2478024" y="1362456"/>
            <a:ext cx="237744" cy="237744"/>
          </a:xfrm>
          <a:prstGeom prst="ellipse">
            <a:avLst/>
          </a:prstGeom>
          <a:ln w="15875">
            <a:solidFill>
              <a:srgbClr val="2C6E49"/>
            </a:solidFill>
            <a:prstDash val="solid"/>
          </a:ln>
        </p:spPr>
      </p:sp>
      <p:sp>
        <p:nvSpPr>
          <p:cNvPr id="10" name="Text 7"/>
          <p:cNvSpPr/>
          <p:nvPr/>
        </p:nvSpPr>
        <p:spPr>
          <a:xfrm>
            <a:off x="2478024" y="1362456"/>
            <a:ext cx="237744" cy="237744"/>
          </a:xfrm>
          <a:prstGeom prst="rect">
            <a:avLst/>
          </a:prstGeom>
          <a:noFill/>
          <a:ln/>
        </p:spPr>
        <p:txBody>
          <a:bodyPr wrap="square" lIns="0" tIns="0" rIns="0" bIns="0" rtlCol="0" anchor="ctr"/>
          <a:lstStyle/>
          <a:p>
            <a:pPr algn="ctr" indent="0" marL="0">
              <a:buNone/>
            </a:pPr>
            <a:r>
              <a:rPr lang="en-US" sz="1100" b="1" dirty="0">
                <a:solidFill>
                  <a:srgbClr val="2C6E49"/>
                </a:solidFill>
                <a:latin typeface="Cambria" pitchFamily="34" charset="0"/>
                <a:ea typeface="Cambria" pitchFamily="34" charset="-122"/>
                <a:cs typeface="Cambria" pitchFamily="34" charset="-120"/>
              </a:rPr>
              <a:t>1</a:t>
            </a:r>
            <a:endParaRPr lang="en-US" sz="1100" dirty="0"/>
          </a:p>
        </p:txBody>
      </p:sp>
      <p:sp>
        <p:nvSpPr>
          <p:cNvPr id="11" name="Text 8"/>
          <p:cNvSpPr/>
          <p:nvPr/>
        </p:nvSpPr>
        <p:spPr>
          <a:xfrm>
            <a:off x="3273552" y="1353312"/>
            <a:ext cx="6339535" cy="219456"/>
          </a:xfrm>
          <a:prstGeom prst="rect">
            <a:avLst/>
          </a:prstGeom>
          <a:noFill/>
          <a:ln/>
        </p:spPr>
        <p:txBody>
          <a:bodyPr wrap="square" lIns="0" tIns="0" rIns="0" bIns="0" rtlCol="0" anchor="ctr"/>
          <a:lstStyle/>
          <a:p>
            <a:pPr indent="0" marL="0">
              <a:buNone/>
            </a:pPr>
            <a:r>
              <a:rPr lang="en-US" sz="1200" b="1" dirty="0">
                <a:solidFill>
                  <a:srgbClr val="2C6E49"/>
                </a:solidFill>
                <a:latin typeface="Calibri" pitchFamily="34" charset="0"/>
                <a:ea typeface="Calibri" pitchFamily="34" charset="-122"/>
                <a:cs typeface="Calibri" pitchFamily="34" charset="-120"/>
              </a:rPr>
              <a:t>SCAFFOLD &amp; MEMORY</a:t>
            </a:r>
            <a:pPr indent="0" marL="0">
              <a:buNone/>
            </a:pPr>
            <a:r>
              <a:rPr lang="en-US" sz="850" i="1" dirty="0">
                <a:solidFill>
                  <a:srgbClr val="6C7078"/>
                </a:solidFill>
                <a:latin typeface="Calibri" pitchFamily="34" charset="0"/>
                <a:ea typeface="Calibri" pitchFamily="34" charset="-122"/>
                <a:cs typeface="Calibri" pitchFamily="34" charset="-120"/>
              </a:rPr>
              <a:t>   The Constitution Layer</a:t>
            </a:r>
            <a:endParaRPr lang="en-US" sz="1200" dirty="0"/>
          </a:p>
        </p:txBody>
      </p:sp>
      <p:sp>
        <p:nvSpPr>
          <p:cNvPr id="12" name="Shape 9"/>
          <p:cNvSpPr/>
          <p:nvPr/>
        </p:nvSpPr>
        <p:spPr>
          <a:xfrm>
            <a:off x="3273552" y="1664208"/>
            <a:ext cx="1454810" cy="384048"/>
          </a:xfrm>
          <a:prstGeom prst="roundRect">
            <a:avLst>
              <a:gd name="adj" fmla="val 14286"/>
            </a:avLst>
          </a:prstGeom>
          <a:solidFill>
            <a:srgbClr val="FFFFFF"/>
          </a:solidFill>
          <a:ln w="12700">
            <a:solidFill>
              <a:srgbClr val="E5DECB"/>
            </a:solidFill>
            <a:prstDash val="solid"/>
          </a:ln>
        </p:spPr>
      </p:sp>
      <p:pic>
        <p:nvPicPr>
          <p:cNvPr id="13" name="Image 1" descr="/root/work/harness_slide/icons/l1_file.png">    </p:cNvPr>
          <p:cNvPicPr>
            <a:picLocks noChangeAspect="1"/>
          </p:cNvPicPr>
          <p:nvPr/>
        </p:nvPicPr>
        <p:blipFill>
          <a:blip r:embed="rId2"/>
          <a:stretch>
            <a:fillRect/>
          </a:stretch>
        </p:blipFill>
        <p:spPr>
          <a:xfrm>
            <a:off x="3355848" y="1737360"/>
            <a:ext cx="201168" cy="201168"/>
          </a:xfrm>
          <a:prstGeom prst="rect">
            <a:avLst/>
          </a:prstGeom>
        </p:spPr>
      </p:pic>
      <p:sp>
        <p:nvSpPr>
          <p:cNvPr id="14" name="Text 10"/>
          <p:cNvSpPr/>
          <p:nvPr/>
        </p:nvSpPr>
        <p:spPr>
          <a:xfrm>
            <a:off x="3621024" y="1682496"/>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CLAUDE.md</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always-on rules</a:t>
            </a:r>
            <a:endParaRPr lang="en-US" sz="800" dirty="0"/>
          </a:p>
        </p:txBody>
      </p:sp>
      <p:sp>
        <p:nvSpPr>
          <p:cNvPr id="15" name="Shape 11"/>
          <p:cNvSpPr/>
          <p:nvPr/>
        </p:nvSpPr>
        <p:spPr>
          <a:xfrm>
            <a:off x="4819802" y="1664208"/>
            <a:ext cx="1454810" cy="384048"/>
          </a:xfrm>
          <a:prstGeom prst="roundRect">
            <a:avLst>
              <a:gd name="adj" fmla="val 14286"/>
            </a:avLst>
          </a:prstGeom>
          <a:solidFill>
            <a:srgbClr val="FFFFFF"/>
          </a:solidFill>
          <a:ln w="12700">
            <a:solidFill>
              <a:srgbClr val="E5DECB"/>
            </a:solidFill>
            <a:prstDash val="solid"/>
          </a:ln>
        </p:spPr>
      </p:sp>
      <p:pic>
        <p:nvPicPr>
          <p:cNvPr id="16" name="Image 2" descr="/root/work/harness_slide/icons/l1_sliders.png">    </p:cNvPr>
          <p:cNvPicPr>
            <a:picLocks noChangeAspect="1"/>
          </p:cNvPicPr>
          <p:nvPr/>
        </p:nvPicPr>
        <p:blipFill>
          <a:blip r:embed="rId3"/>
          <a:stretch>
            <a:fillRect/>
          </a:stretch>
        </p:blipFill>
        <p:spPr>
          <a:xfrm>
            <a:off x="4902098" y="1737360"/>
            <a:ext cx="201168" cy="201168"/>
          </a:xfrm>
          <a:prstGeom prst="rect">
            <a:avLst/>
          </a:prstGeom>
        </p:spPr>
      </p:pic>
      <p:sp>
        <p:nvSpPr>
          <p:cNvPr id="17" name="Text 12"/>
          <p:cNvSpPr/>
          <p:nvPr/>
        </p:nvSpPr>
        <p:spPr>
          <a:xfrm>
            <a:off x="5167274" y="1682496"/>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project-manifest</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quality · budget knobs</a:t>
            </a:r>
            <a:endParaRPr lang="en-US" sz="800" dirty="0"/>
          </a:p>
        </p:txBody>
      </p:sp>
      <p:sp>
        <p:nvSpPr>
          <p:cNvPr id="18" name="Shape 13"/>
          <p:cNvSpPr/>
          <p:nvPr/>
        </p:nvSpPr>
        <p:spPr>
          <a:xfrm>
            <a:off x="6366053" y="1664208"/>
            <a:ext cx="1454810" cy="384048"/>
          </a:xfrm>
          <a:prstGeom prst="roundRect">
            <a:avLst>
              <a:gd name="adj" fmla="val 14286"/>
            </a:avLst>
          </a:prstGeom>
          <a:solidFill>
            <a:srgbClr val="FFFFFF"/>
          </a:solidFill>
          <a:ln w="12700">
            <a:solidFill>
              <a:srgbClr val="E5DECB"/>
            </a:solidFill>
            <a:prstDash val="solid"/>
          </a:ln>
        </p:spPr>
      </p:sp>
      <p:pic>
        <p:nvPicPr>
          <p:cNvPr id="19" name="Image 3" descr="/root/work/harness_slide/icons/l1_db.png">    </p:cNvPr>
          <p:cNvPicPr>
            <a:picLocks noChangeAspect="1"/>
          </p:cNvPicPr>
          <p:nvPr/>
        </p:nvPicPr>
        <p:blipFill>
          <a:blip r:embed="rId4"/>
          <a:stretch>
            <a:fillRect/>
          </a:stretch>
        </p:blipFill>
        <p:spPr>
          <a:xfrm>
            <a:off x="6448349" y="1737360"/>
            <a:ext cx="201168" cy="201168"/>
          </a:xfrm>
          <a:prstGeom prst="rect">
            <a:avLst/>
          </a:prstGeom>
        </p:spPr>
      </p:pic>
      <p:sp>
        <p:nvSpPr>
          <p:cNvPr id="20" name="Text 14"/>
          <p:cNvSpPr/>
          <p:nvPr/>
        </p:nvSpPr>
        <p:spPr>
          <a:xfrm>
            <a:off x="6713525" y="1682496"/>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State files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learned + process rules</a:t>
            </a:r>
            <a:endParaRPr lang="en-US" sz="800" dirty="0"/>
          </a:p>
        </p:txBody>
      </p:sp>
      <p:sp>
        <p:nvSpPr>
          <p:cNvPr id="21" name="Text 15"/>
          <p:cNvSpPr/>
          <p:nvPr/>
        </p:nvSpPr>
        <p:spPr>
          <a:xfrm>
            <a:off x="7930591" y="1371600"/>
            <a:ext cx="1755648" cy="676656"/>
          </a:xfrm>
          <a:prstGeom prst="rect">
            <a:avLst/>
          </a:prstGeom>
          <a:noFill/>
          <a:ln/>
        </p:spPr>
        <p:txBody>
          <a:bodyPr wrap="square" lIns="0" tIns="0" rIns="0" bIns="0" rtlCol="0" anchor="ctr"/>
          <a:lstStyle/>
          <a:p>
            <a:pPr indent="0" marL="0">
              <a:lnSpc>
                <a:spcPct val="98000"/>
              </a:lnSpc>
              <a:buNone/>
            </a:pPr>
            <a:r>
              <a:rPr lang="en-US" sz="800" i="1" dirty="0">
                <a:solidFill>
                  <a:srgbClr val="2C6E49"/>
                </a:solidFill>
                <a:latin typeface="Calibri" pitchFamily="34" charset="0"/>
                <a:ea typeface="Calibri" pitchFamily="34" charset="-122"/>
                <a:cs typeface="Calibri" pitchFamily="34" charset="-120"/>
              </a:rPr>
              <a:t>/scaffold writes it once. Always loaded, always active.</a:t>
            </a:r>
            <a:endParaRPr lang="en-US" sz="800" dirty="0"/>
          </a:p>
        </p:txBody>
      </p:sp>
      <p:sp>
        <p:nvSpPr>
          <p:cNvPr id="22" name="Shape 16"/>
          <p:cNvSpPr/>
          <p:nvPr/>
        </p:nvSpPr>
        <p:spPr>
          <a:xfrm>
            <a:off x="2432304" y="2231136"/>
            <a:ext cx="7327087" cy="859536"/>
          </a:xfrm>
          <a:prstGeom prst="roundRect">
            <a:avLst>
              <a:gd name="adj" fmla="val 9574"/>
            </a:avLst>
          </a:prstGeom>
          <a:solidFill>
            <a:srgbClr val="E2EEF3"/>
          </a:solidFill>
          <a:ln w="12700">
            <a:solidFill>
              <a:srgbClr val="CFE1EA"/>
            </a:solidFill>
            <a:prstDash val="solid"/>
          </a:ln>
          <a:effectLst>
            <a:outerShdw sx="100000" sy="100000" kx="0" ky="0" algn="bl" rotWithShape="0" blurRad="50800" dist="12700" dir="5400000">
              <a:srgbClr val="8A8168">
                <a:alpha val="25000"/>
              </a:srgbClr>
            </a:outerShdw>
          </a:effectLst>
        </p:spPr>
      </p:sp>
      <p:sp>
        <p:nvSpPr>
          <p:cNvPr id="23" name="Shape 17"/>
          <p:cNvSpPr/>
          <p:nvPr/>
        </p:nvSpPr>
        <p:spPr>
          <a:xfrm>
            <a:off x="2560320" y="2395728"/>
            <a:ext cx="530352" cy="530352"/>
          </a:xfrm>
          <a:prstGeom prst="roundRect">
            <a:avLst>
              <a:gd name="adj" fmla="val 17241"/>
            </a:avLst>
          </a:prstGeom>
          <a:solidFill>
            <a:srgbClr val="1C7293"/>
          </a:solidFill>
          <a:ln/>
        </p:spPr>
      </p:sp>
      <p:pic>
        <p:nvPicPr>
          <p:cNvPr id="24" name="Image 4" descr="/root/work/harness_slide/icons/w_puzzle.png">    </p:cNvPr>
          <p:cNvPicPr>
            <a:picLocks noChangeAspect="1"/>
          </p:cNvPicPr>
          <p:nvPr/>
        </p:nvPicPr>
        <p:blipFill>
          <a:blip r:embed="rId5"/>
          <a:stretch>
            <a:fillRect/>
          </a:stretch>
        </p:blipFill>
        <p:spPr>
          <a:xfrm>
            <a:off x="2697480" y="2532888"/>
            <a:ext cx="256032" cy="256032"/>
          </a:xfrm>
          <a:prstGeom prst="rect">
            <a:avLst/>
          </a:prstGeom>
        </p:spPr>
      </p:pic>
      <p:sp>
        <p:nvSpPr>
          <p:cNvPr id="25" name="Shape 18"/>
          <p:cNvSpPr/>
          <p:nvPr/>
        </p:nvSpPr>
        <p:spPr>
          <a:xfrm>
            <a:off x="2478024" y="2313432"/>
            <a:ext cx="237744" cy="237744"/>
          </a:xfrm>
          <a:prstGeom prst="ellipse">
            <a:avLst/>
          </a:prstGeom>
          <a:solidFill>
            <a:srgbClr val="FFFFFF"/>
          </a:solidFill>
          <a:ln/>
        </p:spPr>
      </p:sp>
      <p:sp>
        <p:nvSpPr>
          <p:cNvPr id="26" name="Shape 19"/>
          <p:cNvSpPr/>
          <p:nvPr/>
        </p:nvSpPr>
        <p:spPr>
          <a:xfrm>
            <a:off x="2478024" y="2313432"/>
            <a:ext cx="237744" cy="237744"/>
          </a:xfrm>
          <a:prstGeom prst="ellipse">
            <a:avLst/>
          </a:prstGeom>
          <a:ln w="15875">
            <a:solidFill>
              <a:srgbClr val="1C7293"/>
            </a:solidFill>
            <a:prstDash val="solid"/>
          </a:ln>
        </p:spPr>
      </p:sp>
      <p:sp>
        <p:nvSpPr>
          <p:cNvPr id="27" name="Text 20"/>
          <p:cNvSpPr/>
          <p:nvPr/>
        </p:nvSpPr>
        <p:spPr>
          <a:xfrm>
            <a:off x="2478024" y="2313432"/>
            <a:ext cx="237744"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mbria" pitchFamily="34" charset="0"/>
                <a:ea typeface="Cambria" pitchFamily="34" charset="-122"/>
                <a:cs typeface="Cambria" pitchFamily="34" charset="-120"/>
              </a:rPr>
              <a:t>2</a:t>
            </a:r>
            <a:endParaRPr lang="en-US" sz="1100" dirty="0"/>
          </a:p>
        </p:txBody>
      </p:sp>
      <p:sp>
        <p:nvSpPr>
          <p:cNvPr id="28" name="Text 21"/>
          <p:cNvSpPr/>
          <p:nvPr/>
        </p:nvSpPr>
        <p:spPr>
          <a:xfrm>
            <a:off x="3273552" y="2304288"/>
            <a:ext cx="6339535" cy="219456"/>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SKILLS &amp; LANES</a:t>
            </a:r>
            <a:pPr indent="0" marL="0">
              <a:buNone/>
            </a:pPr>
            <a:r>
              <a:rPr lang="en-US" sz="850" i="1" dirty="0">
                <a:solidFill>
                  <a:srgbClr val="6C7078"/>
                </a:solidFill>
                <a:latin typeface="Calibri" pitchFamily="34" charset="0"/>
                <a:ea typeface="Calibri" pitchFamily="34" charset="-122"/>
                <a:cs typeface="Calibri" pitchFamily="34" charset="-120"/>
              </a:rPr>
              <a:t>   The Workflow Layer</a:t>
            </a:r>
            <a:endParaRPr lang="en-US" sz="1200" dirty="0"/>
          </a:p>
        </p:txBody>
      </p:sp>
      <p:sp>
        <p:nvSpPr>
          <p:cNvPr id="29" name="Shape 22"/>
          <p:cNvSpPr/>
          <p:nvPr/>
        </p:nvSpPr>
        <p:spPr>
          <a:xfrm>
            <a:off x="3273552" y="2615184"/>
            <a:ext cx="1454810" cy="384048"/>
          </a:xfrm>
          <a:prstGeom prst="roundRect">
            <a:avLst>
              <a:gd name="adj" fmla="val 14286"/>
            </a:avLst>
          </a:prstGeom>
          <a:solidFill>
            <a:srgbClr val="FFFFFF"/>
          </a:solidFill>
          <a:ln w="12700">
            <a:solidFill>
              <a:srgbClr val="E5DECB"/>
            </a:solidFill>
            <a:prstDash val="solid"/>
          </a:ln>
        </p:spPr>
      </p:sp>
      <p:pic>
        <p:nvPicPr>
          <p:cNvPr id="30" name="Image 5" descr="/root/work/harness_slide/icons/l2_term.png">    </p:cNvPr>
          <p:cNvPicPr>
            <a:picLocks noChangeAspect="1"/>
          </p:cNvPicPr>
          <p:nvPr/>
        </p:nvPicPr>
        <p:blipFill>
          <a:blip r:embed="rId6"/>
          <a:stretch>
            <a:fillRect/>
          </a:stretch>
        </p:blipFill>
        <p:spPr>
          <a:xfrm>
            <a:off x="3355848" y="2688336"/>
            <a:ext cx="201168" cy="201168"/>
          </a:xfrm>
          <a:prstGeom prst="rect">
            <a:avLst/>
          </a:prstGeom>
        </p:spPr>
      </p:pic>
      <p:sp>
        <p:nvSpPr>
          <p:cNvPr id="31" name="Text 23"/>
          <p:cNvSpPr/>
          <p:nvPr/>
        </p:nvSpPr>
        <p:spPr>
          <a:xfrm>
            <a:off x="3621024" y="2633472"/>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/build /feature</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small public surface</a:t>
            </a:r>
            <a:endParaRPr lang="en-US" sz="800" dirty="0"/>
          </a:p>
        </p:txBody>
      </p:sp>
      <p:sp>
        <p:nvSpPr>
          <p:cNvPr id="32" name="Shape 24"/>
          <p:cNvSpPr/>
          <p:nvPr/>
        </p:nvSpPr>
        <p:spPr>
          <a:xfrm>
            <a:off x="4819802" y="2615184"/>
            <a:ext cx="1454810" cy="384048"/>
          </a:xfrm>
          <a:prstGeom prst="roundRect">
            <a:avLst>
              <a:gd name="adj" fmla="val 14286"/>
            </a:avLst>
          </a:prstGeom>
          <a:solidFill>
            <a:srgbClr val="FFFFFF"/>
          </a:solidFill>
          <a:ln w="12700">
            <a:solidFill>
              <a:srgbClr val="E5DECB"/>
            </a:solidFill>
            <a:prstDash val="solid"/>
          </a:ln>
        </p:spPr>
      </p:sp>
      <p:pic>
        <p:nvPicPr>
          <p:cNvPr id="33" name="Image 6" descr="/root/work/harness_slide/icons/l2_branch.png">    </p:cNvPr>
          <p:cNvPicPr>
            <a:picLocks noChangeAspect="1"/>
          </p:cNvPicPr>
          <p:nvPr/>
        </p:nvPicPr>
        <p:blipFill>
          <a:blip r:embed="rId7"/>
          <a:stretch>
            <a:fillRect/>
          </a:stretch>
        </p:blipFill>
        <p:spPr>
          <a:xfrm>
            <a:off x="4902098" y="2688336"/>
            <a:ext cx="201168" cy="201168"/>
          </a:xfrm>
          <a:prstGeom prst="rect">
            <a:avLst/>
          </a:prstGeom>
        </p:spPr>
      </p:pic>
      <p:sp>
        <p:nvSpPr>
          <p:cNvPr id="34" name="Text 25"/>
          <p:cNvSpPr/>
          <p:nvPr/>
        </p:nvSpPr>
        <p:spPr>
          <a:xfrm>
            <a:off x="5167274" y="2633472"/>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26+ skill lanes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brd→…→auto · vibe</a:t>
            </a:r>
            <a:endParaRPr lang="en-US" sz="800" dirty="0"/>
          </a:p>
        </p:txBody>
      </p:sp>
      <p:sp>
        <p:nvSpPr>
          <p:cNvPr id="35" name="Shape 26"/>
          <p:cNvSpPr/>
          <p:nvPr/>
        </p:nvSpPr>
        <p:spPr>
          <a:xfrm>
            <a:off x="6366053" y="2615184"/>
            <a:ext cx="1454810" cy="384048"/>
          </a:xfrm>
          <a:prstGeom prst="roundRect">
            <a:avLst>
              <a:gd name="adj" fmla="val 14286"/>
            </a:avLst>
          </a:prstGeom>
          <a:solidFill>
            <a:srgbClr val="FFFFFF"/>
          </a:solidFill>
          <a:ln w="12700">
            <a:solidFill>
              <a:srgbClr val="E5DECB"/>
            </a:solidFill>
            <a:prstDash val="solid"/>
          </a:ln>
        </p:spPr>
      </p:sp>
      <p:pic>
        <p:nvPicPr>
          <p:cNvPr id="36" name="Image 7" descr="/root/work/harness_slide/icons/l2_route.png">    </p:cNvPr>
          <p:cNvPicPr>
            <a:picLocks noChangeAspect="1"/>
          </p:cNvPicPr>
          <p:nvPr/>
        </p:nvPicPr>
        <p:blipFill>
          <a:blip r:embed="rId8"/>
          <a:stretch>
            <a:fillRect/>
          </a:stretch>
        </p:blipFill>
        <p:spPr>
          <a:xfrm>
            <a:off x="6448349" y="2688336"/>
            <a:ext cx="201168" cy="201168"/>
          </a:xfrm>
          <a:prstGeom prst="rect">
            <a:avLst/>
          </a:prstGeom>
        </p:spPr>
      </p:pic>
      <p:sp>
        <p:nvSpPr>
          <p:cNvPr id="37" name="Text 27"/>
          <p:cNvSpPr/>
          <p:nvPr/>
        </p:nvSpPr>
        <p:spPr>
          <a:xfrm>
            <a:off x="6713525" y="2633472"/>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Z/L routing</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scope → lane</a:t>
            </a:r>
            <a:endParaRPr lang="en-US" sz="800" dirty="0"/>
          </a:p>
        </p:txBody>
      </p:sp>
      <p:sp>
        <p:nvSpPr>
          <p:cNvPr id="38" name="Text 28"/>
          <p:cNvSpPr/>
          <p:nvPr/>
        </p:nvSpPr>
        <p:spPr>
          <a:xfrm>
            <a:off x="7930591" y="2322576"/>
            <a:ext cx="1755648" cy="676656"/>
          </a:xfrm>
          <a:prstGeom prst="rect">
            <a:avLst/>
          </a:prstGeom>
          <a:noFill/>
          <a:ln/>
        </p:spPr>
        <p:txBody>
          <a:bodyPr wrap="square" lIns="0" tIns="0" rIns="0" bIns="0" rtlCol="0" anchor="ctr"/>
          <a:lstStyle/>
          <a:p>
            <a:pPr indent="0" marL="0">
              <a:lnSpc>
                <a:spcPct val="98000"/>
              </a:lnSpc>
              <a:buNone/>
            </a:pPr>
            <a:r>
              <a:rPr lang="en-US" sz="800" i="1" dirty="0">
                <a:solidFill>
                  <a:srgbClr val="1C7293"/>
                </a:solidFill>
                <a:latin typeface="Calibri" pitchFamily="34" charset="0"/>
                <a:ea typeface="Calibri" pitchFamily="34" charset="-122"/>
                <a:cs typeface="Calibri" pitchFamily="34" charset="-120"/>
              </a:rPr>
              <a:t>On-demand skills; the harness picks the lane for you.</a:t>
            </a:r>
            <a:endParaRPr lang="en-US" sz="800" dirty="0"/>
          </a:p>
        </p:txBody>
      </p:sp>
      <p:sp>
        <p:nvSpPr>
          <p:cNvPr id="39" name="Shape 29"/>
          <p:cNvSpPr/>
          <p:nvPr/>
        </p:nvSpPr>
        <p:spPr>
          <a:xfrm>
            <a:off x="2432304" y="3182112"/>
            <a:ext cx="7327087" cy="859536"/>
          </a:xfrm>
          <a:prstGeom prst="roundRect">
            <a:avLst>
              <a:gd name="adj" fmla="val 9574"/>
            </a:avLst>
          </a:prstGeom>
          <a:solidFill>
            <a:srgbClr val="F7EDD6"/>
          </a:solidFill>
          <a:ln w="12700">
            <a:solidFill>
              <a:srgbClr val="EBDAB4"/>
            </a:solidFill>
            <a:prstDash val="solid"/>
          </a:ln>
          <a:effectLst>
            <a:outerShdw sx="100000" sy="100000" kx="0" ky="0" algn="bl" rotWithShape="0" blurRad="50800" dist="12700" dir="5400000">
              <a:srgbClr val="8A8168">
                <a:alpha val="25000"/>
              </a:srgbClr>
            </a:outerShdw>
          </a:effectLst>
        </p:spPr>
      </p:sp>
      <p:sp>
        <p:nvSpPr>
          <p:cNvPr id="40" name="Shape 30"/>
          <p:cNvSpPr/>
          <p:nvPr/>
        </p:nvSpPr>
        <p:spPr>
          <a:xfrm>
            <a:off x="2560320" y="3346704"/>
            <a:ext cx="530352" cy="530352"/>
          </a:xfrm>
          <a:prstGeom prst="roundRect">
            <a:avLst>
              <a:gd name="adj" fmla="val 17241"/>
            </a:avLst>
          </a:prstGeom>
          <a:solidFill>
            <a:srgbClr val="B07414"/>
          </a:solidFill>
          <a:ln/>
        </p:spPr>
      </p:sp>
      <p:pic>
        <p:nvPicPr>
          <p:cNvPr id="41" name="Image 8" descr="/root/work/harness_slide/icons/w_shield.png">    </p:cNvPr>
          <p:cNvPicPr>
            <a:picLocks noChangeAspect="1"/>
          </p:cNvPicPr>
          <p:nvPr/>
        </p:nvPicPr>
        <p:blipFill>
          <a:blip r:embed="rId9"/>
          <a:stretch>
            <a:fillRect/>
          </a:stretch>
        </p:blipFill>
        <p:spPr>
          <a:xfrm>
            <a:off x="2697480" y="3483864"/>
            <a:ext cx="256032" cy="256032"/>
          </a:xfrm>
          <a:prstGeom prst="rect">
            <a:avLst/>
          </a:prstGeom>
        </p:spPr>
      </p:pic>
      <p:sp>
        <p:nvSpPr>
          <p:cNvPr id="42" name="Shape 31"/>
          <p:cNvSpPr/>
          <p:nvPr/>
        </p:nvSpPr>
        <p:spPr>
          <a:xfrm>
            <a:off x="2478024" y="3264408"/>
            <a:ext cx="237744" cy="237744"/>
          </a:xfrm>
          <a:prstGeom prst="ellipse">
            <a:avLst/>
          </a:prstGeom>
          <a:solidFill>
            <a:srgbClr val="FFFFFF"/>
          </a:solidFill>
          <a:ln/>
        </p:spPr>
      </p:sp>
      <p:sp>
        <p:nvSpPr>
          <p:cNvPr id="43" name="Shape 32"/>
          <p:cNvSpPr/>
          <p:nvPr/>
        </p:nvSpPr>
        <p:spPr>
          <a:xfrm>
            <a:off x="2478024" y="3264408"/>
            <a:ext cx="237744" cy="237744"/>
          </a:xfrm>
          <a:prstGeom prst="ellipse">
            <a:avLst/>
          </a:prstGeom>
          <a:ln w="15875">
            <a:solidFill>
              <a:srgbClr val="B07414"/>
            </a:solidFill>
            <a:prstDash val="solid"/>
          </a:ln>
        </p:spPr>
      </p:sp>
      <p:sp>
        <p:nvSpPr>
          <p:cNvPr id="44" name="Text 33"/>
          <p:cNvSpPr/>
          <p:nvPr/>
        </p:nvSpPr>
        <p:spPr>
          <a:xfrm>
            <a:off x="2478024" y="3264408"/>
            <a:ext cx="237744" cy="237744"/>
          </a:xfrm>
          <a:prstGeom prst="rect">
            <a:avLst/>
          </a:prstGeom>
          <a:noFill/>
          <a:ln/>
        </p:spPr>
        <p:txBody>
          <a:bodyPr wrap="square" lIns="0" tIns="0" rIns="0" bIns="0" rtlCol="0" anchor="ctr"/>
          <a:lstStyle/>
          <a:p>
            <a:pPr algn="ctr" indent="0" marL="0">
              <a:buNone/>
            </a:pPr>
            <a:r>
              <a:rPr lang="en-US" sz="1100" b="1" dirty="0">
                <a:solidFill>
                  <a:srgbClr val="B07414"/>
                </a:solidFill>
                <a:latin typeface="Cambria" pitchFamily="34" charset="0"/>
                <a:ea typeface="Cambria" pitchFamily="34" charset="-122"/>
                <a:cs typeface="Cambria" pitchFamily="34" charset="-120"/>
              </a:rPr>
              <a:t>3</a:t>
            </a:r>
            <a:endParaRPr lang="en-US" sz="1100" dirty="0"/>
          </a:p>
        </p:txBody>
      </p:sp>
      <p:sp>
        <p:nvSpPr>
          <p:cNvPr id="45" name="Text 34"/>
          <p:cNvSpPr/>
          <p:nvPr/>
        </p:nvSpPr>
        <p:spPr>
          <a:xfrm>
            <a:off x="3273552" y="3255264"/>
            <a:ext cx="6339535" cy="219456"/>
          </a:xfrm>
          <a:prstGeom prst="rect">
            <a:avLst/>
          </a:prstGeom>
          <a:noFill/>
          <a:ln/>
        </p:spPr>
        <p:txBody>
          <a:bodyPr wrap="square" lIns="0" tIns="0" rIns="0" bIns="0" rtlCol="0" anchor="ctr"/>
          <a:lstStyle/>
          <a:p>
            <a:pPr indent="0" marL="0">
              <a:buNone/>
            </a:pPr>
            <a:r>
              <a:rPr lang="en-US" sz="1200" b="1" dirty="0">
                <a:solidFill>
                  <a:srgbClr val="B07414"/>
                </a:solidFill>
                <a:latin typeface="Calibri" pitchFamily="34" charset="0"/>
                <a:ea typeface="Calibri" pitchFamily="34" charset="-122"/>
                <a:cs typeface="Calibri" pitchFamily="34" charset="-120"/>
              </a:rPr>
              <a:t>HOOKS &amp; GATES</a:t>
            </a:r>
            <a:pPr indent="0" marL="0">
              <a:buNone/>
            </a:pPr>
            <a:r>
              <a:rPr lang="en-US" sz="850" i="1" dirty="0">
                <a:solidFill>
                  <a:srgbClr val="6C7078"/>
                </a:solidFill>
                <a:latin typeface="Calibri" pitchFamily="34" charset="0"/>
                <a:ea typeface="Calibri" pitchFamily="34" charset="-122"/>
                <a:cs typeface="Calibri" pitchFamily="34" charset="-120"/>
              </a:rPr>
              <a:t>   The Guardrail Layer</a:t>
            </a:r>
            <a:endParaRPr lang="en-US" sz="1200" dirty="0"/>
          </a:p>
        </p:txBody>
      </p:sp>
      <p:sp>
        <p:nvSpPr>
          <p:cNvPr id="46" name="Shape 35"/>
          <p:cNvSpPr/>
          <p:nvPr/>
        </p:nvSpPr>
        <p:spPr>
          <a:xfrm>
            <a:off x="3273552" y="3566160"/>
            <a:ext cx="1454810" cy="384048"/>
          </a:xfrm>
          <a:prstGeom prst="roundRect">
            <a:avLst>
              <a:gd name="adj" fmla="val 14286"/>
            </a:avLst>
          </a:prstGeom>
          <a:solidFill>
            <a:srgbClr val="FFFFFF"/>
          </a:solidFill>
          <a:ln w="12700">
            <a:solidFill>
              <a:srgbClr val="E5DECB"/>
            </a:solidFill>
            <a:prstDash val="solid"/>
          </a:ln>
        </p:spPr>
      </p:sp>
      <p:pic>
        <p:nvPicPr>
          <p:cNvPr id="47" name="Image 9" descr="/root/work/harness_slide/icons/l3_bolt.png">    </p:cNvPr>
          <p:cNvPicPr>
            <a:picLocks noChangeAspect="1"/>
          </p:cNvPicPr>
          <p:nvPr/>
        </p:nvPicPr>
        <p:blipFill>
          <a:blip r:embed="rId10"/>
          <a:stretch>
            <a:fillRect/>
          </a:stretch>
        </p:blipFill>
        <p:spPr>
          <a:xfrm>
            <a:off x="3355848" y="3639312"/>
            <a:ext cx="201168" cy="201168"/>
          </a:xfrm>
          <a:prstGeom prst="rect">
            <a:avLst/>
          </a:prstGeom>
        </p:spPr>
      </p:pic>
      <p:sp>
        <p:nvSpPr>
          <p:cNvPr id="48" name="Text 36"/>
          <p:cNvSpPr/>
          <p:nvPr/>
        </p:nvSpPr>
        <p:spPr>
          <a:xfrm>
            <a:off x="3621024" y="3584448"/>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Lifecycle hooks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pre/post-tool · stop</a:t>
            </a:r>
            <a:endParaRPr lang="en-US" sz="800" dirty="0"/>
          </a:p>
        </p:txBody>
      </p:sp>
      <p:sp>
        <p:nvSpPr>
          <p:cNvPr id="49" name="Shape 37"/>
          <p:cNvSpPr/>
          <p:nvPr/>
        </p:nvSpPr>
        <p:spPr>
          <a:xfrm>
            <a:off x="4819802" y="3566160"/>
            <a:ext cx="1454810" cy="384048"/>
          </a:xfrm>
          <a:prstGeom prst="roundRect">
            <a:avLst>
              <a:gd name="adj" fmla="val 14286"/>
            </a:avLst>
          </a:prstGeom>
          <a:solidFill>
            <a:srgbClr val="FFFFFF"/>
          </a:solidFill>
          <a:ln w="12700">
            <a:solidFill>
              <a:srgbClr val="E5DECB"/>
            </a:solidFill>
            <a:prstDash val="solid"/>
          </a:ln>
        </p:spPr>
      </p:sp>
      <p:pic>
        <p:nvPicPr>
          <p:cNvPr id="50" name="Image 10" descr="/root/work/harness_slide/icons/l3_lock.png">    </p:cNvPr>
          <p:cNvPicPr>
            <a:picLocks noChangeAspect="1"/>
          </p:cNvPicPr>
          <p:nvPr/>
        </p:nvPicPr>
        <p:blipFill>
          <a:blip r:embed="rId11"/>
          <a:stretch>
            <a:fillRect/>
          </a:stretch>
        </p:blipFill>
        <p:spPr>
          <a:xfrm>
            <a:off x="4902098" y="3639312"/>
            <a:ext cx="201168" cy="201168"/>
          </a:xfrm>
          <a:prstGeom prst="rect">
            <a:avLst/>
          </a:prstGeom>
        </p:spPr>
      </p:pic>
      <p:sp>
        <p:nvSpPr>
          <p:cNvPr id="51" name="Text 38"/>
          <p:cNvSpPr/>
          <p:nvPr/>
        </p:nvSpPr>
        <p:spPr>
          <a:xfrm>
            <a:off x="5167274" y="3584448"/>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Deterministic gates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no rm-rf · no stub</a:t>
            </a:r>
            <a:endParaRPr lang="en-US" sz="800" dirty="0"/>
          </a:p>
        </p:txBody>
      </p:sp>
      <p:sp>
        <p:nvSpPr>
          <p:cNvPr id="52" name="Shape 39"/>
          <p:cNvSpPr/>
          <p:nvPr/>
        </p:nvSpPr>
        <p:spPr>
          <a:xfrm>
            <a:off x="6366053" y="3566160"/>
            <a:ext cx="1454810" cy="384048"/>
          </a:xfrm>
          <a:prstGeom prst="roundRect">
            <a:avLst>
              <a:gd name="adj" fmla="val 14286"/>
            </a:avLst>
          </a:prstGeom>
          <a:solidFill>
            <a:srgbClr val="FFFFFF"/>
          </a:solidFill>
          <a:ln w="12700">
            <a:solidFill>
              <a:srgbClr val="E5DECB"/>
            </a:solidFill>
            <a:prstDash val="solid"/>
          </a:ln>
        </p:spPr>
      </p:sp>
      <p:pic>
        <p:nvPicPr>
          <p:cNvPr id="53" name="Image 11" descr="/root/work/harness_slide/icons/l3_shield.png">    </p:cNvPr>
          <p:cNvPicPr>
            <a:picLocks noChangeAspect="1"/>
          </p:cNvPicPr>
          <p:nvPr/>
        </p:nvPicPr>
        <p:blipFill>
          <a:blip r:embed="rId12"/>
          <a:stretch>
            <a:fillRect/>
          </a:stretch>
        </p:blipFill>
        <p:spPr>
          <a:xfrm>
            <a:off x="6448349" y="3639312"/>
            <a:ext cx="201168" cy="201168"/>
          </a:xfrm>
          <a:prstGeom prst="rect">
            <a:avLst/>
          </a:prstGeom>
        </p:spPr>
      </p:pic>
      <p:sp>
        <p:nvSpPr>
          <p:cNvPr id="54" name="Text 40"/>
          <p:cNvSpPr/>
          <p:nvPr/>
        </p:nvSpPr>
        <p:spPr>
          <a:xfrm>
            <a:off x="6713525" y="3584448"/>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Git pre-commit</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ratchet + cache lock</a:t>
            </a:r>
            <a:endParaRPr lang="en-US" sz="800" dirty="0"/>
          </a:p>
        </p:txBody>
      </p:sp>
      <p:sp>
        <p:nvSpPr>
          <p:cNvPr id="55" name="Text 41"/>
          <p:cNvSpPr/>
          <p:nvPr/>
        </p:nvSpPr>
        <p:spPr>
          <a:xfrm>
            <a:off x="7930591" y="3273552"/>
            <a:ext cx="1755648" cy="676656"/>
          </a:xfrm>
          <a:prstGeom prst="rect">
            <a:avLst/>
          </a:prstGeom>
          <a:noFill/>
          <a:ln/>
        </p:spPr>
        <p:txBody>
          <a:bodyPr wrap="square" lIns="0" tIns="0" rIns="0" bIns="0" rtlCol="0" anchor="ctr"/>
          <a:lstStyle/>
          <a:p>
            <a:pPr indent="0" marL="0">
              <a:lnSpc>
                <a:spcPct val="98000"/>
              </a:lnSpc>
              <a:buNone/>
            </a:pPr>
            <a:r>
              <a:rPr lang="en-US" sz="800" i="1" dirty="0">
                <a:solidFill>
                  <a:srgbClr val="B07414"/>
                </a:solidFill>
                <a:latin typeface="Calibri" pitchFamily="34" charset="0"/>
                <a:ea typeface="Calibri" pitchFamily="34" charset="-122"/>
                <a:cs typeface="Calibri" pitchFamily="34" charset="-120"/>
              </a:rPr>
              <a:t>Deterministic, not AI — fires on every write &amp; commit.</a:t>
            </a:r>
            <a:endParaRPr lang="en-US" sz="800" dirty="0"/>
          </a:p>
        </p:txBody>
      </p:sp>
      <p:sp>
        <p:nvSpPr>
          <p:cNvPr id="56" name="Shape 42"/>
          <p:cNvSpPr/>
          <p:nvPr/>
        </p:nvSpPr>
        <p:spPr>
          <a:xfrm>
            <a:off x="2432304" y="4133088"/>
            <a:ext cx="7327087" cy="859536"/>
          </a:xfrm>
          <a:prstGeom prst="roundRect">
            <a:avLst>
              <a:gd name="adj" fmla="val 9574"/>
            </a:avLst>
          </a:prstGeom>
          <a:solidFill>
            <a:srgbClr val="ECE6F4"/>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57" name="Shape 43"/>
          <p:cNvSpPr/>
          <p:nvPr/>
        </p:nvSpPr>
        <p:spPr>
          <a:xfrm>
            <a:off x="2560320" y="4297680"/>
            <a:ext cx="530352" cy="530352"/>
          </a:xfrm>
          <a:prstGeom prst="roundRect">
            <a:avLst>
              <a:gd name="adj" fmla="val 17241"/>
            </a:avLst>
          </a:prstGeom>
          <a:solidFill>
            <a:srgbClr val="6B4E9E"/>
          </a:solidFill>
          <a:ln/>
        </p:spPr>
      </p:sp>
      <p:pic>
        <p:nvPicPr>
          <p:cNvPr id="58" name="Image 12" descr="/root/work/harness_slide/icons/w_users.png">    </p:cNvPr>
          <p:cNvPicPr>
            <a:picLocks noChangeAspect="1"/>
          </p:cNvPicPr>
          <p:nvPr/>
        </p:nvPicPr>
        <p:blipFill>
          <a:blip r:embed="rId13"/>
          <a:stretch>
            <a:fillRect/>
          </a:stretch>
        </p:blipFill>
        <p:spPr>
          <a:xfrm>
            <a:off x="2697480" y="4434840"/>
            <a:ext cx="256032" cy="256032"/>
          </a:xfrm>
          <a:prstGeom prst="rect">
            <a:avLst/>
          </a:prstGeom>
        </p:spPr>
      </p:pic>
      <p:sp>
        <p:nvSpPr>
          <p:cNvPr id="59" name="Shape 44"/>
          <p:cNvSpPr/>
          <p:nvPr/>
        </p:nvSpPr>
        <p:spPr>
          <a:xfrm>
            <a:off x="2478024" y="4215384"/>
            <a:ext cx="237744" cy="237744"/>
          </a:xfrm>
          <a:prstGeom prst="ellipse">
            <a:avLst/>
          </a:prstGeom>
          <a:solidFill>
            <a:srgbClr val="FFFFFF"/>
          </a:solidFill>
          <a:ln/>
        </p:spPr>
      </p:sp>
      <p:sp>
        <p:nvSpPr>
          <p:cNvPr id="60" name="Shape 45"/>
          <p:cNvSpPr/>
          <p:nvPr/>
        </p:nvSpPr>
        <p:spPr>
          <a:xfrm>
            <a:off x="2478024" y="4215384"/>
            <a:ext cx="237744" cy="237744"/>
          </a:xfrm>
          <a:prstGeom prst="ellipse">
            <a:avLst/>
          </a:prstGeom>
          <a:ln w="15875">
            <a:solidFill>
              <a:srgbClr val="6B4E9E"/>
            </a:solidFill>
            <a:prstDash val="solid"/>
          </a:ln>
        </p:spPr>
      </p:sp>
      <p:sp>
        <p:nvSpPr>
          <p:cNvPr id="61" name="Text 46"/>
          <p:cNvSpPr/>
          <p:nvPr/>
        </p:nvSpPr>
        <p:spPr>
          <a:xfrm>
            <a:off x="2478024" y="4215384"/>
            <a:ext cx="237744" cy="237744"/>
          </a:xfrm>
          <a:prstGeom prst="rect">
            <a:avLst/>
          </a:prstGeom>
          <a:noFill/>
          <a:ln/>
        </p:spPr>
        <p:txBody>
          <a:bodyPr wrap="square" lIns="0" tIns="0" rIns="0" bIns="0" rtlCol="0" anchor="ctr"/>
          <a:lstStyle/>
          <a:p>
            <a:pPr algn="ctr" indent="0" marL="0">
              <a:buNone/>
            </a:pPr>
            <a:r>
              <a:rPr lang="en-US" sz="1100" b="1" dirty="0">
                <a:solidFill>
                  <a:srgbClr val="6B4E9E"/>
                </a:solidFill>
                <a:latin typeface="Cambria" pitchFamily="34" charset="0"/>
                <a:ea typeface="Cambria" pitchFamily="34" charset="-122"/>
                <a:cs typeface="Cambria" pitchFamily="34" charset="-120"/>
              </a:rPr>
              <a:t>4</a:t>
            </a:r>
            <a:endParaRPr lang="en-US" sz="1100" dirty="0"/>
          </a:p>
        </p:txBody>
      </p:sp>
      <p:sp>
        <p:nvSpPr>
          <p:cNvPr id="62" name="Text 47"/>
          <p:cNvSpPr/>
          <p:nvPr/>
        </p:nvSpPr>
        <p:spPr>
          <a:xfrm>
            <a:off x="3273552" y="4206240"/>
            <a:ext cx="6339535" cy="219456"/>
          </a:xfrm>
          <a:prstGeom prst="rect">
            <a:avLst/>
          </a:prstGeom>
          <a:noFill/>
          <a:ln/>
        </p:spPr>
        <p:txBody>
          <a:bodyPr wrap="square" lIns="0" tIns="0" rIns="0" bIns="0" rtlCol="0" anchor="ctr"/>
          <a:lstStyle/>
          <a:p>
            <a:pPr indent="0" marL="0">
              <a:buNone/>
            </a:pPr>
            <a:r>
              <a:rPr lang="en-US" sz="1200" b="1" dirty="0">
                <a:solidFill>
                  <a:srgbClr val="6B4E9E"/>
                </a:solidFill>
                <a:latin typeface="Calibri" pitchFamily="34" charset="0"/>
                <a:ea typeface="Calibri" pitchFamily="34" charset="-122"/>
                <a:cs typeface="Calibri" pitchFamily="34" charset="-120"/>
              </a:rPr>
              <a:t>AGENTS &amp; GAN LOOP</a:t>
            </a:r>
            <a:pPr indent="0" marL="0">
              <a:buNone/>
            </a:pPr>
            <a:r>
              <a:rPr lang="en-US" sz="850" i="1" dirty="0">
                <a:solidFill>
                  <a:srgbClr val="6C7078"/>
                </a:solidFill>
                <a:latin typeface="Calibri" pitchFamily="34" charset="0"/>
                <a:ea typeface="Calibri" pitchFamily="34" charset="-122"/>
                <a:cs typeface="Calibri" pitchFamily="34" charset="-120"/>
              </a:rPr>
              <a:t>   The Delegation Layer</a:t>
            </a:r>
            <a:endParaRPr lang="en-US" sz="1200" dirty="0"/>
          </a:p>
        </p:txBody>
      </p:sp>
      <p:sp>
        <p:nvSpPr>
          <p:cNvPr id="63" name="Shape 48"/>
          <p:cNvSpPr/>
          <p:nvPr/>
        </p:nvSpPr>
        <p:spPr>
          <a:xfrm>
            <a:off x="3273552" y="4517136"/>
            <a:ext cx="1454810" cy="384048"/>
          </a:xfrm>
          <a:prstGeom prst="roundRect">
            <a:avLst>
              <a:gd name="adj" fmla="val 14286"/>
            </a:avLst>
          </a:prstGeom>
          <a:solidFill>
            <a:srgbClr val="FFFFFF"/>
          </a:solidFill>
          <a:ln w="12700">
            <a:solidFill>
              <a:srgbClr val="E5DECB"/>
            </a:solidFill>
            <a:prstDash val="solid"/>
          </a:ln>
        </p:spPr>
      </p:sp>
      <p:pic>
        <p:nvPicPr>
          <p:cNvPr id="64" name="Image 13" descr="/root/work/harness_slide/icons/l4_users.png">    </p:cNvPr>
          <p:cNvPicPr>
            <a:picLocks noChangeAspect="1"/>
          </p:cNvPicPr>
          <p:nvPr/>
        </p:nvPicPr>
        <p:blipFill>
          <a:blip r:embed="rId14"/>
          <a:stretch>
            <a:fillRect/>
          </a:stretch>
        </p:blipFill>
        <p:spPr>
          <a:xfrm>
            <a:off x="3355848" y="4590288"/>
            <a:ext cx="201168" cy="201168"/>
          </a:xfrm>
          <a:prstGeom prst="rect">
            <a:avLst/>
          </a:prstGeom>
        </p:spPr>
      </p:pic>
      <p:sp>
        <p:nvSpPr>
          <p:cNvPr id="65" name="Text 49"/>
          <p:cNvSpPr/>
          <p:nvPr/>
        </p:nvSpPr>
        <p:spPr>
          <a:xfrm>
            <a:off x="3621024" y="4535424"/>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8 subagents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planner → reviewers</a:t>
            </a:r>
            <a:endParaRPr lang="en-US" sz="800" dirty="0"/>
          </a:p>
        </p:txBody>
      </p:sp>
      <p:sp>
        <p:nvSpPr>
          <p:cNvPr id="66" name="Shape 50"/>
          <p:cNvSpPr/>
          <p:nvPr/>
        </p:nvSpPr>
        <p:spPr>
          <a:xfrm>
            <a:off x="4819802" y="4517136"/>
            <a:ext cx="1454810" cy="384048"/>
          </a:xfrm>
          <a:prstGeom prst="roundRect">
            <a:avLst>
              <a:gd name="adj" fmla="val 14286"/>
            </a:avLst>
          </a:prstGeom>
          <a:solidFill>
            <a:srgbClr val="FFFFFF"/>
          </a:solidFill>
          <a:ln w="12700">
            <a:solidFill>
              <a:srgbClr val="E5DECB"/>
            </a:solidFill>
            <a:prstDash val="solid"/>
          </a:ln>
        </p:spPr>
      </p:sp>
      <p:pic>
        <p:nvPicPr>
          <p:cNvPr id="67" name="Image 14" descr="/root/work/harness_slide/icons/l4_rotate.png">    </p:cNvPr>
          <p:cNvPicPr>
            <a:picLocks noChangeAspect="1"/>
          </p:cNvPicPr>
          <p:nvPr/>
        </p:nvPicPr>
        <p:blipFill>
          <a:blip r:embed="rId15"/>
          <a:stretch>
            <a:fillRect/>
          </a:stretch>
        </p:blipFill>
        <p:spPr>
          <a:xfrm>
            <a:off x="4902098" y="4590288"/>
            <a:ext cx="201168" cy="201168"/>
          </a:xfrm>
          <a:prstGeom prst="rect">
            <a:avLst/>
          </a:prstGeom>
        </p:spPr>
      </p:pic>
      <p:sp>
        <p:nvSpPr>
          <p:cNvPr id="68" name="Text 51"/>
          <p:cNvSpPr/>
          <p:nvPr/>
        </p:nvSpPr>
        <p:spPr>
          <a:xfrm>
            <a:off x="5167274" y="4535424"/>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Generator ⟷ Evaluator</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no self-grading</a:t>
            </a:r>
            <a:endParaRPr lang="en-US" sz="800" dirty="0"/>
          </a:p>
        </p:txBody>
      </p:sp>
      <p:sp>
        <p:nvSpPr>
          <p:cNvPr id="69" name="Shape 52"/>
          <p:cNvSpPr/>
          <p:nvPr/>
        </p:nvSpPr>
        <p:spPr>
          <a:xfrm>
            <a:off x="6366053" y="4517136"/>
            <a:ext cx="1454810" cy="384048"/>
          </a:xfrm>
          <a:prstGeom prst="roundRect">
            <a:avLst>
              <a:gd name="adj" fmla="val 14286"/>
            </a:avLst>
          </a:prstGeom>
          <a:solidFill>
            <a:srgbClr val="FFFFFF"/>
          </a:solidFill>
          <a:ln w="12700">
            <a:solidFill>
              <a:srgbClr val="E5DECB"/>
            </a:solidFill>
            <a:prstDash val="solid"/>
          </a:ln>
        </p:spPr>
      </p:sp>
      <p:pic>
        <p:nvPicPr>
          <p:cNvPr id="70" name="Image 15" descr="/root/work/harness_slide/icons/l4_layers.png">    </p:cNvPr>
          <p:cNvPicPr>
            <a:picLocks noChangeAspect="1"/>
          </p:cNvPicPr>
          <p:nvPr/>
        </p:nvPicPr>
        <p:blipFill>
          <a:blip r:embed="rId16"/>
          <a:stretch>
            <a:fillRect/>
          </a:stretch>
        </p:blipFill>
        <p:spPr>
          <a:xfrm>
            <a:off x="6448349" y="4590288"/>
            <a:ext cx="201168" cy="201168"/>
          </a:xfrm>
          <a:prstGeom prst="rect">
            <a:avLst/>
          </a:prstGeom>
        </p:spPr>
      </p:pic>
      <p:sp>
        <p:nvSpPr>
          <p:cNvPr id="71" name="Text 53"/>
          <p:cNvSpPr/>
          <p:nvPr/>
        </p:nvSpPr>
        <p:spPr>
          <a:xfrm>
            <a:off x="6713525" y="4535424"/>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Model tiers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Opus · Sonnet · Haiku</a:t>
            </a:r>
            <a:endParaRPr lang="en-US" sz="800" dirty="0"/>
          </a:p>
        </p:txBody>
      </p:sp>
      <p:sp>
        <p:nvSpPr>
          <p:cNvPr id="72" name="Text 54"/>
          <p:cNvSpPr/>
          <p:nvPr/>
        </p:nvSpPr>
        <p:spPr>
          <a:xfrm>
            <a:off x="7930591" y="4224528"/>
            <a:ext cx="1755648" cy="676656"/>
          </a:xfrm>
          <a:prstGeom prst="rect">
            <a:avLst/>
          </a:prstGeom>
          <a:noFill/>
          <a:ln/>
        </p:spPr>
        <p:txBody>
          <a:bodyPr wrap="square" lIns="0" tIns="0" rIns="0" bIns="0" rtlCol="0" anchor="ctr"/>
          <a:lstStyle/>
          <a:p>
            <a:pPr indent="0" marL="0">
              <a:lnSpc>
                <a:spcPct val="98000"/>
              </a:lnSpc>
              <a:buNone/>
            </a:pPr>
            <a:r>
              <a:rPr lang="en-US" sz="800" i="1" dirty="0">
                <a:solidFill>
                  <a:srgbClr val="6B4E9E"/>
                </a:solidFill>
                <a:latin typeface="Calibri" pitchFamily="34" charset="0"/>
                <a:ea typeface="Calibri" pitchFamily="34" charset="-122"/>
                <a:cs typeface="Calibri" pitchFamily="34" charset="-120"/>
              </a:rPr>
              <a:t>Adversarial loop, self-heal ×3; teams ≤5 parallel.</a:t>
            </a:r>
            <a:endParaRPr lang="en-US" sz="800" dirty="0"/>
          </a:p>
        </p:txBody>
      </p:sp>
      <p:sp>
        <p:nvSpPr>
          <p:cNvPr id="73" name="Shape 55"/>
          <p:cNvSpPr/>
          <p:nvPr/>
        </p:nvSpPr>
        <p:spPr>
          <a:xfrm>
            <a:off x="2432304" y="5084064"/>
            <a:ext cx="7327087" cy="859536"/>
          </a:xfrm>
          <a:prstGeom prst="roundRect">
            <a:avLst>
              <a:gd name="adj" fmla="val 9574"/>
            </a:avLst>
          </a:prstGeom>
          <a:solidFill>
            <a:srgbClr val="E4EEE7"/>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74" name="Shape 56"/>
          <p:cNvSpPr/>
          <p:nvPr/>
        </p:nvSpPr>
        <p:spPr>
          <a:xfrm>
            <a:off x="2560320" y="5248656"/>
            <a:ext cx="530352" cy="530352"/>
          </a:xfrm>
          <a:prstGeom prst="roundRect">
            <a:avLst>
              <a:gd name="adj" fmla="val 17241"/>
            </a:avLst>
          </a:prstGeom>
          <a:solidFill>
            <a:srgbClr val="1F5132"/>
          </a:solidFill>
          <a:ln/>
        </p:spPr>
      </p:sp>
      <p:pic>
        <p:nvPicPr>
          <p:cNvPr id="75" name="Image 16" descr="/root/work/harness_slide/icons/w_gauge.png">    </p:cNvPr>
          <p:cNvPicPr>
            <a:picLocks noChangeAspect="1"/>
          </p:cNvPicPr>
          <p:nvPr/>
        </p:nvPicPr>
        <p:blipFill>
          <a:blip r:embed="rId17"/>
          <a:stretch>
            <a:fillRect/>
          </a:stretch>
        </p:blipFill>
        <p:spPr>
          <a:xfrm>
            <a:off x="2697480" y="5385816"/>
            <a:ext cx="256032" cy="256032"/>
          </a:xfrm>
          <a:prstGeom prst="rect">
            <a:avLst/>
          </a:prstGeom>
        </p:spPr>
      </p:pic>
      <p:sp>
        <p:nvSpPr>
          <p:cNvPr id="76" name="Shape 57"/>
          <p:cNvSpPr/>
          <p:nvPr/>
        </p:nvSpPr>
        <p:spPr>
          <a:xfrm>
            <a:off x="2478024" y="5166360"/>
            <a:ext cx="237744" cy="237744"/>
          </a:xfrm>
          <a:prstGeom prst="ellipse">
            <a:avLst/>
          </a:prstGeom>
          <a:solidFill>
            <a:srgbClr val="FFFFFF"/>
          </a:solidFill>
          <a:ln/>
        </p:spPr>
      </p:sp>
      <p:sp>
        <p:nvSpPr>
          <p:cNvPr id="77" name="Shape 58"/>
          <p:cNvSpPr/>
          <p:nvPr/>
        </p:nvSpPr>
        <p:spPr>
          <a:xfrm>
            <a:off x="2478024" y="5166360"/>
            <a:ext cx="237744" cy="237744"/>
          </a:xfrm>
          <a:prstGeom prst="ellipse">
            <a:avLst/>
          </a:prstGeom>
          <a:ln w="15875">
            <a:solidFill>
              <a:srgbClr val="1F5132"/>
            </a:solidFill>
            <a:prstDash val="solid"/>
          </a:ln>
        </p:spPr>
      </p:sp>
      <p:sp>
        <p:nvSpPr>
          <p:cNvPr id="78" name="Text 59"/>
          <p:cNvSpPr/>
          <p:nvPr/>
        </p:nvSpPr>
        <p:spPr>
          <a:xfrm>
            <a:off x="2478024" y="5166360"/>
            <a:ext cx="237744" cy="237744"/>
          </a:xfrm>
          <a:prstGeom prst="rect">
            <a:avLst/>
          </a:prstGeom>
          <a:noFill/>
          <a:ln/>
        </p:spPr>
        <p:txBody>
          <a:bodyPr wrap="square" lIns="0" tIns="0" rIns="0" bIns="0" rtlCol="0" anchor="ctr"/>
          <a:lstStyle/>
          <a:p>
            <a:pPr algn="ctr" indent="0" marL="0">
              <a:buNone/>
            </a:pPr>
            <a:r>
              <a:rPr lang="en-US" sz="1100" b="1" dirty="0">
                <a:solidFill>
                  <a:srgbClr val="1F5132"/>
                </a:solidFill>
                <a:latin typeface="Cambria" pitchFamily="34" charset="0"/>
                <a:ea typeface="Cambria" pitchFamily="34" charset="-122"/>
                <a:cs typeface="Cambria" pitchFamily="34" charset="-120"/>
              </a:rPr>
              <a:t>5</a:t>
            </a:r>
            <a:endParaRPr lang="en-US" sz="1100" dirty="0"/>
          </a:p>
        </p:txBody>
      </p:sp>
      <p:sp>
        <p:nvSpPr>
          <p:cNvPr id="79" name="Text 60"/>
          <p:cNvSpPr/>
          <p:nvPr/>
        </p:nvSpPr>
        <p:spPr>
          <a:xfrm>
            <a:off x="3273552" y="5157216"/>
            <a:ext cx="6339535" cy="219456"/>
          </a:xfrm>
          <a:prstGeom prst="rect">
            <a:avLst/>
          </a:prstGeom>
          <a:noFill/>
          <a:ln/>
        </p:spPr>
        <p:txBody>
          <a:bodyPr wrap="square" lIns="0" tIns="0" rIns="0" bIns="0" rtlCol="0" anchor="ctr"/>
          <a:lstStyle/>
          <a:p>
            <a:pPr indent="0" marL="0">
              <a:buNone/>
            </a:pPr>
            <a:r>
              <a:rPr lang="en-US" sz="1200" b="1" dirty="0">
                <a:solidFill>
                  <a:srgbClr val="1F5132"/>
                </a:solidFill>
                <a:latin typeface="Calibri" pitchFamily="34" charset="0"/>
                <a:ea typeface="Calibri" pitchFamily="34" charset="-122"/>
                <a:cs typeface="Calibri" pitchFamily="34" charset="-120"/>
              </a:rPr>
              <a:t>CONTROL SYSTEM &amp; RATCHET</a:t>
            </a:r>
            <a:pPr indent="0" marL="0">
              <a:buNone/>
            </a:pPr>
            <a:r>
              <a:rPr lang="en-US" sz="850" i="1" dirty="0">
                <a:solidFill>
                  <a:srgbClr val="6C7078"/>
                </a:solidFill>
                <a:latin typeface="Calibri" pitchFamily="34" charset="0"/>
                <a:ea typeface="Calibri" pitchFamily="34" charset="-122"/>
                <a:cs typeface="Calibri" pitchFamily="34" charset="-120"/>
              </a:rPr>
              <a:t>   The Quality Layer</a:t>
            </a:r>
            <a:endParaRPr lang="en-US" sz="1200" dirty="0"/>
          </a:p>
        </p:txBody>
      </p:sp>
      <p:sp>
        <p:nvSpPr>
          <p:cNvPr id="80" name="Shape 61"/>
          <p:cNvSpPr/>
          <p:nvPr/>
        </p:nvSpPr>
        <p:spPr>
          <a:xfrm>
            <a:off x="3273552" y="5468112"/>
            <a:ext cx="1454810" cy="384048"/>
          </a:xfrm>
          <a:prstGeom prst="roundRect">
            <a:avLst>
              <a:gd name="adj" fmla="val 14286"/>
            </a:avLst>
          </a:prstGeom>
          <a:solidFill>
            <a:srgbClr val="FFFFFF"/>
          </a:solidFill>
          <a:ln w="12700">
            <a:solidFill>
              <a:srgbClr val="E5DECB"/>
            </a:solidFill>
            <a:prstDash val="solid"/>
          </a:ln>
        </p:spPr>
      </p:sp>
      <p:pic>
        <p:nvPicPr>
          <p:cNvPr id="81" name="Image 17" descr="/root/work/harness_slide/icons/l5_compass.png">    </p:cNvPr>
          <p:cNvPicPr>
            <a:picLocks noChangeAspect="1"/>
          </p:cNvPicPr>
          <p:nvPr/>
        </p:nvPicPr>
        <p:blipFill>
          <a:blip r:embed="rId18"/>
          <a:stretch>
            <a:fillRect/>
          </a:stretch>
        </p:blipFill>
        <p:spPr>
          <a:xfrm>
            <a:off x="3355848" y="5541264"/>
            <a:ext cx="201168" cy="201168"/>
          </a:xfrm>
          <a:prstGeom prst="rect">
            <a:avLst/>
          </a:prstGeom>
        </p:spPr>
      </p:pic>
      <p:sp>
        <p:nvSpPr>
          <p:cNvPr id="82" name="Text 62"/>
          <p:cNvSpPr/>
          <p:nvPr/>
        </p:nvSpPr>
        <p:spPr>
          <a:xfrm>
            <a:off x="3621024" y="5486400"/>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4 quality axes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maintain·arch·behav·trace</a:t>
            </a:r>
            <a:endParaRPr lang="en-US" sz="800" dirty="0"/>
          </a:p>
        </p:txBody>
      </p:sp>
      <p:sp>
        <p:nvSpPr>
          <p:cNvPr id="83" name="Shape 63"/>
          <p:cNvSpPr/>
          <p:nvPr/>
        </p:nvSpPr>
        <p:spPr>
          <a:xfrm>
            <a:off x="4819802" y="5468112"/>
            <a:ext cx="1454810" cy="384048"/>
          </a:xfrm>
          <a:prstGeom prst="roundRect">
            <a:avLst>
              <a:gd name="adj" fmla="val 14286"/>
            </a:avLst>
          </a:prstGeom>
          <a:solidFill>
            <a:srgbClr val="FFFFFF"/>
          </a:solidFill>
          <a:ln w="12700">
            <a:solidFill>
              <a:srgbClr val="E5DECB"/>
            </a:solidFill>
            <a:prstDash val="solid"/>
          </a:ln>
        </p:spPr>
      </p:sp>
      <p:pic>
        <p:nvPicPr>
          <p:cNvPr id="84" name="Image 18" descr="/root/work/harness_slide/icons/l5_book.png">    </p:cNvPr>
          <p:cNvPicPr>
            <a:picLocks noChangeAspect="1"/>
          </p:cNvPicPr>
          <p:nvPr/>
        </p:nvPicPr>
        <p:blipFill>
          <a:blip r:embed="rId19"/>
          <a:stretch>
            <a:fillRect/>
          </a:stretch>
        </p:blipFill>
        <p:spPr>
          <a:xfrm>
            <a:off x="4902098" y="5541264"/>
            <a:ext cx="201168" cy="201168"/>
          </a:xfrm>
          <a:prstGeom prst="rect">
            <a:avLst/>
          </a:prstGeom>
        </p:spPr>
      </p:pic>
      <p:sp>
        <p:nvSpPr>
          <p:cNvPr id="85" name="Text 64"/>
          <p:cNvSpPr/>
          <p:nvPr/>
        </p:nvSpPr>
        <p:spPr>
          <a:xfrm>
            <a:off x="5167274" y="5486400"/>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Guides × Sensors</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HARNESS.md registry</a:t>
            </a:r>
            <a:endParaRPr lang="en-US" sz="800" dirty="0"/>
          </a:p>
        </p:txBody>
      </p:sp>
      <p:sp>
        <p:nvSpPr>
          <p:cNvPr id="86" name="Shape 65"/>
          <p:cNvSpPr/>
          <p:nvPr/>
        </p:nvSpPr>
        <p:spPr>
          <a:xfrm>
            <a:off x="6366053" y="5468112"/>
            <a:ext cx="1454810" cy="384048"/>
          </a:xfrm>
          <a:prstGeom prst="roundRect">
            <a:avLst>
              <a:gd name="adj" fmla="val 14286"/>
            </a:avLst>
          </a:prstGeom>
          <a:solidFill>
            <a:srgbClr val="FFFFFF"/>
          </a:solidFill>
          <a:ln w="12700">
            <a:solidFill>
              <a:srgbClr val="E5DECB"/>
            </a:solidFill>
            <a:prstDash val="solid"/>
          </a:ln>
        </p:spPr>
      </p:sp>
      <p:pic>
        <p:nvPicPr>
          <p:cNvPr id="87" name="Image 19" descr="/root/work/harness_slide/icons/l5_chart.png">    </p:cNvPr>
          <p:cNvPicPr>
            <a:picLocks noChangeAspect="1"/>
          </p:cNvPicPr>
          <p:nvPr/>
        </p:nvPicPr>
        <p:blipFill>
          <a:blip r:embed="rId20"/>
          <a:stretch>
            <a:fillRect/>
          </a:stretch>
        </p:blipFill>
        <p:spPr>
          <a:xfrm>
            <a:off x="6448349" y="5541264"/>
            <a:ext cx="201168" cy="201168"/>
          </a:xfrm>
          <a:prstGeom prst="rect">
            <a:avLst/>
          </a:prstGeom>
        </p:spPr>
      </p:pic>
      <p:sp>
        <p:nvSpPr>
          <p:cNvPr id="88" name="Text 66"/>
          <p:cNvSpPr/>
          <p:nvPr/>
        </p:nvSpPr>
        <p:spPr>
          <a:xfrm>
            <a:off x="6713525" y="5486400"/>
            <a:ext cx="1052474" cy="347472"/>
          </a:xfrm>
          <a:prstGeom prst="rect">
            <a:avLst/>
          </a:prstGeom>
          <a:noFill/>
          <a:ln/>
        </p:spPr>
        <p:txBody>
          <a:bodyPr wrap="square" lIns="0" tIns="0" rIns="0" bIns="0" rtlCol="0" anchor="ctr"/>
          <a:lstStyle/>
          <a:p>
            <a:pPr indent="0" marL="0">
              <a:lnSpc>
                <a:spcPct val="98000"/>
              </a:lnSpc>
              <a:buNone/>
            </a:pPr>
            <a:r>
              <a:rPr lang="en-US" sz="800" b="1" dirty="0">
                <a:solidFill>
                  <a:srgbClr val="22252A"/>
                </a:solidFill>
                <a:latin typeface="Calibri" pitchFamily="34" charset="0"/>
                <a:ea typeface="Calibri" pitchFamily="34" charset="-122"/>
                <a:cs typeface="Calibri" pitchFamily="34" charset="-120"/>
              </a:rPr>
              <a:t>Monotonic ratchet</a:t>
            </a:r>
            <a:endParaRPr lang="en-US" sz="800" dirty="0"/>
          </a:p>
          <a:p>
            <a:pPr indent="0" marL="0">
              <a:lnSpc>
                <a:spcPct val="98000"/>
              </a:lnSpc>
              <a:buNone/>
            </a:pPr>
            <a:r>
              <a:rPr lang="en-US" sz="670" dirty="0">
                <a:solidFill>
                  <a:srgbClr val="6C7078"/>
                </a:solidFill>
                <a:latin typeface="Calibri" pitchFamily="34" charset="0"/>
                <a:ea typeface="Calibri" pitchFamily="34" charset="-122"/>
                <a:cs typeface="Calibri" pitchFamily="34" charset="-120"/>
              </a:rPr>
              <a:t>coverage·cycles·perf</a:t>
            </a:r>
            <a:endParaRPr lang="en-US" sz="800" dirty="0"/>
          </a:p>
        </p:txBody>
      </p:sp>
      <p:sp>
        <p:nvSpPr>
          <p:cNvPr id="89" name="Text 67"/>
          <p:cNvSpPr/>
          <p:nvPr/>
        </p:nvSpPr>
        <p:spPr>
          <a:xfrm>
            <a:off x="7930591" y="5175504"/>
            <a:ext cx="1755648" cy="676656"/>
          </a:xfrm>
          <a:prstGeom prst="rect">
            <a:avLst/>
          </a:prstGeom>
          <a:noFill/>
          <a:ln/>
        </p:spPr>
        <p:txBody>
          <a:bodyPr wrap="square" lIns="0" tIns="0" rIns="0" bIns="0" rtlCol="0" anchor="ctr"/>
          <a:lstStyle/>
          <a:p>
            <a:pPr indent="0" marL="0">
              <a:lnSpc>
                <a:spcPct val="98000"/>
              </a:lnSpc>
              <a:buNone/>
            </a:pPr>
            <a:r>
              <a:rPr lang="en-US" sz="800" i="1" dirty="0">
                <a:solidFill>
                  <a:srgbClr val="1F5132"/>
                </a:solidFill>
                <a:latin typeface="Calibri" pitchFamily="34" charset="0"/>
                <a:ea typeface="Calibri" pitchFamily="34" charset="-122"/>
                <a:cs typeface="Calibri" pitchFamily="34" charset="-120"/>
              </a:rPr>
              <a:t>Quality only moves forward — cadence planning→drift.</a:t>
            </a:r>
            <a:endParaRPr lang="en-US" sz="800" dirty="0"/>
          </a:p>
        </p:txBody>
      </p:sp>
      <p:sp>
        <p:nvSpPr>
          <p:cNvPr id="90" name="Text 68"/>
          <p:cNvSpPr/>
          <p:nvPr/>
        </p:nvSpPr>
        <p:spPr>
          <a:xfrm>
            <a:off x="2560320" y="2093976"/>
            <a:ext cx="530352" cy="146304"/>
          </a:xfrm>
          <a:prstGeom prst="rect">
            <a:avLst/>
          </a:prstGeom>
          <a:noFill/>
          <a:ln/>
        </p:spPr>
        <p:txBody>
          <a:bodyPr wrap="square" lIns="0" tIns="0" rIns="0" bIns="0" rtlCol="0" anchor="ctr"/>
          <a:lstStyle/>
          <a:p>
            <a:pPr algn="ctr" indent="0" marL="0">
              <a:buNone/>
            </a:pPr>
            <a:r>
              <a:rPr lang="en-US" sz="800" dirty="0">
                <a:solidFill>
                  <a:srgbClr val="9A9EA6"/>
                </a:solidFill>
                <a:latin typeface="Calibri" pitchFamily="34" charset="0"/>
                <a:ea typeface="Calibri" pitchFamily="34" charset="-122"/>
                <a:cs typeface="Calibri" pitchFamily="34" charset="-120"/>
              </a:rPr>
              <a:t>▼</a:t>
            </a:r>
            <a:endParaRPr lang="en-US" sz="800" dirty="0"/>
          </a:p>
        </p:txBody>
      </p:sp>
      <p:sp>
        <p:nvSpPr>
          <p:cNvPr id="91" name="Text 69"/>
          <p:cNvSpPr/>
          <p:nvPr/>
        </p:nvSpPr>
        <p:spPr>
          <a:xfrm>
            <a:off x="2560320" y="3044952"/>
            <a:ext cx="530352" cy="146304"/>
          </a:xfrm>
          <a:prstGeom prst="rect">
            <a:avLst/>
          </a:prstGeom>
          <a:noFill/>
          <a:ln/>
        </p:spPr>
        <p:txBody>
          <a:bodyPr wrap="square" lIns="0" tIns="0" rIns="0" bIns="0" rtlCol="0" anchor="ctr"/>
          <a:lstStyle/>
          <a:p>
            <a:pPr algn="ctr" indent="0" marL="0">
              <a:buNone/>
            </a:pPr>
            <a:r>
              <a:rPr lang="en-US" sz="800" dirty="0">
                <a:solidFill>
                  <a:srgbClr val="9A9EA6"/>
                </a:solidFill>
                <a:latin typeface="Calibri" pitchFamily="34" charset="0"/>
                <a:ea typeface="Calibri" pitchFamily="34" charset="-122"/>
                <a:cs typeface="Calibri" pitchFamily="34" charset="-120"/>
              </a:rPr>
              <a:t>▼</a:t>
            </a:r>
            <a:endParaRPr lang="en-US" sz="800" dirty="0"/>
          </a:p>
        </p:txBody>
      </p:sp>
      <p:sp>
        <p:nvSpPr>
          <p:cNvPr id="92" name="Text 70"/>
          <p:cNvSpPr/>
          <p:nvPr/>
        </p:nvSpPr>
        <p:spPr>
          <a:xfrm>
            <a:off x="2560320" y="3995928"/>
            <a:ext cx="530352" cy="146304"/>
          </a:xfrm>
          <a:prstGeom prst="rect">
            <a:avLst/>
          </a:prstGeom>
          <a:noFill/>
          <a:ln/>
        </p:spPr>
        <p:txBody>
          <a:bodyPr wrap="square" lIns="0" tIns="0" rIns="0" bIns="0" rtlCol="0" anchor="ctr"/>
          <a:lstStyle/>
          <a:p>
            <a:pPr algn="ctr" indent="0" marL="0">
              <a:buNone/>
            </a:pPr>
            <a:r>
              <a:rPr lang="en-US" sz="800" dirty="0">
                <a:solidFill>
                  <a:srgbClr val="9A9EA6"/>
                </a:solidFill>
                <a:latin typeface="Calibri" pitchFamily="34" charset="0"/>
                <a:ea typeface="Calibri" pitchFamily="34" charset="-122"/>
                <a:cs typeface="Calibri" pitchFamily="34" charset="-120"/>
              </a:rPr>
              <a:t>▼</a:t>
            </a:r>
            <a:endParaRPr lang="en-US" sz="800" dirty="0"/>
          </a:p>
        </p:txBody>
      </p:sp>
      <p:sp>
        <p:nvSpPr>
          <p:cNvPr id="93" name="Text 71"/>
          <p:cNvSpPr/>
          <p:nvPr/>
        </p:nvSpPr>
        <p:spPr>
          <a:xfrm>
            <a:off x="2560320" y="4946904"/>
            <a:ext cx="530352" cy="146304"/>
          </a:xfrm>
          <a:prstGeom prst="rect">
            <a:avLst/>
          </a:prstGeom>
          <a:noFill/>
          <a:ln/>
        </p:spPr>
        <p:txBody>
          <a:bodyPr wrap="square" lIns="0" tIns="0" rIns="0" bIns="0" rtlCol="0" anchor="ctr"/>
          <a:lstStyle/>
          <a:p>
            <a:pPr algn="ctr" indent="0" marL="0">
              <a:buNone/>
            </a:pPr>
            <a:r>
              <a:rPr lang="en-US" sz="800" dirty="0">
                <a:solidFill>
                  <a:srgbClr val="9A9EA6"/>
                </a:solidFill>
                <a:latin typeface="Calibri" pitchFamily="34" charset="0"/>
                <a:ea typeface="Calibri" pitchFamily="34" charset="-122"/>
                <a:cs typeface="Calibri" pitchFamily="34" charset="-120"/>
              </a:rPr>
              <a:t>▼</a:t>
            </a:r>
            <a:endParaRPr lang="en-US" sz="800" dirty="0"/>
          </a:p>
        </p:txBody>
      </p:sp>
      <p:sp>
        <p:nvSpPr>
          <p:cNvPr id="94" name="Shape 72"/>
          <p:cNvSpPr/>
          <p:nvPr/>
        </p:nvSpPr>
        <p:spPr>
          <a:xfrm>
            <a:off x="256032" y="1280160"/>
            <a:ext cx="2029968" cy="4663440"/>
          </a:xfrm>
          <a:prstGeom prst="roundRect">
            <a:avLst>
              <a:gd name="adj" fmla="val 4054"/>
            </a:avLst>
          </a:prstGeom>
          <a:solidFill>
            <a:srgbClr val="F1E9D6"/>
          </a:solidFill>
          <a:ln w="12700">
            <a:solidFill>
              <a:srgbClr val="DCD0B6"/>
            </a:solidFill>
            <a:prstDash val="solid"/>
          </a:ln>
          <a:effectLst>
            <a:outerShdw sx="100000" sy="100000" kx="0" ky="0" algn="bl" rotWithShape="0" blurRad="50800" dist="12700" dir="5400000">
              <a:srgbClr val="8A8168">
                <a:alpha val="25000"/>
              </a:srgbClr>
            </a:outerShdw>
          </a:effectLst>
        </p:spPr>
      </p:sp>
      <p:sp>
        <p:nvSpPr>
          <p:cNvPr id="95" name="Shape 73"/>
          <p:cNvSpPr/>
          <p:nvPr/>
        </p:nvSpPr>
        <p:spPr>
          <a:xfrm>
            <a:off x="402336" y="1426464"/>
            <a:ext cx="365760" cy="365760"/>
          </a:xfrm>
          <a:prstGeom prst="ellipse">
            <a:avLst/>
          </a:prstGeom>
          <a:solidFill>
            <a:srgbClr val="2A2E34"/>
          </a:solidFill>
          <a:ln/>
        </p:spPr>
      </p:sp>
      <p:pic>
        <p:nvPicPr>
          <p:cNvPr id="96" name="Image 20" descr="/root/work/harness_slide/icons/w_plug.png">    </p:cNvPr>
          <p:cNvPicPr>
            <a:picLocks noChangeAspect="1"/>
          </p:cNvPicPr>
          <p:nvPr/>
        </p:nvPicPr>
        <p:blipFill>
          <a:blip r:embed="rId21"/>
          <a:stretch>
            <a:fillRect/>
          </a:stretch>
        </p:blipFill>
        <p:spPr>
          <a:xfrm>
            <a:off x="493776" y="1517904"/>
            <a:ext cx="182880" cy="182880"/>
          </a:xfrm>
          <a:prstGeom prst="rect">
            <a:avLst/>
          </a:prstGeom>
        </p:spPr>
      </p:pic>
      <p:sp>
        <p:nvSpPr>
          <p:cNvPr id="97" name="Text 74"/>
          <p:cNvSpPr/>
          <p:nvPr/>
        </p:nvSpPr>
        <p:spPr>
          <a:xfrm>
            <a:off x="859536" y="1408176"/>
            <a:ext cx="1371600" cy="402336"/>
          </a:xfrm>
          <a:prstGeom prst="rect">
            <a:avLst/>
          </a:prstGeom>
          <a:noFill/>
          <a:ln/>
        </p:spPr>
        <p:txBody>
          <a:bodyPr wrap="square" lIns="0" tIns="0" rIns="0" bIns="0" rtlCol="0" anchor="ctr"/>
          <a:lstStyle/>
          <a:p>
            <a:pPr indent="0" marL="0">
              <a:buNone/>
            </a:pPr>
            <a:r>
              <a:rPr lang="en-US" sz="1100" b="1" spc="50" kern="0" dirty="0">
                <a:solidFill>
                  <a:srgbClr val="2A2E34"/>
                </a:solidFill>
                <a:latin typeface="Calibri" pitchFamily="34" charset="0"/>
                <a:ea typeface="Calibri" pitchFamily="34" charset="-122"/>
                <a:cs typeface="Calibri" pitchFamily="34" charset="-120"/>
              </a:rPr>
              <a:t>MCP &amp; EXTERNAL</a:t>
            </a:r>
            <a:endParaRPr lang="en-US" sz="1100" dirty="0"/>
          </a:p>
        </p:txBody>
      </p:sp>
      <p:pic>
        <p:nvPicPr>
          <p:cNvPr id="98" name="Image 21" descr="/root/work/harness_slide/icons/sb_plug.png">    </p:cNvPr>
          <p:cNvPicPr>
            <a:picLocks noChangeAspect="1"/>
          </p:cNvPicPr>
          <p:nvPr/>
        </p:nvPicPr>
        <p:blipFill>
          <a:blip r:embed="rId22"/>
          <a:stretch>
            <a:fillRect/>
          </a:stretch>
        </p:blipFill>
        <p:spPr>
          <a:xfrm>
            <a:off x="402336" y="2232965"/>
            <a:ext cx="201168" cy="201168"/>
          </a:xfrm>
          <a:prstGeom prst="rect">
            <a:avLst/>
          </a:prstGeom>
        </p:spPr>
      </p:pic>
      <p:sp>
        <p:nvSpPr>
          <p:cNvPr id="99" name="Text 75"/>
          <p:cNvSpPr/>
          <p:nvPr/>
        </p:nvSpPr>
        <p:spPr>
          <a:xfrm>
            <a:off x="694944" y="1938528"/>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harness-nav MCP</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.mcp.json nav server</a:t>
            </a:r>
            <a:endParaRPr lang="en-US" sz="900" dirty="0"/>
          </a:p>
        </p:txBody>
      </p:sp>
      <p:pic>
        <p:nvPicPr>
          <p:cNvPr id="100" name="Image 22" descr="/root/work/harness_slide/icons/sb_code.png">    </p:cNvPr>
          <p:cNvPicPr>
            <a:picLocks noChangeAspect="1"/>
          </p:cNvPicPr>
          <p:nvPr/>
        </p:nvPicPr>
        <p:blipFill>
          <a:blip r:embed="rId23"/>
          <a:stretch>
            <a:fillRect/>
          </a:stretch>
        </p:blipFill>
        <p:spPr>
          <a:xfrm>
            <a:off x="402336" y="3023006"/>
            <a:ext cx="201168" cy="201168"/>
          </a:xfrm>
          <a:prstGeom prst="rect">
            <a:avLst/>
          </a:prstGeom>
        </p:spPr>
      </p:pic>
      <p:sp>
        <p:nvSpPr>
          <p:cNvPr id="101" name="Text 76"/>
          <p:cNvSpPr/>
          <p:nvPr/>
        </p:nvSpPr>
        <p:spPr>
          <a:xfrm>
            <a:off x="694944" y="2728570"/>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LSP servers</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pyright · tsserver · gopls</a:t>
            </a:r>
            <a:endParaRPr lang="en-US" sz="900" dirty="0"/>
          </a:p>
        </p:txBody>
      </p:sp>
      <p:pic>
        <p:nvPicPr>
          <p:cNvPr id="102" name="Image 23" descr="/root/work/harness_slide/icons/sb_github.png">    </p:cNvPr>
          <p:cNvPicPr>
            <a:picLocks noChangeAspect="1"/>
          </p:cNvPicPr>
          <p:nvPr/>
        </p:nvPicPr>
        <p:blipFill>
          <a:blip r:embed="rId24"/>
          <a:stretch>
            <a:fillRect/>
          </a:stretch>
        </p:blipFill>
        <p:spPr>
          <a:xfrm>
            <a:off x="402336" y="3813048"/>
            <a:ext cx="201168" cy="201168"/>
          </a:xfrm>
          <a:prstGeom prst="rect">
            <a:avLst/>
          </a:prstGeom>
        </p:spPr>
      </p:pic>
      <p:sp>
        <p:nvSpPr>
          <p:cNvPr id="103" name="Text 77"/>
          <p:cNvSpPr/>
          <p:nvPr/>
        </p:nvSpPr>
        <p:spPr>
          <a:xfrm>
            <a:off x="694944" y="3518611"/>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GitHub</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PRs · issues · CI</a:t>
            </a:r>
            <a:endParaRPr lang="en-US" sz="900" dirty="0"/>
          </a:p>
        </p:txBody>
      </p:sp>
      <p:pic>
        <p:nvPicPr>
          <p:cNvPr id="104" name="Image 24" descr="/root/work/harness_slide/icons/sb_list.png">    </p:cNvPr>
          <p:cNvPicPr>
            <a:picLocks noChangeAspect="1"/>
          </p:cNvPicPr>
          <p:nvPr/>
        </p:nvPicPr>
        <p:blipFill>
          <a:blip r:embed="rId25"/>
          <a:stretch>
            <a:fillRect/>
          </a:stretch>
        </p:blipFill>
        <p:spPr>
          <a:xfrm>
            <a:off x="402336" y="4603090"/>
            <a:ext cx="201168" cy="201168"/>
          </a:xfrm>
          <a:prstGeom prst="rect">
            <a:avLst/>
          </a:prstGeom>
        </p:spPr>
      </p:pic>
      <p:sp>
        <p:nvSpPr>
          <p:cNvPr id="105" name="Text 78"/>
          <p:cNvSpPr/>
          <p:nvPr/>
        </p:nvSpPr>
        <p:spPr>
          <a:xfrm>
            <a:off x="694944" y="4308653"/>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Trackers</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Linear / Jira</a:t>
            </a:r>
            <a:endParaRPr lang="en-US" sz="900" dirty="0"/>
          </a:p>
        </p:txBody>
      </p:sp>
      <p:pic>
        <p:nvPicPr>
          <p:cNvPr id="106" name="Image 25" descr="/root/work/harness_slide/icons/sb_puzzle.png">    </p:cNvPr>
          <p:cNvPicPr>
            <a:picLocks noChangeAspect="1"/>
          </p:cNvPicPr>
          <p:nvPr/>
        </p:nvPicPr>
        <p:blipFill>
          <a:blip r:embed="rId26"/>
          <a:stretch>
            <a:fillRect/>
          </a:stretch>
        </p:blipFill>
        <p:spPr>
          <a:xfrm>
            <a:off x="402336" y="5393131"/>
            <a:ext cx="201168" cy="201168"/>
          </a:xfrm>
          <a:prstGeom prst="rect">
            <a:avLst/>
          </a:prstGeom>
        </p:spPr>
      </p:pic>
      <p:sp>
        <p:nvSpPr>
          <p:cNvPr id="107" name="Text 79"/>
          <p:cNvSpPr/>
          <p:nvPr/>
        </p:nvSpPr>
        <p:spPr>
          <a:xfrm>
            <a:off x="694944" y="5098694"/>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Official plugins</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superpowers · code-review</a:t>
            </a:r>
            <a:endParaRPr lang="en-US" sz="900" dirty="0"/>
          </a:p>
        </p:txBody>
      </p:sp>
      <p:sp>
        <p:nvSpPr>
          <p:cNvPr id="108" name="Shape 80"/>
          <p:cNvSpPr/>
          <p:nvPr/>
        </p:nvSpPr>
        <p:spPr>
          <a:xfrm>
            <a:off x="9905695" y="1280160"/>
            <a:ext cx="2029968" cy="4663440"/>
          </a:xfrm>
          <a:prstGeom prst="roundRect">
            <a:avLst>
              <a:gd name="adj" fmla="val 4054"/>
            </a:avLst>
          </a:prstGeom>
          <a:solidFill>
            <a:srgbClr val="F1E9D6"/>
          </a:solidFill>
          <a:ln w="12700">
            <a:solidFill>
              <a:srgbClr val="DCD0B6"/>
            </a:solidFill>
            <a:prstDash val="solid"/>
          </a:ln>
          <a:effectLst>
            <a:outerShdw sx="100000" sy="100000" kx="0" ky="0" algn="bl" rotWithShape="0" blurRad="50800" dist="12700" dir="5400000">
              <a:srgbClr val="8A8168">
                <a:alpha val="25000"/>
              </a:srgbClr>
            </a:outerShdw>
          </a:effectLst>
        </p:spPr>
      </p:sp>
      <p:sp>
        <p:nvSpPr>
          <p:cNvPr id="109" name="Shape 81"/>
          <p:cNvSpPr/>
          <p:nvPr/>
        </p:nvSpPr>
        <p:spPr>
          <a:xfrm>
            <a:off x="10051999" y="1426464"/>
            <a:ext cx="365760" cy="365760"/>
          </a:xfrm>
          <a:prstGeom prst="ellipse">
            <a:avLst/>
          </a:prstGeom>
          <a:solidFill>
            <a:srgbClr val="2A2E34"/>
          </a:solidFill>
          <a:ln/>
        </p:spPr>
      </p:sp>
      <p:pic>
        <p:nvPicPr>
          <p:cNvPr id="110" name="Image 26" descr="/root/work/harness_slide/icons/w_server.png">    </p:cNvPr>
          <p:cNvPicPr>
            <a:picLocks noChangeAspect="1"/>
          </p:cNvPicPr>
          <p:nvPr/>
        </p:nvPicPr>
        <p:blipFill>
          <a:blip r:embed="rId27"/>
          <a:stretch>
            <a:fillRect/>
          </a:stretch>
        </p:blipFill>
        <p:spPr>
          <a:xfrm>
            <a:off x="10143439" y="1517904"/>
            <a:ext cx="182880" cy="182880"/>
          </a:xfrm>
          <a:prstGeom prst="rect">
            <a:avLst/>
          </a:prstGeom>
        </p:spPr>
      </p:pic>
      <p:sp>
        <p:nvSpPr>
          <p:cNvPr id="111" name="Text 82"/>
          <p:cNvSpPr/>
          <p:nvPr/>
        </p:nvSpPr>
        <p:spPr>
          <a:xfrm>
            <a:off x="10509199" y="1408176"/>
            <a:ext cx="1371600" cy="402336"/>
          </a:xfrm>
          <a:prstGeom prst="rect">
            <a:avLst/>
          </a:prstGeom>
          <a:noFill/>
          <a:ln/>
        </p:spPr>
        <p:txBody>
          <a:bodyPr wrap="square" lIns="0" tIns="0" rIns="0" bIns="0" rtlCol="0" anchor="ctr"/>
          <a:lstStyle/>
          <a:p>
            <a:pPr indent="0" marL="0">
              <a:buNone/>
            </a:pPr>
            <a:r>
              <a:rPr lang="en-US" sz="1100" b="1" spc="50" kern="0" dirty="0">
                <a:solidFill>
                  <a:srgbClr val="2A2E34"/>
                </a:solidFill>
                <a:latin typeface="Calibri" pitchFamily="34" charset="0"/>
                <a:ea typeface="Calibri" pitchFamily="34" charset="-122"/>
                <a:cs typeface="Calibri" pitchFamily="34" charset="-120"/>
              </a:rPr>
              <a:t>RUNTIMES &amp; DELIVERY</a:t>
            </a:r>
            <a:endParaRPr lang="en-US" sz="1100" dirty="0"/>
          </a:p>
        </p:txBody>
      </p:sp>
      <p:pic>
        <p:nvPicPr>
          <p:cNvPr id="112" name="Image 27" descr="/root/work/harness_slide/icons/sb_server.png">    </p:cNvPr>
          <p:cNvPicPr>
            <a:picLocks noChangeAspect="1"/>
          </p:cNvPicPr>
          <p:nvPr/>
        </p:nvPicPr>
        <p:blipFill>
          <a:blip r:embed="rId28"/>
          <a:stretch>
            <a:fillRect/>
          </a:stretch>
        </p:blipFill>
        <p:spPr>
          <a:xfrm>
            <a:off x="10051999" y="2232965"/>
            <a:ext cx="201168" cy="201168"/>
          </a:xfrm>
          <a:prstGeom prst="rect">
            <a:avLst/>
          </a:prstGeom>
        </p:spPr>
      </p:pic>
      <p:sp>
        <p:nvSpPr>
          <p:cNvPr id="113" name="Text 83"/>
          <p:cNvSpPr/>
          <p:nvPr/>
        </p:nvSpPr>
        <p:spPr>
          <a:xfrm>
            <a:off x="10344607" y="1938528"/>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Two runtimes</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Local · Agent-Factory</a:t>
            </a:r>
            <a:endParaRPr lang="en-US" sz="900" dirty="0"/>
          </a:p>
        </p:txBody>
      </p:sp>
      <p:pic>
        <p:nvPicPr>
          <p:cNvPr id="114" name="Image 28" descr="/root/work/harness_slide/icons/sb_box.png">    </p:cNvPr>
          <p:cNvPicPr>
            <a:picLocks noChangeAspect="1"/>
          </p:cNvPicPr>
          <p:nvPr/>
        </p:nvPicPr>
        <p:blipFill>
          <a:blip r:embed="rId29"/>
          <a:stretch>
            <a:fillRect/>
          </a:stretch>
        </p:blipFill>
        <p:spPr>
          <a:xfrm>
            <a:off x="10051999" y="3023006"/>
            <a:ext cx="201168" cy="201168"/>
          </a:xfrm>
          <a:prstGeom prst="rect">
            <a:avLst/>
          </a:prstGeom>
        </p:spPr>
      </p:pic>
      <p:sp>
        <p:nvSpPr>
          <p:cNvPr id="115" name="Text 84"/>
          <p:cNvSpPr/>
          <p:nvPr/>
        </p:nvSpPr>
        <p:spPr>
          <a:xfrm>
            <a:off x="10344607" y="2728570"/>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SKUs</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core · full · lite</a:t>
            </a:r>
            <a:endParaRPr lang="en-US" sz="900" dirty="0"/>
          </a:p>
        </p:txBody>
      </p:sp>
      <p:pic>
        <p:nvPicPr>
          <p:cNvPr id="116" name="Image 29" descr="/root/work/harness_slide/icons/sb_compass.png">    </p:cNvPr>
          <p:cNvPicPr>
            <a:picLocks noChangeAspect="1"/>
          </p:cNvPicPr>
          <p:nvPr/>
        </p:nvPicPr>
        <p:blipFill>
          <a:blip r:embed="rId30"/>
          <a:stretch>
            <a:fillRect/>
          </a:stretch>
        </p:blipFill>
        <p:spPr>
          <a:xfrm>
            <a:off x="10051999" y="3813048"/>
            <a:ext cx="201168" cy="201168"/>
          </a:xfrm>
          <a:prstGeom prst="rect">
            <a:avLst/>
          </a:prstGeom>
        </p:spPr>
      </p:pic>
      <p:sp>
        <p:nvSpPr>
          <p:cNvPr id="117" name="Text 85"/>
          <p:cNvSpPr/>
          <p:nvPr/>
        </p:nvSpPr>
        <p:spPr>
          <a:xfrm>
            <a:off x="10344607" y="3518611"/>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Token Governor</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DeepWiki · code-graph</a:t>
            </a:r>
            <a:endParaRPr lang="en-US" sz="900" dirty="0"/>
          </a:p>
        </p:txBody>
      </p:sp>
      <p:pic>
        <p:nvPicPr>
          <p:cNvPr id="118" name="Image 30" descr="/root/work/harness_slide/icons/sb_usercheck.png">    </p:cNvPr>
          <p:cNvPicPr>
            <a:picLocks noChangeAspect="1"/>
          </p:cNvPicPr>
          <p:nvPr/>
        </p:nvPicPr>
        <p:blipFill>
          <a:blip r:embed="rId31"/>
          <a:stretch>
            <a:fillRect/>
          </a:stretch>
        </p:blipFill>
        <p:spPr>
          <a:xfrm>
            <a:off x="10051999" y="4603090"/>
            <a:ext cx="201168" cy="201168"/>
          </a:xfrm>
          <a:prstGeom prst="rect">
            <a:avLst/>
          </a:prstGeom>
        </p:spPr>
      </p:pic>
      <p:sp>
        <p:nvSpPr>
          <p:cNvPr id="119" name="Text 86"/>
          <p:cNvSpPr/>
          <p:nvPr/>
        </p:nvSpPr>
        <p:spPr>
          <a:xfrm>
            <a:off x="10344607" y="4308653"/>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Human review</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PR + proof; no auto-merge</a:t>
            </a:r>
            <a:endParaRPr lang="en-US" sz="900" dirty="0"/>
          </a:p>
        </p:txBody>
      </p:sp>
      <p:pic>
        <p:nvPicPr>
          <p:cNvPr id="120" name="Image 31" descr="/root/work/harness_slide/icons/sb_chart.png">    </p:cNvPr>
          <p:cNvPicPr>
            <a:picLocks noChangeAspect="1"/>
          </p:cNvPicPr>
          <p:nvPr/>
        </p:nvPicPr>
        <p:blipFill>
          <a:blip r:embed="rId32"/>
          <a:stretch>
            <a:fillRect/>
          </a:stretch>
        </p:blipFill>
        <p:spPr>
          <a:xfrm>
            <a:off x="10051999" y="5393131"/>
            <a:ext cx="201168" cy="201168"/>
          </a:xfrm>
          <a:prstGeom prst="rect">
            <a:avLst/>
          </a:prstGeom>
        </p:spPr>
      </p:pic>
      <p:sp>
        <p:nvSpPr>
          <p:cNvPr id="121" name="Text 87"/>
          <p:cNvSpPr/>
          <p:nvPr/>
        </p:nvSpPr>
        <p:spPr>
          <a:xfrm>
            <a:off x="10344607" y="5098694"/>
            <a:ext cx="1517904" cy="790042"/>
          </a:xfrm>
          <a:prstGeom prst="rect">
            <a:avLst/>
          </a:prstGeom>
          <a:noFill/>
          <a:ln/>
        </p:spPr>
        <p:txBody>
          <a:bodyPr wrap="square" lIns="0" tIns="0" rIns="0" bIns="0" rtlCol="0" anchor="ctr"/>
          <a:lstStyle/>
          <a:p>
            <a:pPr indent="0" marL="0">
              <a:lnSpc>
                <a:spcPct val="96000"/>
              </a:lnSpc>
              <a:buNone/>
            </a:pPr>
            <a:r>
              <a:rPr lang="en-US" sz="900" b="1" dirty="0">
                <a:solidFill>
                  <a:srgbClr val="22252A"/>
                </a:solidFill>
                <a:latin typeface="Calibri" pitchFamily="34" charset="0"/>
                <a:ea typeface="Calibri" pitchFamily="34" charset="-122"/>
                <a:cs typeface="Calibri" pitchFamily="34" charset="-120"/>
              </a:rPr>
              <a:t>Telemetry</a:t>
            </a:r>
            <a:endParaRPr lang="en-US" sz="900" dirty="0"/>
          </a:p>
          <a:p>
            <a:pPr indent="0" marL="0">
              <a:lnSpc>
                <a:spcPct val="96000"/>
              </a:lnSpc>
              <a:buNone/>
            </a:pPr>
            <a:r>
              <a:rPr lang="en-US" sz="750" dirty="0">
                <a:solidFill>
                  <a:srgbClr val="6C7078"/>
                </a:solidFill>
                <a:latin typeface="Calibri" pitchFamily="34" charset="0"/>
                <a:ea typeface="Calibri" pitchFamily="34" charset="-122"/>
                <a:cs typeface="Calibri" pitchFamily="34" charset="-120"/>
              </a:rPr>
              <a:t>Prometheus · Grafana</a:t>
            </a:r>
            <a:endParaRPr lang="en-US" sz="900" dirty="0"/>
          </a:p>
        </p:txBody>
      </p:sp>
      <p:sp>
        <p:nvSpPr>
          <p:cNvPr id="122" name="Shape 88"/>
          <p:cNvSpPr/>
          <p:nvPr/>
        </p:nvSpPr>
        <p:spPr>
          <a:xfrm>
            <a:off x="256032" y="6053328"/>
            <a:ext cx="11679631" cy="676656"/>
          </a:xfrm>
          <a:prstGeom prst="roundRect">
            <a:avLst>
              <a:gd name="adj" fmla="val 12162"/>
            </a:avLst>
          </a:prstGeom>
          <a:solidFill>
            <a:srgbClr val="F4EEDF"/>
          </a:solidFill>
          <a:ln w="12700">
            <a:solidFill>
              <a:srgbClr val="DCD0B6"/>
            </a:solidFill>
            <a:prstDash val="solid"/>
          </a:ln>
        </p:spPr>
      </p:sp>
      <p:sp>
        <p:nvSpPr>
          <p:cNvPr id="123" name="Shape 89"/>
          <p:cNvSpPr/>
          <p:nvPr/>
        </p:nvSpPr>
        <p:spPr>
          <a:xfrm>
            <a:off x="612648" y="6208776"/>
            <a:ext cx="365760" cy="365760"/>
          </a:xfrm>
          <a:prstGeom prst="ellipse">
            <a:avLst/>
          </a:prstGeom>
          <a:solidFill>
            <a:srgbClr val="2C6E49"/>
          </a:solidFill>
          <a:ln/>
        </p:spPr>
      </p:sp>
      <p:pic>
        <p:nvPicPr>
          <p:cNvPr id="124" name="Image 32" descr="/root/work/harness_slide/icons/w_file.png">    </p:cNvPr>
          <p:cNvPicPr>
            <a:picLocks noChangeAspect="1"/>
          </p:cNvPicPr>
          <p:nvPr/>
        </p:nvPicPr>
        <p:blipFill>
          <a:blip r:embed="rId33"/>
          <a:stretch>
            <a:fillRect/>
          </a:stretch>
        </p:blipFill>
        <p:spPr>
          <a:xfrm>
            <a:off x="713232" y="6309360"/>
            <a:ext cx="164592" cy="164592"/>
          </a:xfrm>
          <a:prstGeom prst="rect">
            <a:avLst/>
          </a:prstGeom>
        </p:spPr>
      </p:pic>
      <p:sp>
        <p:nvSpPr>
          <p:cNvPr id="125" name="Text 90"/>
          <p:cNvSpPr/>
          <p:nvPr/>
        </p:nvSpPr>
        <p:spPr>
          <a:xfrm>
            <a:off x="1024128"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Scaffold</a:t>
            </a:r>
            <a:endParaRPr lang="en-US" sz="950" dirty="0"/>
          </a:p>
        </p:txBody>
      </p:sp>
      <p:sp>
        <p:nvSpPr>
          <p:cNvPr id="126" name="Text 91"/>
          <p:cNvSpPr/>
          <p:nvPr/>
        </p:nvSpPr>
        <p:spPr>
          <a:xfrm>
            <a:off x="2159965" y="6053328"/>
            <a:ext cx="256032" cy="676656"/>
          </a:xfrm>
          <a:prstGeom prst="rect">
            <a:avLst/>
          </a:prstGeom>
          <a:noFill/>
          <a:ln/>
        </p:spPr>
        <p:txBody>
          <a:bodyPr wrap="square" lIns="0" tIns="0" rIns="0" bIns="0" rtlCol="0" anchor="ctr"/>
          <a:lstStyle/>
          <a:p>
            <a:pPr algn="ctr" indent="0" marL="0">
              <a:buNone/>
            </a:pPr>
            <a:r>
              <a:rPr lang="en-US" sz="1200" b="1" dirty="0">
                <a:solidFill>
                  <a:srgbClr val="9A9EA6"/>
                </a:solidFill>
                <a:latin typeface="Calibri" pitchFamily="34" charset="0"/>
                <a:ea typeface="Calibri" pitchFamily="34" charset="-122"/>
                <a:cs typeface="Calibri" pitchFamily="34" charset="-120"/>
              </a:rPr>
              <a:t>→</a:t>
            </a:r>
            <a:endParaRPr lang="en-US" sz="1200" dirty="0"/>
          </a:p>
        </p:txBody>
      </p:sp>
      <p:sp>
        <p:nvSpPr>
          <p:cNvPr id="127" name="Shape 92"/>
          <p:cNvSpPr/>
          <p:nvPr/>
        </p:nvSpPr>
        <p:spPr>
          <a:xfrm>
            <a:off x="2452573" y="6208776"/>
            <a:ext cx="365760" cy="365760"/>
          </a:xfrm>
          <a:prstGeom prst="ellipse">
            <a:avLst/>
          </a:prstGeom>
          <a:solidFill>
            <a:srgbClr val="1C7293"/>
          </a:solidFill>
          <a:ln/>
        </p:spPr>
      </p:sp>
      <p:pic>
        <p:nvPicPr>
          <p:cNvPr id="128" name="Image 33" descr="/root/work/harness_slide/icons/w_route.png">    </p:cNvPr>
          <p:cNvPicPr>
            <a:picLocks noChangeAspect="1"/>
          </p:cNvPicPr>
          <p:nvPr/>
        </p:nvPicPr>
        <p:blipFill>
          <a:blip r:embed="rId34"/>
          <a:stretch>
            <a:fillRect/>
          </a:stretch>
        </p:blipFill>
        <p:spPr>
          <a:xfrm>
            <a:off x="2553157" y="6309360"/>
            <a:ext cx="164592" cy="164592"/>
          </a:xfrm>
          <a:prstGeom prst="rect">
            <a:avLst/>
          </a:prstGeom>
        </p:spPr>
      </p:pic>
      <p:sp>
        <p:nvSpPr>
          <p:cNvPr id="129" name="Text 93"/>
          <p:cNvSpPr/>
          <p:nvPr/>
        </p:nvSpPr>
        <p:spPr>
          <a:xfrm>
            <a:off x="2864053"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Route lane</a:t>
            </a:r>
            <a:endParaRPr lang="en-US" sz="950" dirty="0"/>
          </a:p>
        </p:txBody>
      </p:sp>
      <p:sp>
        <p:nvSpPr>
          <p:cNvPr id="130" name="Text 94"/>
          <p:cNvSpPr/>
          <p:nvPr/>
        </p:nvSpPr>
        <p:spPr>
          <a:xfrm>
            <a:off x="3999890" y="6053328"/>
            <a:ext cx="256032" cy="676656"/>
          </a:xfrm>
          <a:prstGeom prst="rect">
            <a:avLst/>
          </a:prstGeom>
          <a:noFill/>
          <a:ln/>
        </p:spPr>
        <p:txBody>
          <a:bodyPr wrap="square" lIns="0" tIns="0" rIns="0" bIns="0" rtlCol="0" anchor="ctr"/>
          <a:lstStyle/>
          <a:p>
            <a:pPr algn="ctr" indent="0" marL="0">
              <a:buNone/>
            </a:pPr>
            <a:r>
              <a:rPr lang="en-US" sz="1200" b="1" dirty="0">
                <a:solidFill>
                  <a:srgbClr val="9A9EA6"/>
                </a:solidFill>
                <a:latin typeface="Calibri" pitchFamily="34" charset="0"/>
                <a:ea typeface="Calibri" pitchFamily="34" charset="-122"/>
                <a:cs typeface="Calibri" pitchFamily="34" charset="-120"/>
              </a:rPr>
              <a:t>→</a:t>
            </a:r>
            <a:endParaRPr lang="en-US" sz="1200" dirty="0"/>
          </a:p>
        </p:txBody>
      </p:sp>
      <p:sp>
        <p:nvSpPr>
          <p:cNvPr id="131" name="Shape 95"/>
          <p:cNvSpPr/>
          <p:nvPr/>
        </p:nvSpPr>
        <p:spPr>
          <a:xfrm>
            <a:off x="4292498" y="6208776"/>
            <a:ext cx="365760" cy="365760"/>
          </a:xfrm>
          <a:prstGeom prst="ellipse">
            <a:avLst/>
          </a:prstGeom>
          <a:solidFill>
            <a:srgbClr val="B07414"/>
          </a:solidFill>
          <a:ln/>
        </p:spPr>
      </p:sp>
      <p:pic>
        <p:nvPicPr>
          <p:cNvPr id="132" name="Image 34" descr="/root/work/harness_slide/icons/w_shield.png">    </p:cNvPr>
          <p:cNvPicPr>
            <a:picLocks noChangeAspect="1"/>
          </p:cNvPicPr>
          <p:nvPr/>
        </p:nvPicPr>
        <p:blipFill>
          <a:blip r:embed="rId35"/>
          <a:stretch>
            <a:fillRect/>
          </a:stretch>
        </p:blipFill>
        <p:spPr>
          <a:xfrm>
            <a:off x="4393082" y="6309360"/>
            <a:ext cx="164592" cy="164592"/>
          </a:xfrm>
          <a:prstGeom prst="rect">
            <a:avLst/>
          </a:prstGeom>
        </p:spPr>
      </p:pic>
      <p:sp>
        <p:nvSpPr>
          <p:cNvPr id="133" name="Text 96"/>
          <p:cNvSpPr/>
          <p:nvPr/>
        </p:nvSpPr>
        <p:spPr>
          <a:xfrm>
            <a:off x="4703978"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Enforce gates</a:t>
            </a:r>
            <a:endParaRPr lang="en-US" sz="950" dirty="0"/>
          </a:p>
        </p:txBody>
      </p:sp>
      <p:sp>
        <p:nvSpPr>
          <p:cNvPr id="134" name="Text 97"/>
          <p:cNvSpPr/>
          <p:nvPr/>
        </p:nvSpPr>
        <p:spPr>
          <a:xfrm>
            <a:off x="5839816" y="6053328"/>
            <a:ext cx="256032" cy="676656"/>
          </a:xfrm>
          <a:prstGeom prst="rect">
            <a:avLst/>
          </a:prstGeom>
          <a:noFill/>
          <a:ln/>
        </p:spPr>
        <p:txBody>
          <a:bodyPr wrap="square" lIns="0" tIns="0" rIns="0" bIns="0" rtlCol="0" anchor="ctr"/>
          <a:lstStyle/>
          <a:p>
            <a:pPr algn="ctr" indent="0" marL="0">
              <a:buNone/>
            </a:pPr>
            <a:r>
              <a:rPr lang="en-US" sz="1200" b="1" dirty="0">
                <a:solidFill>
                  <a:srgbClr val="9A9EA6"/>
                </a:solidFill>
                <a:latin typeface="Calibri" pitchFamily="34" charset="0"/>
                <a:ea typeface="Calibri" pitchFamily="34" charset="-122"/>
                <a:cs typeface="Calibri" pitchFamily="34" charset="-120"/>
              </a:rPr>
              <a:t>→</a:t>
            </a:r>
            <a:endParaRPr lang="en-US" sz="1200" dirty="0"/>
          </a:p>
        </p:txBody>
      </p:sp>
      <p:sp>
        <p:nvSpPr>
          <p:cNvPr id="135" name="Shape 98"/>
          <p:cNvSpPr/>
          <p:nvPr/>
        </p:nvSpPr>
        <p:spPr>
          <a:xfrm>
            <a:off x="6132424" y="6208776"/>
            <a:ext cx="365760" cy="365760"/>
          </a:xfrm>
          <a:prstGeom prst="ellipse">
            <a:avLst/>
          </a:prstGeom>
          <a:solidFill>
            <a:srgbClr val="6B4E9E"/>
          </a:solidFill>
          <a:ln/>
        </p:spPr>
      </p:sp>
      <p:pic>
        <p:nvPicPr>
          <p:cNvPr id="136" name="Image 35" descr="/root/work/harness_slide/icons/w_users.png">    </p:cNvPr>
          <p:cNvPicPr>
            <a:picLocks noChangeAspect="1"/>
          </p:cNvPicPr>
          <p:nvPr/>
        </p:nvPicPr>
        <p:blipFill>
          <a:blip r:embed="rId36"/>
          <a:stretch>
            <a:fillRect/>
          </a:stretch>
        </p:blipFill>
        <p:spPr>
          <a:xfrm>
            <a:off x="6233008" y="6309360"/>
            <a:ext cx="164592" cy="164592"/>
          </a:xfrm>
          <a:prstGeom prst="rect">
            <a:avLst/>
          </a:prstGeom>
        </p:spPr>
      </p:pic>
      <p:sp>
        <p:nvSpPr>
          <p:cNvPr id="137" name="Text 99"/>
          <p:cNvSpPr/>
          <p:nvPr/>
        </p:nvSpPr>
        <p:spPr>
          <a:xfrm>
            <a:off x="6543904"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Build &amp; judge</a:t>
            </a:r>
            <a:endParaRPr lang="en-US" sz="950" dirty="0"/>
          </a:p>
        </p:txBody>
      </p:sp>
      <p:sp>
        <p:nvSpPr>
          <p:cNvPr id="138" name="Text 100"/>
          <p:cNvSpPr/>
          <p:nvPr/>
        </p:nvSpPr>
        <p:spPr>
          <a:xfrm>
            <a:off x="7679741" y="6053328"/>
            <a:ext cx="256032" cy="676656"/>
          </a:xfrm>
          <a:prstGeom prst="rect">
            <a:avLst/>
          </a:prstGeom>
          <a:noFill/>
          <a:ln/>
        </p:spPr>
        <p:txBody>
          <a:bodyPr wrap="square" lIns="0" tIns="0" rIns="0" bIns="0" rtlCol="0" anchor="ctr"/>
          <a:lstStyle/>
          <a:p>
            <a:pPr algn="ctr" indent="0" marL="0">
              <a:buNone/>
            </a:pPr>
            <a:r>
              <a:rPr lang="en-US" sz="1200" b="1" dirty="0">
                <a:solidFill>
                  <a:srgbClr val="9A9EA6"/>
                </a:solidFill>
                <a:latin typeface="Calibri" pitchFamily="34" charset="0"/>
                <a:ea typeface="Calibri" pitchFamily="34" charset="-122"/>
                <a:cs typeface="Calibri" pitchFamily="34" charset="-120"/>
              </a:rPr>
              <a:t>→</a:t>
            </a:r>
            <a:endParaRPr lang="en-US" sz="1200" dirty="0"/>
          </a:p>
        </p:txBody>
      </p:sp>
      <p:sp>
        <p:nvSpPr>
          <p:cNvPr id="139" name="Shape 101"/>
          <p:cNvSpPr/>
          <p:nvPr/>
        </p:nvSpPr>
        <p:spPr>
          <a:xfrm>
            <a:off x="7972349" y="6208776"/>
            <a:ext cx="365760" cy="365760"/>
          </a:xfrm>
          <a:prstGeom prst="ellipse">
            <a:avLst/>
          </a:prstGeom>
          <a:solidFill>
            <a:srgbClr val="1F5132"/>
          </a:solidFill>
          <a:ln/>
        </p:spPr>
      </p:sp>
      <p:pic>
        <p:nvPicPr>
          <p:cNvPr id="140" name="Image 36" descr="/root/work/harness_slide/icons/w_gauge.png">    </p:cNvPr>
          <p:cNvPicPr>
            <a:picLocks noChangeAspect="1"/>
          </p:cNvPicPr>
          <p:nvPr/>
        </p:nvPicPr>
        <p:blipFill>
          <a:blip r:embed="rId37"/>
          <a:stretch>
            <a:fillRect/>
          </a:stretch>
        </p:blipFill>
        <p:spPr>
          <a:xfrm>
            <a:off x="8072933" y="6309360"/>
            <a:ext cx="164592" cy="164592"/>
          </a:xfrm>
          <a:prstGeom prst="rect">
            <a:avLst/>
          </a:prstGeom>
        </p:spPr>
      </p:pic>
      <p:sp>
        <p:nvSpPr>
          <p:cNvPr id="141" name="Text 102"/>
          <p:cNvSpPr/>
          <p:nvPr/>
        </p:nvSpPr>
        <p:spPr>
          <a:xfrm>
            <a:off x="8383829"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Ratchet quality</a:t>
            </a:r>
            <a:endParaRPr lang="en-US" sz="950" dirty="0"/>
          </a:p>
        </p:txBody>
      </p:sp>
      <p:sp>
        <p:nvSpPr>
          <p:cNvPr id="142" name="Text 103"/>
          <p:cNvSpPr/>
          <p:nvPr/>
        </p:nvSpPr>
        <p:spPr>
          <a:xfrm>
            <a:off x="9519666" y="6053328"/>
            <a:ext cx="256032" cy="676656"/>
          </a:xfrm>
          <a:prstGeom prst="rect">
            <a:avLst/>
          </a:prstGeom>
          <a:noFill/>
          <a:ln/>
        </p:spPr>
        <p:txBody>
          <a:bodyPr wrap="square" lIns="0" tIns="0" rIns="0" bIns="0" rtlCol="0" anchor="ctr"/>
          <a:lstStyle/>
          <a:p>
            <a:pPr algn="ctr" indent="0" marL="0">
              <a:buNone/>
            </a:pPr>
            <a:r>
              <a:rPr lang="en-US" sz="1200" b="1" dirty="0">
                <a:solidFill>
                  <a:srgbClr val="9A9EA6"/>
                </a:solidFill>
                <a:latin typeface="Calibri" pitchFamily="34" charset="0"/>
                <a:ea typeface="Calibri" pitchFamily="34" charset="-122"/>
                <a:cs typeface="Calibri" pitchFamily="34" charset="-120"/>
              </a:rPr>
              <a:t>→</a:t>
            </a:r>
            <a:endParaRPr lang="en-US" sz="1200" dirty="0"/>
          </a:p>
        </p:txBody>
      </p:sp>
      <p:sp>
        <p:nvSpPr>
          <p:cNvPr id="143" name="Shape 104"/>
          <p:cNvSpPr/>
          <p:nvPr/>
        </p:nvSpPr>
        <p:spPr>
          <a:xfrm>
            <a:off x="9812274" y="6208776"/>
            <a:ext cx="365760" cy="365760"/>
          </a:xfrm>
          <a:prstGeom prst="ellipse">
            <a:avLst/>
          </a:prstGeom>
          <a:solidFill>
            <a:srgbClr val="22252A"/>
          </a:solidFill>
          <a:ln/>
        </p:spPr>
      </p:sp>
      <p:pic>
        <p:nvPicPr>
          <p:cNvPr id="144" name="Image 37" descr="/root/work/harness_slide/icons/w_usercheck.png">    </p:cNvPr>
          <p:cNvPicPr>
            <a:picLocks noChangeAspect="1"/>
          </p:cNvPicPr>
          <p:nvPr/>
        </p:nvPicPr>
        <p:blipFill>
          <a:blip r:embed="rId38"/>
          <a:stretch>
            <a:fillRect/>
          </a:stretch>
        </p:blipFill>
        <p:spPr>
          <a:xfrm>
            <a:off x="9912858" y="6309360"/>
            <a:ext cx="164592" cy="164592"/>
          </a:xfrm>
          <a:prstGeom prst="rect">
            <a:avLst/>
          </a:prstGeom>
        </p:spPr>
      </p:pic>
      <p:sp>
        <p:nvSpPr>
          <p:cNvPr id="145" name="Text 105"/>
          <p:cNvSpPr/>
          <p:nvPr/>
        </p:nvSpPr>
        <p:spPr>
          <a:xfrm>
            <a:off x="10223754" y="6053328"/>
            <a:ext cx="1181557" cy="676656"/>
          </a:xfrm>
          <a:prstGeom prst="rect">
            <a:avLst/>
          </a:prstGeom>
          <a:noFill/>
          <a:ln/>
        </p:spPr>
        <p:txBody>
          <a:bodyPr wrap="square" lIns="0" tIns="0" rIns="0" bIns="0" rtlCol="0" anchor="ctr"/>
          <a:lstStyle/>
          <a:p>
            <a:pPr indent="0" marL="0">
              <a:buNone/>
            </a:pPr>
            <a:r>
              <a:rPr lang="en-US" sz="950" b="1" dirty="0">
                <a:solidFill>
                  <a:srgbClr val="22252A"/>
                </a:solidFill>
                <a:latin typeface="Calibri" pitchFamily="34" charset="0"/>
                <a:ea typeface="Calibri" pitchFamily="34" charset="-122"/>
                <a:cs typeface="Calibri" pitchFamily="34" charset="-120"/>
              </a:rPr>
              <a:t>Human merges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A2E34"/>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06</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A2E34"/>
                </a:solidFill>
                <a:latin typeface="Calibri" pitchFamily="34" charset="0"/>
                <a:ea typeface="Calibri" pitchFamily="34" charset="-122"/>
                <a:cs typeface="Calibri" pitchFamily="34" charset="-120"/>
              </a:rPr>
              <a:t>FOUNDATIONS</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Two patterns do the heavy lifting</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Every other mechanism in the platform is an elaboration of these two ideas working together: honest verification at each step, and verified quality that is never lost.</a:t>
            </a:r>
            <a:endParaRPr lang="en-US" sz="1150" dirty="0"/>
          </a:p>
        </p:txBody>
      </p:sp>
      <p:sp>
        <p:nvSpPr>
          <p:cNvPr id="7" name="Shape 5"/>
          <p:cNvSpPr/>
          <p:nvPr/>
        </p:nvSpPr>
        <p:spPr>
          <a:xfrm>
            <a:off x="502920" y="1874520"/>
            <a:ext cx="5410048" cy="3977640"/>
          </a:xfrm>
          <a:prstGeom prst="roundRect">
            <a:avLst>
              <a:gd name="adj" fmla="val 2069"/>
            </a:avLst>
          </a:prstGeom>
          <a:solidFill>
            <a:srgbClr val="FFFFFF"/>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758952" y="2148840"/>
            <a:ext cx="548640" cy="548640"/>
          </a:xfrm>
          <a:prstGeom prst="ellipse">
            <a:avLst/>
          </a:prstGeom>
          <a:solidFill>
            <a:srgbClr val="6B4E9E"/>
          </a:solidFill>
          <a:ln/>
        </p:spPr>
      </p:sp>
      <p:pic>
        <p:nvPicPr>
          <p:cNvPr id="9" name="Image 0" descr="/root/work/harness_slide/icons/w_users.png">    </p:cNvPr>
          <p:cNvPicPr>
            <a:picLocks noChangeAspect="1"/>
          </p:cNvPicPr>
          <p:nvPr/>
        </p:nvPicPr>
        <p:blipFill>
          <a:blip r:embed="rId1"/>
          <a:stretch>
            <a:fillRect/>
          </a:stretch>
        </p:blipFill>
        <p:spPr>
          <a:xfrm>
            <a:off x="923544" y="2313432"/>
            <a:ext cx="219456" cy="219456"/>
          </a:xfrm>
          <a:prstGeom prst="rect">
            <a:avLst/>
          </a:prstGeom>
        </p:spPr>
      </p:pic>
      <p:sp>
        <p:nvSpPr>
          <p:cNvPr id="10" name="Text 7"/>
          <p:cNvSpPr/>
          <p:nvPr/>
        </p:nvSpPr>
        <p:spPr>
          <a:xfrm>
            <a:off x="1463040" y="2148840"/>
            <a:ext cx="4312768" cy="548640"/>
          </a:xfrm>
          <a:prstGeom prst="rect">
            <a:avLst/>
          </a:prstGeom>
          <a:noFill/>
          <a:ln/>
        </p:spPr>
        <p:txBody>
          <a:bodyPr wrap="square" lIns="0" tIns="0" rIns="0" bIns="0" rtlCol="0" anchor="ctr"/>
          <a:lstStyle/>
          <a:p>
            <a:pPr indent="0" marL="0">
              <a:buNone/>
            </a:pPr>
            <a:r>
              <a:rPr lang="en-US" sz="1500" b="1" dirty="0">
                <a:solidFill>
                  <a:srgbClr val="6B4E9E"/>
                </a:solidFill>
                <a:latin typeface="Calibri" pitchFamily="34" charset="0"/>
                <a:ea typeface="Calibri" pitchFamily="34" charset="-122"/>
                <a:cs typeface="Calibri" pitchFamily="34" charset="-120"/>
              </a:rPr>
              <a:t>GAN — separation of concerns</a:t>
            </a:r>
            <a:endParaRPr lang="en-US" sz="1500" dirty="0"/>
          </a:p>
        </p:txBody>
      </p:sp>
      <p:sp>
        <p:nvSpPr>
          <p:cNvPr id="11" name="Text 8"/>
          <p:cNvSpPr/>
          <p:nvPr/>
        </p:nvSpPr>
        <p:spPr>
          <a:xfrm>
            <a:off x="777240" y="2926080"/>
            <a:ext cx="4861408" cy="1828800"/>
          </a:xfrm>
          <a:prstGeom prst="rect">
            <a:avLst/>
          </a:prstGeom>
          <a:noFill/>
          <a:ln/>
        </p:spPr>
        <p:txBody>
          <a:bodyPr wrap="square" lIns="0" tIns="0" rIns="0" bIns="0" rtlCol="0" anchor="t"/>
          <a:lstStyle/>
          <a:p>
            <a:pPr indent="0" marL="0">
              <a:lnSpc>
                <a:spcPct val="105000"/>
              </a:lnSpc>
              <a:spcAft>
                <a:spcPts val="800"/>
              </a:spcAft>
              <a:buNone/>
            </a:pPr>
            <a:r>
              <a:rPr lang="en-US" sz="1080" dirty="0">
                <a:solidFill>
                  <a:srgbClr val="22252A"/>
                </a:solidFill>
                <a:latin typeface="Calibri" pitchFamily="34" charset="0"/>
                <a:ea typeface="Calibri" pitchFamily="34" charset="-122"/>
                <a:cs typeface="Calibri" pitchFamily="34" charset="-120"/>
              </a:rPr>
              <a:t>The generator writes code and cannot evaluate. The evaluator runs the app and cannot write code. Neither can do the other's job — so self-evaluation bias is removed by construction.</a:t>
            </a:r>
            <a:endParaRPr lang="en-US" sz="1080" dirty="0"/>
          </a:p>
          <a:p>
            <a:pPr indent="0" marL="0">
              <a:lnSpc>
                <a:spcPct val="105000"/>
              </a:lnSpc>
              <a:buNone/>
            </a:pPr>
            <a:r>
              <a:rPr lang="en-US" sz="1030" i="1" dirty="0">
                <a:solidFill>
                  <a:srgbClr val="6C7078"/>
                </a:solidFill>
                <a:latin typeface="Calibri" pitchFamily="34" charset="0"/>
                <a:ea typeface="Calibri" pitchFamily="34" charset="-122"/>
                <a:cs typeface="Calibri" pitchFamily="34" charset="-120"/>
              </a:rPr>
              <a:t>Generator  →  proposes sprint contract  →  Evaluator finalizes (2 calls, immutable)  →  Generator implements (TDD)  →  Evaluator runs API + browser + vision + security  →  binary PASS / FAIL + structured failure.</a:t>
            </a:r>
            <a:endParaRPr lang="en-US" sz="1080" dirty="0"/>
          </a:p>
        </p:txBody>
      </p:sp>
      <p:sp>
        <p:nvSpPr>
          <p:cNvPr id="12" name="Shape 9"/>
          <p:cNvSpPr/>
          <p:nvPr/>
        </p:nvSpPr>
        <p:spPr>
          <a:xfrm>
            <a:off x="740664" y="5138928"/>
            <a:ext cx="4934560" cy="548640"/>
          </a:xfrm>
          <a:prstGeom prst="roundRect">
            <a:avLst>
              <a:gd name="adj" fmla="val 11667"/>
            </a:avLst>
          </a:prstGeom>
          <a:solidFill>
            <a:srgbClr val="ECE6F4"/>
          </a:solidFill>
          <a:ln w="12700">
            <a:solidFill>
              <a:srgbClr val="DBCFEC"/>
            </a:solidFill>
            <a:prstDash val="solid"/>
          </a:ln>
        </p:spPr>
      </p:sp>
      <p:sp>
        <p:nvSpPr>
          <p:cNvPr id="13" name="Text 10"/>
          <p:cNvSpPr/>
          <p:nvPr/>
        </p:nvSpPr>
        <p:spPr>
          <a:xfrm>
            <a:off x="886968" y="5138928"/>
            <a:ext cx="4678528" cy="548640"/>
          </a:xfrm>
          <a:prstGeom prst="rect">
            <a:avLst/>
          </a:prstGeom>
          <a:noFill/>
          <a:ln/>
        </p:spPr>
        <p:txBody>
          <a:bodyPr wrap="square" lIns="0" tIns="0" rIns="0" bIns="0" rtlCol="0" anchor="ctr"/>
          <a:lstStyle/>
          <a:p>
            <a:pPr indent="0" marL="0">
              <a:buNone/>
            </a:pPr>
            <a:r>
              <a:rPr lang="en-US" sz="980" b="1" dirty="0">
                <a:solidFill>
                  <a:srgbClr val="6B4E9E"/>
                </a:solidFill>
                <a:latin typeface="Calibri" pitchFamily="34" charset="0"/>
                <a:ea typeface="Calibri" pitchFamily="34" charset="-122"/>
                <a:cs typeface="Calibri" pitchFamily="34" charset="-120"/>
              </a:rPr>
              <a:t>Eliminates confirmation bias, rationalization, and scope creep — the three biases of self-grading agents.</a:t>
            </a:r>
            <a:endParaRPr lang="en-US" sz="980" dirty="0"/>
          </a:p>
        </p:txBody>
      </p:sp>
      <p:sp>
        <p:nvSpPr>
          <p:cNvPr id="14" name="Shape 11"/>
          <p:cNvSpPr/>
          <p:nvPr/>
        </p:nvSpPr>
        <p:spPr>
          <a:xfrm>
            <a:off x="6278728" y="1874520"/>
            <a:ext cx="5410048" cy="3977640"/>
          </a:xfrm>
          <a:prstGeom prst="roundRect">
            <a:avLst>
              <a:gd name="adj" fmla="val 2069"/>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15" name="Shape 12"/>
          <p:cNvSpPr/>
          <p:nvPr/>
        </p:nvSpPr>
        <p:spPr>
          <a:xfrm>
            <a:off x="6534760" y="2148840"/>
            <a:ext cx="548640" cy="548640"/>
          </a:xfrm>
          <a:prstGeom prst="ellipse">
            <a:avLst/>
          </a:prstGeom>
          <a:solidFill>
            <a:srgbClr val="1F5132"/>
          </a:solidFill>
          <a:ln/>
        </p:spPr>
      </p:sp>
      <p:pic>
        <p:nvPicPr>
          <p:cNvPr id="16" name="Image 1" descr="/root/work/harness_slide/icons/w_gauge.png">    </p:cNvPr>
          <p:cNvPicPr>
            <a:picLocks noChangeAspect="1"/>
          </p:cNvPicPr>
          <p:nvPr/>
        </p:nvPicPr>
        <p:blipFill>
          <a:blip r:embed="rId2"/>
          <a:stretch>
            <a:fillRect/>
          </a:stretch>
        </p:blipFill>
        <p:spPr>
          <a:xfrm>
            <a:off x="6699352" y="2313432"/>
            <a:ext cx="219456" cy="219456"/>
          </a:xfrm>
          <a:prstGeom prst="rect">
            <a:avLst/>
          </a:prstGeom>
        </p:spPr>
      </p:pic>
      <p:sp>
        <p:nvSpPr>
          <p:cNvPr id="17" name="Text 13"/>
          <p:cNvSpPr/>
          <p:nvPr/>
        </p:nvSpPr>
        <p:spPr>
          <a:xfrm>
            <a:off x="7238848" y="2148840"/>
            <a:ext cx="4312768" cy="548640"/>
          </a:xfrm>
          <a:prstGeom prst="rect">
            <a:avLst/>
          </a:prstGeom>
          <a:noFill/>
          <a:ln/>
        </p:spPr>
        <p:txBody>
          <a:bodyPr wrap="square" lIns="0" tIns="0" rIns="0" bIns="0" rtlCol="0" anchor="ctr"/>
          <a:lstStyle/>
          <a:p>
            <a:pPr indent="0" marL="0">
              <a:buNone/>
            </a:pPr>
            <a:r>
              <a:rPr lang="en-US" sz="1500" b="1" dirty="0">
                <a:solidFill>
                  <a:srgbClr val="1F5132"/>
                </a:solidFill>
                <a:latin typeface="Calibri" pitchFamily="34" charset="0"/>
                <a:ea typeface="Calibri" pitchFamily="34" charset="-122"/>
                <a:cs typeface="Calibri" pitchFamily="34" charset="-120"/>
              </a:rPr>
              <a:t>Ratchet — monotonic progress</a:t>
            </a:r>
            <a:endParaRPr lang="en-US" sz="1500" dirty="0"/>
          </a:p>
        </p:txBody>
      </p:sp>
      <p:sp>
        <p:nvSpPr>
          <p:cNvPr id="18" name="Text 14"/>
          <p:cNvSpPr/>
          <p:nvPr/>
        </p:nvSpPr>
        <p:spPr>
          <a:xfrm>
            <a:off x="6553048" y="2926080"/>
            <a:ext cx="4861408" cy="1828800"/>
          </a:xfrm>
          <a:prstGeom prst="rect">
            <a:avLst/>
          </a:prstGeom>
          <a:noFill/>
          <a:ln/>
        </p:spPr>
        <p:txBody>
          <a:bodyPr wrap="square" lIns="0" tIns="0" rIns="0" bIns="0" rtlCol="0" anchor="t"/>
          <a:lstStyle/>
          <a:p>
            <a:pPr indent="0" marL="0">
              <a:lnSpc>
                <a:spcPct val="105000"/>
              </a:lnSpc>
              <a:spcAft>
                <a:spcPts val="800"/>
              </a:spcAft>
              <a:buNone/>
            </a:pPr>
            <a:r>
              <a:rPr lang="en-US" sz="1080" dirty="0">
                <a:solidFill>
                  <a:srgbClr val="22252A"/>
                </a:solidFill>
                <a:latin typeface="Calibri" pitchFamily="34" charset="0"/>
                <a:ea typeface="Calibri" pitchFamily="34" charset="-122"/>
                <a:cs typeface="Calibri" pitchFamily="34" charset="-120"/>
              </a:rPr>
              <a:t>Every metric can only move forward. Once coverage reaches a baseline it never drops below it; once a rule is learned it is never deleted. Progress is monotonic and quality accumulates across sessions.</a:t>
            </a:r>
            <a:endParaRPr lang="en-US" sz="1080" dirty="0"/>
          </a:p>
          <a:p>
            <a:pPr indent="0" marL="0">
              <a:lnSpc>
                <a:spcPct val="105000"/>
              </a:lnSpc>
              <a:buNone/>
            </a:pPr>
            <a:r>
              <a:rPr lang="en-US" sz="1030" i="1" dirty="0">
                <a:solidFill>
                  <a:srgbClr val="6C7078"/>
                </a:solidFill>
                <a:latin typeface="Calibri" pitchFamily="34" charset="0"/>
                <a:ea typeface="Calibri" pitchFamily="34" charset="-122"/>
                <a:cs typeface="Calibri" pitchFamily="34" charset="-120"/>
              </a:rPr>
              <a:t>8 sequential gates: tests → lint/types → coverage (floor 80%) → architecture → evaluator → design critic → security → fresh-context review. A below-baseline commit is rejected before it exists.</a:t>
            </a:r>
            <a:endParaRPr lang="en-US" sz="1080" dirty="0"/>
          </a:p>
        </p:txBody>
      </p:sp>
      <p:sp>
        <p:nvSpPr>
          <p:cNvPr id="19" name="Shape 15"/>
          <p:cNvSpPr/>
          <p:nvPr/>
        </p:nvSpPr>
        <p:spPr>
          <a:xfrm>
            <a:off x="6516472" y="5138928"/>
            <a:ext cx="4934560" cy="548640"/>
          </a:xfrm>
          <a:prstGeom prst="roundRect">
            <a:avLst>
              <a:gd name="adj" fmla="val 11667"/>
            </a:avLst>
          </a:prstGeom>
          <a:solidFill>
            <a:srgbClr val="E4EEE7"/>
          </a:solidFill>
          <a:ln w="12700">
            <a:solidFill>
              <a:srgbClr val="CFE0D5"/>
            </a:solidFill>
            <a:prstDash val="solid"/>
          </a:ln>
        </p:spPr>
      </p:sp>
      <p:sp>
        <p:nvSpPr>
          <p:cNvPr id="20" name="Text 16"/>
          <p:cNvSpPr/>
          <p:nvPr/>
        </p:nvSpPr>
        <p:spPr>
          <a:xfrm>
            <a:off x="6662776" y="5138928"/>
            <a:ext cx="4678528" cy="548640"/>
          </a:xfrm>
          <a:prstGeom prst="rect">
            <a:avLst/>
          </a:prstGeom>
          <a:noFill/>
          <a:ln/>
        </p:spPr>
        <p:txBody>
          <a:bodyPr wrap="square" lIns="0" tIns="0" rIns="0" bIns="0" rtlCol="0" anchor="ctr"/>
          <a:lstStyle/>
          <a:p>
            <a:pPr indent="0" marL="0">
              <a:buNone/>
            </a:pPr>
            <a:r>
              <a:rPr lang="en-US" sz="980" b="1" dirty="0">
                <a:solidFill>
                  <a:srgbClr val="1F5132"/>
                </a:solidFill>
                <a:latin typeface="Calibri" pitchFamily="34" charset="0"/>
                <a:ea typeface="Calibri" pitchFamily="34" charset="-122"/>
                <a:cs typeface="Calibri" pitchFamily="34" charset="-120"/>
              </a:rPr>
              <a:t>Coverage is verification, not vanity: any uncovered line is an unambiguous signal the agent didn't double-check its own work.</a:t>
            </a:r>
            <a:endParaRPr lang="en-US" sz="980" dirty="0"/>
          </a:p>
        </p:txBody>
      </p:sp>
      <p:sp>
        <p:nvSpPr>
          <p:cNvPr id="21" name="Text 1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GAN + Ratchet</a:t>
            </a:r>
            <a:endParaRPr lang="en-US" sz="850" dirty="0"/>
          </a:p>
        </p:txBody>
      </p:sp>
      <p:sp>
        <p:nvSpPr>
          <p:cNvPr id="22" name="Text 1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06 / 21</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C6E49"/>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07</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C6E49"/>
                </a:solidFill>
                <a:latin typeface="Calibri" pitchFamily="34" charset="0"/>
                <a:ea typeface="Calibri" pitchFamily="34" charset="-122"/>
                <a:cs typeface="Calibri" pitchFamily="34" charset="-120"/>
              </a:rPr>
              <a:t>LAYER 1 · SCAFFOLD &amp; MEMORY</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The constitution: one command bootstraps the whole system</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Before any code is written, /scaffold installs the control system into the repo and writes the always-loaded rules that govern every agent turn. This is what makes two runs on two machines behave the same way.</a:t>
            </a:r>
            <a:endParaRPr lang="en-US" sz="1150" dirty="0"/>
          </a:p>
        </p:txBody>
      </p:sp>
      <p:sp>
        <p:nvSpPr>
          <p:cNvPr id="7" name="Shape 5"/>
          <p:cNvSpPr/>
          <p:nvPr/>
        </p:nvSpPr>
        <p:spPr>
          <a:xfrm>
            <a:off x="502920" y="1828800"/>
            <a:ext cx="11185855" cy="987552"/>
          </a:xfrm>
          <a:prstGeom prst="roundRect">
            <a:avLst>
              <a:gd name="adj" fmla="val 7407"/>
            </a:avLst>
          </a:prstGeom>
          <a:solidFill>
            <a:srgbClr val="FFFFFF"/>
          </a:solidFill>
          <a:ln w="12700">
            <a:solidFill>
              <a:srgbClr val="D6E7DB"/>
            </a:solidFill>
            <a:prstDash val="solid"/>
          </a:ln>
        </p:spPr>
      </p:sp>
      <p:sp>
        <p:nvSpPr>
          <p:cNvPr id="8" name="Shape 6"/>
          <p:cNvSpPr/>
          <p:nvPr/>
        </p:nvSpPr>
        <p:spPr>
          <a:xfrm>
            <a:off x="731520" y="2093976"/>
            <a:ext cx="457200" cy="457200"/>
          </a:xfrm>
          <a:prstGeom prst="ellipse">
            <a:avLst/>
          </a:prstGeom>
          <a:solidFill>
            <a:srgbClr val="2C6E49"/>
          </a:solidFill>
          <a:ln/>
        </p:spPr>
      </p:sp>
      <p:pic>
        <p:nvPicPr>
          <p:cNvPr id="9" name="Image 0" descr="/root/work/harness_slide/icons/l1_file.png">    </p:cNvPr>
          <p:cNvPicPr>
            <a:picLocks noChangeAspect="1"/>
          </p:cNvPicPr>
          <p:nvPr/>
        </p:nvPicPr>
        <p:blipFill>
          <a:blip r:embed="rId1"/>
          <a:stretch>
            <a:fillRect/>
          </a:stretch>
        </p:blipFill>
        <p:spPr>
          <a:xfrm>
            <a:off x="868680" y="2231136"/>
            <a:ext cx="182880" cy="182880"/>
          </a:xfrm>
          <a:prstGeom prst="rect">
            <a:avLst/>
          </a:prstGeom>
        </p:spPr>
      </p:pic>
      <p:sp>
        <p:nvSpPr>
          <p:cNvPr id="10" name="Text 7"/>
          <p:cNvSpPr/>
          <p:nvPr/>
        </p:nvSpPr>
        <p:spPr>
          <a:xfrm>
            <a:off x="1371600" y="1938528"/>
            <a:ext cx="2743200" cy="768096"/>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CLAUDE.md</a:t>
            </a:r>
            <a:endParaRPr lang="en-US" sz="1300" dirty="0"/>
          </a:p>
        </p:txBody>
      </p:sp>
      <p:sp>
        <p:nvSpPr>
          <p:cNvPr id="11" name="Text 8"/>
          <p:cNvSpPr/>
          <p:nvPr/>
        </p:nvSpPr>
        <p:spPr>
          <a:xfrm>
            <a:off x="4251960" y="1920240"/>
            <a:ext cx="7208215" cy="804672"/>
          </a:xfrm>
          <a:prstGeom prst="rect">
            <a:avLst/>
          </a:prstGeom>
          <a:noFill/>
          <a:ln/>
        </p:spPr>
        <p:txBody>
          <a:bodyPr wrap="square" lIns="0" tIns="0" rIns="0" bIns="0" rtlCol="0" anchor="ctr"/>
          <a:lstStyle/>
          <a:p>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Always-loaded project constitution — Karpathy coding principles, large-codebase practices, and prompt-cache discipline. Injected into every turn's cached prefix.</a:t>
            </a:r>
            <a:endParaRPr lang="en-US" sz="1030" dirty="0"/>
          </a:p>
        </p:txBody>
      </p:sp>
      <p:sp>
        <p:nvSpPr>
          <p:cNvPr id="12" name="Shape 9"/>
          <p:cNvSpPr/>
          <p:nvPr/>
        </p:nvSpPr>
        <p:spPr>
          <a:xfrm>
            <a:off x="502920" y="2862072"/>
            <a:ext cx="11185855" cy="987552"/>
          </a:xfrm>
          <a:prstGeom prst="roundRect">
            <a:avLst>
              <a:gd name="adj" fmla="val 7407"/>
            </a:avLst>
          </a:prstGeom>
          <a:solidFill>
            <a:srgbClr val="E7F1E9"/>
          </a:solidFill>
          <a:ln w="12700">
            <a:solidFill>
              <a:srgbClr val="D6E7DB"/>
            </a:solidFill>
            <a:prstDash val="solid"/>
          </a:ln>
        </p:spPr>
      </p:sp>
      <p:sp>
        <p:nvSpPr>
          <p:cNvPr id="13" name="Shape 10"/>
          <p:cNvSpPr/>
          <p:nvPr/>
        </p:nvSpPr>
        <p:spPr>
          <a:xfrm>
            <a:off x="731520" y="3127248"/>
            <a:ext cx="457200" cy="457200"/>
          </a:xfrm>
          <a:prstGeom prst="ellipse">
            <a:avLst/>
          </a:prstGeom>
          <a:solidFill>
            <a:srgbClr val="2C6E49"/>
          </a:solidFill>
          <a:ln/>
        </p:spPr>
      </p:sp>
      <p:pic>
        <p:nvPicPr>
          <p:cNvPr id="14" name="Image 1" descr="/root/work/harness_slide/icons/l1_sliders.png">    </p:cNvPr>
          <p:cNvPicPr>
            <a:picLocks noChangeAspect="1"/>
          </p:cNvPicPr>
          <p:nvPr/>
        </p:nvPicPr>
        <p:blipFill>
          <a:blip r:embed="rId2"/>
          <a:stretch>
            <a:fillRect/>
          </a:stretch>
        </p:blipFill>
        <p:spPr>
          <a:xfrm>
            <a:off x="868680" y="3264408"/>
            <a:ext cx="182880" cy="182880"/>
          </a:xfrm>
          <a:prstGeom prst="rect">
            <a:avLst/>
          </a:prstGeom>
        </p:spPr>
      </p:pic>
      <p:sp>
        <p:nvSpPr>
          <p:cNvPr id="15" name="Text 11"/>
          <p:cNvSpPr/>
          <p:nvPr/>
        </p:nvSpPr>
        <p:spPr>
          <a:xfrm>
            <a:off x="1371600" y="2971800"/>
            <a:ext cx="2743200" cy="768096"/>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project-manifest.json</a:t>
            </a:r>
            <a:endParaRPr lang="en-US" sz="1300" dirty="0"/>
          </a:p>
        </p:txBody>
      </p:sp>
      <p:sp>
        <p:nvSpPr>
          <p:cNvPr id="16" name="Text 12"/>
          <p:cNvSpPr/>
          <p:nvPr/>
        </p:nvSpPr>
        <p:spPr>
          <a:xfrm>
            <a:off x="4251960" y="2953512"/>
            <a:ext cx="7208215" cy="804672"/>
          </a:xfrm>
          <a:prstGeom prst="rect">
            <a:avLst/>
          </a:prstGeom>
          <a:noFill/>
          <a:ln/>
        </p:spPr>
        <p:txBody>
          <a:bodyPr wrap="square" lIns="0" tIns="0" rIns="0" bIns="0" rtlCol="0" anchor="ctr"/>
          <a:lstStyle/>
          <a:p>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The quality dials: architecture layers, sensor tier, coverage threshold, review thresholds, token governor, execution budget. Same file → same guardrails.</a:t>
            </a:r>
            <a:endParaRPr lang="en-US" sz="1030" dirty="0"/>
          </a:p>
        </p:txBody>
      </p:sp>
      <p:sp>
        <p:nvSpPr>
          <p:cNvPr id="17" name="Shape 13"/>
          <p:cNvSpPr/>
          <p:nvPr/>
        </p:nvSpPr>
        <p:spPr>
          <a:xfrm>
            <a:off x="502920" y="3895344"/>
            <a:ext cx="11185855" cy="987552"/>
          </a:xfrm>
          <a:prstGeom prst="roundRect">
            <a:avLst>
              <a:gd name="adj" fmla="val 7407"/>
            </a:avLst>
          </a:prstGeom>
          <a:solidFill>
            <a:srgbClr val="FFFFFF"/>
          </a:solidFill>
          <a:ln w="12700">
            <a:solidFill>
              <a:srgbClr val="D6E7DB"/>
            </a:solidFill>
            <a:prstDash val="solid"/>
          </a:ln>
        </p:spPr>
      </p:sp>
      <p:sp>
        <p:nvSpPr>
          <p:cNvPr id="18" name="Shape 14"/>
          <p:cNvSpPr/>
          <p:nvPr/>
        </p:nvSpPr>
        <p:spPr>
          <a:xfrm>
            <a:off x="731520" y="4160520"/>
            <a:ext cx="457200" cy="457200"/>
          </a:xfrm>
          <a:prstGeom prst="ellipse">
            <a:avLst/>
          </a:prstGeom>
          <a:solidFill>
            <a:srgbClr val="2C6E49"/>
          </a:solidFill>
          <a:ln/>
        </p:spPr>
      </p:sp>
      <p:pic>
        <p:nvPicPr>
          <p:cNvPr id="19" name="Image 2" descr="/root/work/harness_slide/icons/l1_db.png">    </p:cNvPr>
          <p:cNvPicPr>
            <a:picLocks noChangeAspect="1"/>
          </p:cNvPicPr>
          <p:nvPr/>
        </p:nvPicPr>
        <p:blipFill>
          <a:blip r:embed="rId3"/>
          <a:stretch>
            <a:fillRect/>
          </a:stretch>
        </p:blipFill>
        <p:spPr>
          <a:xfrm>
            <a:off x="868680" y="4297680"/>
            <a:ext cx="182880" cy="182880"/>
          </a:xfrm>
          <a:prstGeom prst="rect">
            <a:avLst/>
          </a:prstGeom>
        </p:spPr>
      </p:pic>
      <p:sp>
        <p:nvSpPr>
          <p:cNvPr id="20" name="Text 15"/>
          <p:cNvSpPr/>
          <p:nvPr/>
        </p:nvSpPr>
        <p:spPr>
          <a:xfrm>
            <a:off x="1371600" y="4005072"/>
            <a:ext cx="2743200" cy="768096"/>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State (monotonic memory)</a:t>
            </a:r>
            <a:endParaRPr lang="en-US" sz="1300" dirty="0"/>
          </a:p>
        </p:txBody>
      </p:sp>
      <p:sp>
        <p:nvSpPr>
          <p:cNvPr id="21" name="Text 16"/>
          <p:cNvSpPr/>
          <p:nvPr/>
        </p:nvSpPr>
        <p:spPr>
          <a:xfrm>
            <a:off x="4251960" y="3986784"/>
            <a:ext cx="7208215" cy="804672"/>
          </a:xfrm>
          <a:prstGeom prst="rect">
            <a:avLst/>
          </a:prstGeom>
          <a:noFill/>
          <a:ln/>
        </p:spPr>
        <p:txBody>
          <a:bodyPr wrap="square" lIns="0" tIns="0" rIns="0" bIns="0" rtlCol="0" anchor="ctr"/>
          <a:lstStyle/>
          <a:p>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learned-rules.md and process-rules.md accumulate failure-derived rules that are never deleted; features.json tracks pass/fail; program.md is the human steering input.</a:t>
            </a:r>
            <a:endParaRPr lang="en-US" sz="1030" dirty="0"/>
          </a:p>
        </p:txBody>
      </p:sp>
      <p:sp>
        <p:nvSpPr>
          <p:cNvPr id="22" name="Shape 17"/>
          <p:cNvSpPr/>
          <p:nvPr/>
        </p:nvSpPr>
        <p:spPr>
          <a:xfrm>
            <a:off x="502920" y="4928616"/>
            <a:ext cx="11185855" cy="987552"/>
          </a:xfrm>
          <a:prstGeom prst="roundRect">
            <a:avLst>
              <a:gd name="adj" fmla="val 7407"/>
            </a:avLst>
          </a:prstGeom>
          <a:solidFill>
            <a:srgbClr val="E7F1E9"/>
          </a:solidFill>
          <a:ln w="12700">
            <a:solidFill>
              <a:srgbClr val="D6E7DB"/>
            </a:solidFill>
            <a:prstDash val="solid"/>
          </a:ln>
        </p:spPr>
      </p:sp>
      <p:sp>
        <p:nvSpPr>
          <p:cNvPr id="23" name="Shape 18"/>
          <p:cNvSpPr/>
          <p:nvPr/>
        </p:nvSpPr>
        <p:spPr>
          <a:xfrm>
            <a:off x="731520" y="5193792"/>
            <a:ext cx="457200" cy="457200"/>
          </a:xfrm>
          <a:prstGeom prst="ellipse">
            <a:avLst/>
          </a:prstGeom>
          <a:solidFill>
            <a:srgbClr val="2C6E49"/>
          </a:solidFill>
          <a:ln/>
        </p:spPr>
      </p:sp>
      <p:pic>
        <p:nvPicPr>
          <p:cNvPr id="24" name="Image 3" descr="/root/work/harness_slide/icons/l1_file.png">    </p:cNvPr>
          <p:cNvPicPr>
            <a:picLocks noChangeAspect="1"/>
          </p:cNvPicPr>
          <p:nvPr/>
        </p:nvPicPr>
        <p:blipFill>
          <a:blip r:embed="rId4"/>
          <a:stretch>
            <a:fillRect/>
          </a:stretch>
        </p:blipFill>
        <p:spPr>
          <a:xfrm>
            <a:off x="868680" y="5330952"/>
            <a:ext cx="182880" cy="182880"/>
          </a:xfrm>
          <a:prstGeom prst="rect">
            <a:avLst/>
          </a:prstGeom>
        </p:spPr>
      </p:pic>
      <p:sp>
        <p:nvSpPr>
          <p:cNvPr id="25" name="Text 19"/>
          <p:cNvSpPr/>
          <p:nvPr/>
        </p:nvSpPr>
        <p:spPr>
          <a:xfrm>
            <a:off x="1371600" y="5038344"/>
            <a:ext cx="2743200" cy="768096"/>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design.md + HARNESS.md</a:t>
            </a:r>
            <a:endParaRPr lang="en-US" sz="1300" dirty="0"/>
          </a:p>
        </p:txBody>
      </p:sp>
      <p:sp>
        <p:nvSpPr>
          <p:cNvPr id="26" name="Text 20"/>
          <p:cNvSpPr/>
          <p:nvPr/>
        </p:nvSpPr>
        <p:spPr>
          <a:xfrm>
            <a:off x="4251960" y="5020056"/>
            <a:ext cx="7208215" cy="804672"/>
          </a:xfrm>
          <a:prstGeom prst="rect">
            <a:avLst/>
          </a:prstGeom>
          <a:noFill/>
          <a:ln/>
        </p:spPr>
        <p:txBody>
          <a:bodyPr wrap="square" lIns="0" tIns="0" rIns="0" bIns="0" rtlCol="0" anchor="ctr"/>
          <a:lstStyle/>
          <a:p>
            <a:pPr indent="0" marL="0">
              <a:lnSpc>
                <a:spcPct val="103000"/>
              </a:lnSpc>
              <a:buNone/>
            </a:pPr>
            <a:r>
              <a:rPr lang="en-US" sz="1030" dirty="0">
                <a:solidFill>
                  <a:srgbClr val="22252A"/>
                </a:solidFill>
                <a:latin typeface="Calibri" pitchFamily="34" charset="0"/>
                <a:ea typeface="Calibri" pitchFamily="34" charset="-122"/>
                <a:cs typeface="Calibri" pitchFamily="34" charset="-120"/>
              </a:rPr>
              <a:t>The architecture reference and the control-system registry travel with the repo, so the rationale and the gate inventory are always in-tree, not tribal knowledge.</a:t>
            </a:r>
            <a:endParaRPr lang="en-US" sz="1030" dirty="0"/>
          </a:p>
        </p:txBody>
      </p:sp>
      <p:sp>
        <p:nvSpPr>
          <p:cNvPr id="27" name="Text 21"/>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Scaffold &amp; Memory</a:t>
            </a:r>
            <a:endParaRPr lang="en-US" sz="850" dirty="0"/>
          </a:p>
        </p:txBody>
      </p:sp>
      <p:sp>
        <p:nvSpPr>
          <p:cNvPr id="28" name="Text 22"/>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07 / 21</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C6E49"/>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08</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C6E49"/>
                </a:solidFill>
                <a:latin typeface="Calibri" pitchFamily="34" charset="0"/>
                <a:ea typeface="Calibri" pitchFamily="34" charset="-122"/>
                <a:cs typeface="Calibri" pitchFamily="34" charset="-120"/>
              </a:rPr>
              <a:t>SCAFFOLD IN DEPTH · A</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/scaffold: infer → confirm → deterministic apply</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scaffold never hand-writes project files. It infers a profile from one description, confirms it with the human once, then runs a deterministic generator — so the output is reproducible and cannot be hallucinated.</a:t>
            </a:r>
            <a:endParaRPr lang="en-US" sz="1150" dirty="0"/>
          </a:p>
        </p:txBody>
      </p:sp>
      <p:sp>
        <p:nvSpPr>
          <p:cNvPr id="7" name="Shape 5"/>
          <p:cNvSpPr/>
          <p:nvPr/>
        </p:nvSpPr>
        <p:spPr>
          <a:xfrm>
            <a:off x="502920" y="1828800"/>
            <a:ext cx="2590724" cy="2286000"/>
          </a:xfrm>
          <a:prstGeom prst="roundRect">
            <a:avLst>
              <a:gd name="adj" fmla="val 3600"/>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1523962" y="2057400"/>
            <a:ext cx="548640" cy="548640"/>
          </a:xfrm>
          <a:prstGeom prst="ellipse">
            <a:avLst/>
          </a:prstGeom>
          <a:solidFill>
            <a:srgbClr val="2C6E49"/>
          </a:solidFill>
          <a:ln/>
        </p:spPr>
      </p:sp>
      <p:sp>
        <p:nvSpPr>
          <p:cNvPr id="9" name="Text 7"/>
          <p:cNvSpPr/>
          <p:nvPr/>
        </p:nvSpPr>
        <p:spPr>
          <a:xfrm>
            <a:off x="1523962" y="2057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10" name="Text 8"/>
          <p:cNvSpPr/>
          <p:nvPr/>
        </p:nvSpPr>
        <p:spPr>
          <a:xfrm>
            <a:off x="502920" y="2697480"/>
            <a:ext cx="2590724" cy="274320"/>
          </a:xfrm>
          <a:prstGeom prst="rect">
            <a:avLst/>
          </a:prstGeom>
          <a:noFill/>
          <a:ln/>
        </p:spPr>
        <p:txBody>
          <a:bodyPr wrap="square" lIns="0" tIns="0" rIns="0" bIns="0" rtlCol="0" anchor="ctr"/>
          <a:lstStyle/>
          <a:p>
            <a:pPr algn="ctr" indent="0" marL="0">
              <a:buNone/>
            </a:pPr>
            <a:r>
              <a:rPr lang="en-US" sz="1300" b="1" dirty="0">
                <a:solidFill>
                  <a:srgbClr val="2C6E49"/>
                </a:solidFill>
                <a:latin typeface="Calibri" pitchFamily="34" charset="0"/>
                <a:ea typeface="Calibri" pitchFamily="34" charset="-122"/>
                <a:cs typeface="Calibri" pitchFamily="34" charset="-120"/>
              </a:rPr>
              <a:t>Ask</a:t>
            </a:r>
            <a:endParaRPr lang="en-US" sz="1300" dirty="0"/>
          </a:p>
        </p:txBody>
      </p:sp>
      <p:sp>
        <p:nvSpPr>
          <p:cNvPr id="11" name="Text 9"/>
          <p:cNvSpPr/>
          <p:nvPr/>
        </p:nvSpPr>
        <p:spPr>
          <a:xfrm>
            <a:off x="685800" y="3017520"/>
            <a:ext cx="2224964" cy="1005840"/>
          </a:xfrm>
          <a:prstGeom prst="rect">
            <a:avLst/>
          </a:prstGeom>
          <a:noFill/>
          <a:ln/>
        </p:spPr>
        <p:txBody>
          <a:bodyPr wrap="square" lIns="0" tIns="0" rIns="0" bIns="0" rtlCol="0" anchor="t"/>
          <a:lstStyle/>
          <a:p>
            <a:pPr indent="0" marL="0">
              <a:lnSpc>
                <a:spcPct val="104000"/>
              </a:lnSpc>
              <a:buNone/>
            </a:pPr>
            <a:r>
              <a:rPr lang="en-US" sz="960" dirty="0">
                <a:solidFill>
                  <a:srgbClr val="22252A"/>
                </a:solidFill>
                <a:latin typeface="Calibri" pitchFamily="34" charset="0"/>
                <a:ea typeface="Calibri" pitchFamily="34" charset="-122"/>
                <a:cs typeface="Calibri" pitchFamily="34" charset="-120"/>
              </a:rPr>
              <a:t>One free-text question: what are you building? Language, shape (web / script / library / brownfield), primary surface, team integrations.</a:t>
            </a:r>
            <a:endParaRPr lang="en-US" sz="960" dirty="0"/>
          </a:p>
        </p:txBody>
      </p:sp>
      <p:sp>
        <p:nvSpPr>
          <p:cNvPr id="12" name="Text 10"/>
          <p:cNvSpPr/>
          <p:nvPr/>
        </p:nvSpPr>
        <p:spPr>
          <a:xfrm>
            <a:off x="3075356" y="1828800"/>
            <a:ext cx="310896" cy="2286000"/>
          </a:xfrm>
          <a:prstGeom prst="rect">
            <a:avLst/>
          </a:prstGeom>
          <a:noFill/>
          <a:ln/>
        </p:spPr>
        <p:txBody>
          <a:bodyPr wrap="square" lIns="0" tIns="0" rIns="0" bIns="0" rtlCol="0" anchor="ctr"/>
          <a:lstStyle/>
          <a:p>
            <a:pPr algn="ctr" indent="0" marL="0">
              <a:buNone/>
            </a:pPr>
            <a:r>
              <a:rPr lang="en-US" sz="2000" b="1" dirty="0">
                <a:solidFill>
                  <a:srgbClr val="9A9EA6"/>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3367964" y="1828800"/>
            <a:ext cx="2590724" cy="2286000"/>
          </a:xfrm>
          <a:prstGeom prst="roundRect">
            <a:avLst>
              <a:gd name="adj" fmla="val 3600"/>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14" name="Shape 12"/>
          <p:cNvSpPr/>
          <p:nvPr/>
        </p:nvSpPr>
        <p:spPr>
          <a:xfrm>
            <a:off x="4389006" y="2057400"/>
            <a:ext cx="548640" cy="548640"/>
          </a:xfrm>
          <a:prstGeom prst="ellipse">
            <a:avLst/>
          </a:prstGeom>
          <a:solidFill>
            <a:srgbClr val="2C6E49"/>
          </a:solidFill>
          <a:ln/>
        </p:spPr>
      </p:sp>
      <p:sp>
        <p:nvSpPr>
          <p:cNvPr id="15" name="Text 13"/>
          <p:cNvSpPr/>
          <p:nvPr/>
        </p:nvSpPr>
        <p:spPr>
          <a:xfrm>
            <a:off x="4389006" y="2057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6" name="Text 14"/>
          <p:cNvSpPr/>
          <p:nvPr/>
        </p:nvSpPr>
        <p:spPr>
          <a:xfrm>
            <a:off x="3367964" y="2697480"/>
            <a:ext cx="2590724" cy="274320"/>
          </a:xfrm>
          <a:prstGeom prst="rect">
            <a:avLst/>
          </a:prstGeom>
          <a:noFill/>
          <a:ln/>
        </p:spPr>
        <p:txBody>
          <a:bodyPr wrap="square" lIns="0" tIns="0" rIns="0" bIns="0" rtlCol="0" anchor="ctr"/>
          <a:lstStyle/>
          <a:p>
            <a:pPr algn="ctr" indent="0" marL="0">
              <a:buNone/>
            </a:pPr>
            <a:r>
              <a:rPr lang="en-US" sz="1300" b="1" dirty="0">
                <a:solidFill>
                  <a:srgbClr val="2C6E49"/>
                </a:solidFill>
                <a:latin typeface="Calibri" pitchFamily="34" charset="0"/>
                <a:ea typeface="Calibri" pitchFamily="34" charset="-122"/>
                <a:cs typeface="Calibri" pitchFamily="34" charset="-120"/>
              </a:rPr>
              <a:t>Infer</a:t>
            </a:r>
            <a:endParaRPr lang="en-US" sz="1300" dirty="0"/>
          </a:p>
        </p:txBody>
      </p:sp>
      <p:sp>
        <p:nvSpPr>
          <p:cNvPr id="17" name="Text 15"/>
          <p:cNvSpPr/>
          <p:nvPr/>
        </p:nvSpPr>
        <p:spPr>
          <a:xfrm>
            <a:off x="3550844" y="3017520"/>
            <a:ext cx="2224964" cy="1005840"/>
          </a:xfrm>
          <a:prstGeom prst="rect">
            <a:avLst/>
          </a:prstGeom>
          <a:noFill/>
          <a:ln/>
        </p:spPr>
        <p:txBody>
          <a:bodyPr wrap="square" lIns="0" tIns="0" rIns="0" bIns="0" rtlCol="0" anchor="t"/>
          <a:lstStyle/>
          <a:p>
            <a:pPr indent="0" marL="0">
              <a:lnSpc>
                <a:spcPct val="104000"/>
              </a:lnSpc>
              <a:buNone/>
            </a:pPr>
            <a:r>
              <a:rPr lang="en-US" sz="960" dirty="0">
                <a:solidFill>
                  <a:srgbClr val="22252A"/>
                </a:solidFill>
                <a:latin typeface="Calibri" pitchFamily="34" charset="0"/>
                <a:ea typeface="Calibri" pitchFamily="34" charset="-122"/>
                <a:cs typeface="Calibri" pitchFamily="34" charset="-120"/>
              </a:rPr>
              <a:t>Conservative rules map the description to a profile: stack, project type, verification mode, scaffold SKU, tracker, framework pack, domain vertical, telemetry.</a:t>
            </a:r>
            <a:endParaRPr lang="en-US" sz="960" dirty="0"/>
          </a:p>
        </p:txBody>
      </p:sp>
      <p:sp>
        <p:nvSpPr>
          <p:cNvPr id="18" name="Text 16"/>
          <p:cNvSpPr/>
          <p:nvPr/>
        </p:nvSpPr>
        <p:spPr>
          <a:xfrm>
            <a:off x="5940400" y="1828800"/>
            <a:ext cx="310896" cy="2286000"/>
          </a:xfrm>
          <a:prstGeom prst="rect">
            <a:avLst/>
          </a:prstGeom>
          <a:noFill/>
          <a:ln/>
        </p:spPr>
        <p:txBody>
          <a:bodyPr wrap="square" lIns="0" tIns="0" rIns="0" bIns="0" rtlCol="0" anchor="ctr"/>
          <a:lstStyle/>
          <a:p>
            <a:pPr algn="ctr" indent="0" marL="0">
              <a:buNone/>
            </a:pPr>
            <a:r>
              <a:rPr lang="en-US" sz="2000" b="1" dirty="0">
                <a:solidFill>
                  <a:srgbClr val="9A9EA6"/>
                </a:solidFill>
                <a:latin typeface="Calibri" pitchFamily="34" charset="0"/>
                <a:ea typeface="Calibri" pitchFamily="34" charset="-122"/>
                <a:cs typeface="Calibri" pitchFamily="34" charset="-120"/>
              </a:rPr>
              <a:t>→</a:t>
            </a:r>
            <a:endParaRPr lang="en-US" sz="2000" dirty="0"/>
          </a:p>
        </p:txBody>
      </p:sp>
      <p:sp>
        <p:nvSpPr>
          <p:cNvPr id="19" name="Shape 17"/>
          <p:cNvSpPr/>
          <p:nvPr/>
        </p:nvSpPr>
        <p:spPr>
          <a:xfrm>
            <a:off x="6233008" y="1828800"/>
            <a:ext cx="2590724" cy="2286000"/>
          </a:xfrm>
          <a:prstGeom prst="roundRect">
            <a:avLst>
              <a:gd name="adj" fmla="val 3600"/>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20" name="Shape 18"/>
          <p:cNvSpPr/>
          <p:nvPr/>
        </p:nvSpPr>
        <p:spPr>
          <a:xfrm>
            <a:off x="7254050" y="2057400"/>
            <a:ext cx="548640" cy="548640"/>
          </a:xfrm>
          <a:prstGeom prst="ellipse">
            <a:avLst/>
          </a:prstGeom>
          <a:solidFill>
            <a:srgbClr val="2C6E49"/>
          </a:solidFill>
          <a:ln/>
        </p:spPr>
      </p:sp>
      <p:sp>
        <p:nvSpPr>
          <p:cNvPr id="21" name="Text 19"/>
          <p:cNvSpPr/>
          <p:nvPr/>
        </p:nvSpPr>
        <p:spPr>
          <a:xfrm>
            <a:off x="7254050" y="2057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2" name="Text 20"/>
          <p:cNvSpPr/>
          <p:nvPr/>
        </p:nvSpPr>
        <p:spPr>
          <a:xfrm>
            <a:off x="6233008" y="2697480"/>
            <a:ext cx="2590724" cy="274320"/>
          </a:xfrm>
          <a:prstGeom prst="rect">
            <a:avLst/>
          </a:prstGeom>
          <a:noFill/>
          <a:ln/>
        </p:spPr>
        <p:txBody>
          <a:bodyPr wrap="square" lIns="0" tIns="0" rIns="0" bIns="0" rtlCol="0" anchor="ctr"/>
          <a:lstStyle/>
          <a:p>
            <a:pPr algn="ctr" indent="0" marL="0">
              <a:buNone/>
            </a:pPr>
            <a:r>
              <a:rPr lang="en-US" sz="1300" b="1" dirty="0">
                <a:solidFill>
                  <a:srgbClr val="2C6E49"/>
                </a:solidFill>
                <a:latin typeface="Calibri" pitchFamily="34" charset="0"/>
                <a:ea typeface="Calibri" pitchFamily="34" charset="-122"/>
                <a:cs typeface="Calibri" pitchFamily="34" charset="-120"/>
              </a:rPr>
              <a:t>Confirm</a:t>
            </a:r>
            <a:endParaRPr lang="en-US" sz="1300" dirty="0"/>
          </a:p>
        </p:txBody>
      </p:sp>
      <p:sp>
        <p:nvSpPr>
          <p:cNvPr id="23" name="Text 21"/>
          <p:cNvSpPr/>
          <p:nvPr/>
        </p:nvSpPr>
        <p:spPr>
          <a:xfrm>
            <a:off x="6415888" y="3017520"/>
            <a:ext cx="2224964" cy="1005840"/>
          </a:xfrm>
          <a:prstGeom prst="rect">
            <a:avLst/>
          </a:prstGeom>
          <a:noFill/>
          <a:ln/>
        </p:spPr>
        <p:txBody>
          <a:bodyPr wrap="square" lIns="0" tIns="0" rIns="0" bIns="0" rtlCol="0" anchor="t"/>
          <a:lstStyle/>
          <a:p>
            <a:pPr indent="0" marL="0">
              <a:lnSpc>
                <a:spcPct val="104000"/>
              </a:lnSpc>
              <a:buNone/>
            </a:pPr>
            <a:r>
              <a:rPr lang="en-US" sz="960" dirty="0">
                <a:solidFill>
                  <a:srgbClr val="22252A"/>
                </a:solidFill>
                <a:latin typeface="Calibri" pitchFamily="34" charset="0"/>
                <a:ea typeface="Calibri" pitchFamily="34" charset="-122"/>
                <a:cs typeface="Calibri" pitchFamily="34" charset="-120"/>
              </a:rPr>
              <a:t>A single AskUserQuestion card shows the inferred profile. Accept, change tracker only, or open the full wizard. Nothing is silently defaulted.</a:t>
            </a:r>
            <a:endParaRPr lang="en-US" sz="960" dirty="0"/>
          </a:p>
        </p:txBody>
      </p:sp>
      <p:sp>
        <p:nvSpPr>
          <p:cNvPr id="24" name="Text 22"/>
          <p:cNvSpPr/>
          <p:nvPr/>
        </p:nvSpPr>
        <p:spPr>
          <a:xfrm>
            <a:off x="8805443" y="1828800"/>
            <a:ext cx="310896" cy="2286000"/>
          </a:xfrm>
          <a:prstGeom prst="rect">
            <a:avLst/>
          </a:prstGeom>
          <a:noFill/>
          <a:ln/>
        </p:spPr>
        <p:txBody>
          <a:bodyPr wrap="square" lIns="0" tIns="0" rIns="0" bIns="0" rtlCol="0" anchor="ctr"/>
          <a:lstStyle/>
          <a:p>
            <a:pPr algn="ctr" indent="0" marL="0">
              <a:buNone/>
            </a:pPr>
            <a:r>
              <a:rPr lang="en-US" sz="2000" b="1" dirty="0">
                <a:solidFill>
                  <a:srgbClr val="9A9EA6"/>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9098051" y="1828800"/>
            <a:ext cx="2590724" cy="2286000"/>
          </a:xfrm>
          <a:prstGeom prst="roundRect">
            <a:avLst>
              <a:gd name="adj" fmla="val 3600"/>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26" name="Shape 24"/>
          <p:cNvSpPr/>
          <p:nvPr/>
        </p:nvSpPr>
        <p:spPr>
          <a:xfrm>
            <a:off x="10119093" y="2057400"/>
            <a:ext cx="548640" cy="548640"/>
          </a:xfrm>
          <a:prstGeom prst="ellipse">
            <a:avLst/>
          </a:prstGeom>
          <a:solidFill>
            <a:srgbClr val="2C6E49"/>
          </a:solidFill>
          <a:ln/>
        </p:spPr>
      </p:sp>
      <p:sp>
        <p:nvSpPr>
          <p:cNvPr id="27" name="Text 25"/>
          <p:cNvSpPr/>
          <p:nvPr/>
        </p:nvSpPr>
        <p:spPr>
          <a:xfrm>
            <a:off x="10119093" y="20574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8" name="Text 26"/>
          <p:cNvSpPr/>
          <p:nvPr/>
        </p:nvSpPr>
        <p:spPr>
          <a:xfrm>
            <a:off x="9098051" y="2697480"/>
            <a:ext cx="2590724" cy="274320"/>
          </a:xfrm>
          <a:prstGeom prst="rect">
            <a:avLst/>
          </a:prstGeom>
          <a:noFill/>
          <a:ln/>
        </p:spPr>
        <p:txBody>
          <a:bodyPr wrap="square" lIns="0" tIns="0" rIns="0" bIns="0" rtlCol="0" anchor="ctr"/>
          <a:lstStyle/>
          <a:p>
            <a:pPr algn="ctr" indent="0" marL="0">
              <a:buNone/>
            </a:pPr>
            <a:r>
              <a:rPr lang="en-US" sz="1300" b="1" dirty="0">
                <a:solidFill>
                  <a:srgbClr val="2C6E49"/>
                </a:solidFill>
                <a:latin typeface="Calibri" pitchFamily="34" charset="0"/>
                <a:ea typeface="Calibri" pitchFamily="34" charset="-122"/>
                <a:cs typeface="Calibri" pitchFamily="34" charset="-120"/>
              </a:rPr>
              <a:t>Apply</a:t>
            </a:r>
            <a:endParaRPr lang="en-US" sz="1300" dirty="0"/>
          </a:p>
        </p:txBody>
      </p:sp>
      <p:sp>
        <p:nvSpPr>
          <p:cNvPr id="29" name="Text 27"/>
          <p:cNvSpPr/>
          <p:nvPr/>
        </p:nvSpPr>
        <p:spPr>
          <a:xfrm>
            <a:off x="9280931" y="3017520"/>
            <a:ext cx="2224964" cy="1005840"/>
          </a:xfrm>
          <a:prstGeom prst="rect">
            <a:avLst/>
          </a:prstGeom>
          <a:noFill/>
          <a:ln/>
        </p:spPr>
        <p:txBody>
          <a:bodyPr wrap="square" lIns="0" tIns="0" rIns="0" bIns="0" rtlCol="0" anchor="t"/>
          <a:lstStyle/>
          <a:p>
            <a:pPr indent="0" marL="0">
              <a:lnSpc>
                <a:spcPct val="104000"/>
              </a:lnSpc>
              <a:buNone/>
            </a:pPr>
            <a:r>
              <a:rPr lang="en-US" sz="960" dirty="0">
                <a:solidFill>
                  <a:srgbClr val="22252A"/>
                </a:solidFill>
                <a:latin typeface="Calibri" pitchFamily="34" charset="0"/>
                <a:ea typeface="Calibri" pitchFamily="34" charset="-122"/>
                <a:cs typeface="Calibri" pitchFamily="34" charset="-120"/>
              </a:rPr>
              <a:t>scaffold-apply.js performs every copy / mkdir / template-write. If it exits non-zero it stops — no fabricated success. One source of truth for generation.</a:t>
            </a:r>
            <a:endParaRPr lang="en-US" sz="960" dirty="0"/>
          </a:p>
        </p:txBody>
      </p:sp>
      <p:sp>
        <p:nvSpPr>
          <p:cNvPr id="30" name="Shape 28"/>
          <p:cNvSpPr/>
          <p:nvPr/>
        </p:nvSpPr>
        <p:spPr>
          <a:xfrm>
            <a:off x="502920" y="4434840"/>
            <a:ext cx="11185855" cy="1417320"/>
          </a:xfrm>
          <a:prstGeom prst="roundRect">
            <a:avLst>
              <a:gd name="adj" fmla="val 5806"/>
            </a:avLst>
          </a:prstGeom>
          <a:solidFill>
            <a:srgbClr val="E7F1E9"/>
          </a:solidFill>
          <a:ln w="12700">
            <a:solidFill>
              <a:srgbClr val="D6E7DB"/>
            </a:solidFill>
            <a:prstDash val="solid"/>
          </a:ln>
        </p:spPr>
      </p:sp>
      <p:sp>
        <p:nvSpPr>
          <p:cNvPr id="31" name="Text 29"/>
          <p:cNvSpPr/>
          <p:nvPr/>
        </p:nvSpPr>
        <p:spPr>
          <a:xfrm>
            <a:off x="731520" y="4526280"/>
            <a:ext cx="10728655" cy="274320"/>
          </a:xfrm>
          <a:prstGeom prst="rect">
            <a:avLst/>
          </a:prstGeom>
          <a:noFill/>
          <a:ln/>
        </p:spPr>
        <p:txBody>
          <a:bodyPr wrap="square" lIns="0" tIns="0" rIns="0" bIns="0" rtlCol="0" anchor="ctr"/>
          <a:lstStyle/>
          <a:p>
            <a:pPr indent="0" marL="0">
              <a:buNone/>
            </a:pPr>
            <a:r>
              <a:rPr lang="en-US" sz="1100" b="1" dirty="0">
                <a:solidFill>
                  <a:srgbClr val="2C6E49"/>
                </a:solidFill>
                <a:latin typeface="Calibri" pitchFamily="34" charset="0"/>
                <a:ea typeface="Calibri" pitchFamily="34" charset="-122"/>
                <a:cs typeface="Calibri" pitchFamily="34" charset="-120"/>
              </a:rPr>
              <a:t>Inference dimensions (the profile)</a:t>
            </a:r>
            <a:endParaRPr lang="en-US" sz="1100" dirty="0"/>
          </a:p>
        </p:txBody>
      </p:sp>
      <p:sp>
        <p:nvSpPr>
          <p:cNvPr id="32" name="Shape 30"/>
          <p:cNvSpPr/>
          <p:nvPr/>
        </p:nvSpPr>
        <p:spPr>
          <a:xfrm>
            <a:off x="731520" y="4892040"/>
            <a:ext cx="2036003" cy="365760"/>
          </a:xfrm>
          <a:prstGeom prst="roundRect">
            <a:avLst>
              <a:gd name="adj" fmla="val 15000"/>
            </a:avLst>
          </a:prstGeom>
          <a:solidFill>
            <a:srgbClr val="FFFFFF"/>
          </a:solidFill>
          <a:ln w="12700">
            <a:solidFill>
              <a:srgbClr val="D6E7DB"/>
            </a:solidFill>
            <a:prstDash val="solid"/>
          </a:ln>
        </p:spPr>
      </p:sp>
      <p:sp>
        <p:nvSpPr>
          <p:cNvPr id="33" name="Text 31"/>
          <p:cNvSpPr/>
          <p:nvPr/>
        </p:nvSpPr>
        <p:spPr>
          <a:xfrm>
            <a:off x="731520" y="48920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Stack</a:t>
            </a:r>
            <a:endParaRPr lang="en-US" sz="980" dirty="0"/>
          </a:p>
        </p:txBody>
      </p:sp>
      <p:sp>
        <p:nvSpPr>
          <p:cNvPr id="34" name="Shape 32"/>
          <p:cNvSpPr/>
          <p:nvPr/>
        </p:nvSpPr>
        <p:spPr>
          <a:xfrm>
            <a:off x="2904683" y="4892040"/>
            <a:ext cx="2036003" cy="365760"/>
          </a:xfrm>
          <a:prstGeom prst="roundRect">
            <a:avLst>
              <a:gd name="adj" fmla="val 15000"/>
            </a:avLst>
          </a:prstGeom>
          <a:solidFill>
            <a:srgbClr val="FFFFFF"/>
          </a:solidFill>
          <a:ln w="12700">
            <a:solidFill>
              <a:srgbClr val="D6E7DB"/>
            </a:solidFill>
            <a:prstDash val="solid"/>
          </a:ln>
        </p:spPr>
      </p:sp>
      <p:sp>
        <p:nvSpPr>
          <p:cNvPr id="35" name="Text 33"/>
          <p:cNvSpPr/>
          <p:nvPr/>
        </p:nvSpPr>
        <p:spPr>
          <a:xfrm>
            <a:off x="2904683" y="48920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Project type</a:t>
            </a:r>
            <a:endParaRPr lang="en-US" sz="980" dirty="0"/>
          </a:p>
        </p:txBody>
      </p:sp>
      <p:sp>
        <p:nvSpPr>
          <p:cNvPr id="36" name="Shape 34"/>
          <p:cNvSpPr/>
          <p:nvPr/>
        </p:nvSpPr>
        <p:spPr>
          <a:xfrm>
            <a:off x="5077846" y="4892040"/>
            <a:ext cx="2036003" cy="365760"/>
          </a:xfrm>
          <a:prstGeom prst="roundRect">
            <a:avLst>
              <a:gd name="adj" fmla="val 15000"/>
            </a:avLst>
          </a:prstGeom>
          <a:solidFill>
            <a:srgbClr val="FFFFFF"/>
          </a:solidFill>
          <a:ln w="12700">
            <a:solidFill>
              <a:srgbClr val="D6E7DB"/>
            </a:solidFill>
            <a:prstDash val="solid"/>
          </a:ln>
        </p:spPr>
      </p:sp>
      <p:sp>
        <p:nvSpPr>
          <p:cNvPr id="37" name="Text 35"/>
          <p:cNvSpPr/>
          <p:nvPr/>
        </p:nvSpPr>
        <p:spPr>
          <a:xfrm>
            <a:off x="5077846" y="48920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Verification mode</a:t>
            </a:r>
            <a:endParaRPr lang="en-US" sz="980" dirty="0"/>
          </a:p>
        </p:txBody>
      </p:sp>
      <p:sp>
        <p:nvSpPr>
          <p:cNvPr id="38" name="Shape 36"/>
          <p:cNvSpPr/>
          <p:nvPr/>
        </p:nvSpPr>
        <p:spPr>
          <a:xfrm>
            <a:off x="7251009" y="4892040"/>
            <a:ext cx="2036003" cy="365760"/>
          </a:xfrm>
          <a:prstGeom prst="roundRect">
            <a:avLst>
              <a:gd name="adj" fmla="val 15000"/>
            </a:avLst>
          </a:prstGeom>
          <a:solidFill>
            <a:srgbClr val="FFFFFF"/>
          </a:solidFill>
          <a:ln w="12700">
            <a:solidFill>
              <a:srgbClr val="D6E7DB"/>
            </a:solidFill>
            <a:prstDash val="solid"/>
          </a:ln>
        </p:spPr>
      </p:sp>
      <p:sp>
        <p:nvSpPr>
          <p:cNvPr id="39" name="Text 37"/>
          <p:cNvSpPr/>
          <p:nvPr/>
        </p:nvSpPr>
        <p:spPr>
          <a:xfrm>
            <a:off x="7251009" y="48920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Scaffold SKU</a:t>
            </a:r>
            <a:endParaRPr lang="en-US" sz="980" dirty="0"/>
          </a:p>
        </p:txBody>
      </p:sp>
      <p:sp>
        <p:nvSpPr>
          <p:cNvPr id="40" name="Shape 38"/>
          <p:cNvSpPr/>
          <p:nvPr/>
        </p:nvSpPr>
        <p:spPr>
          <a:xfrm>
            <a:off x="9424172" y="4892040"/>
            <a:ext cx="2036003" cy="365760"/>
          </a:xfrm>
          <a:prstGeom prst="roundRect">
            <a:avLst>
              <a:gd name="adj" fmla="val 15000"/>
            </a:avLst>
          </a:prstGeom>
          <a:solidFill>
            <a:srgbClr val="FFFFFF"/>
          </a:solidFill>
          <a:ln w="12700">
            <a:solidFill>
              <a:srgbClr val="D6E7DB"/>
            </a:solidFill>
            <a:prstDash val="solid"/>
          </a:ln>
        </p:spPr>
      </p:sp>
      <p:sp>
        <p:nvSpPr>
          <p:cNvPr id="41" name="Text 39"/>
          <p:cNvSpPr/>
          <p:nvPr/>
        </p:nvSpPr>
        <p:spPr>
          <a:xfrm>
            <a:off x="9424172" y="48920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Tracker</a:t>
            </a:r>
            <a:endParaRPr lang="en-US" sz="980" dirty="0"/>
          </a:p>
        </p:txBody>
      </p:sp>
      <p:sp>
        <p:nvSpPr>
          <p:cNvPr id="42" name="Shape 40"/>
          <p:cNvSpPr/>
          <p:nvPr/>
        </p:nvSpPr>
        <p:spPr>
          <a:xfrm>
            <a:off x="731520" y="5349240"/>
            <a:ext cx="2036003" cy="365760"/>
          </a:xfrm>
          <a:prstGeom prst="roundRect">
            <a:avLst>
              <a:gd name="adj" fmla="val 15000"/>
            </a:avLst>
          </a:prstGeom>
          <a:solidFill>
            <a:srgbClr val="FFFFFF"/>
          </a:solidFill>
          <a:ln w="12700">
            <a:solidFill>
              <a:srgbClr val="D6E7DB"/>
            </a:solidFill>
            <a:prstDash val="solid"/>
          </a:ln>
        </p:spPr>
      </p:sp>
      <p:sp>
        <p:nvSpPr>
          <p:cNvPr id="43" name="Text 41"/>
          <p:cNvSpPr/>
          <p:nvPr/>
        </p:nvSpPr>
        <p:spPr>
          <a:xfrm>
            <a:off x="731520" y="53492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Framework pack</a:t>
            </a:r>
            <a:endParaRPr lang="en-US" sz="980" dirty="0"/>
          </a:p>
        </p:txBody>
      </p:sp>
      <p:sp>
        <p:nvSpPr>
          <p:cNvPr id="44" name="Shape 42"/>
          <p:cNvSpPr/>
          <p:nvPr/>
        </p:nvSpPr>
        <p:spPr>
          <a:xfrm>
            <a:off x="2904683" y="5349240"/>
            <a:ext cx="2036003" cy="365760"/>
          </a:xfrm>
          <a:prstGeom prst="roundRect">
            <a:avLst>
              <a:gd name="adj" fmla="val 15000"/>
            </a:avLst>
          </a:prstGeom>
          <a:solidFill>
            <a:srgbClr val="FFFFFF"/>
          </a:solidFill>
          <a:ln w="12700">
            <a:solidFill>
              <a:srgbClr val="D6E7DB"/>
            </a:solidFill>
            <a:prstDash val="solid"/>
          </a:ln>
        </p:spPr>
      </p:sp>
      <p:sp>
        <p:nvSpPr>
          <p:cNvPr id="45" name="Text 43"/>
          <p:cNvSpPr/>
          <p:nvPr/>
        </p:nvSpPr>
        <p:spPr>
          <a:xfrm>
            <a:off x="2904683" y="53492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Domain vertical</a:t>
            </a:r>
            <a:endParaRPr lang="en-US" sz="980" dirty="0"/>
          </a:p>
        </p:txBody>
      </p:sp>
      <p:sp>
        <p:nvSpPr>
          <p:cNvPr id="46" name="Shape 44"/>
          <p:cNvSpPr/>
          <p:nvPr/>
        </p:nvSpPr>
        <p:spPr>
          <a:xfrm>
            <a:off x="5077846" y="5349240"/>
            <a:ext cx="2036003" cy="365760"/>
          </a:xfrm>
          <a:prstGeom prst="roundRect">
            <a:avLst>
              <a:gd name="adj" fmla="val 15000"/>
            </a:avLst>
          </a:prstGeom>
          <a:solidFill>
            <a:srgbClr val="FFFFFF"/>
          </a:solidFill>
          <a:ln w="12700">
            <a:solidFill>
              <a:srgbClr val="D6E7DB"/>
            </a:solidFill>
            <a:prstDash val="solid"/>
          </a:ln>
        </p:spPr>
      </p:sp>
      <p:sp>
        <p:nvSpPr>
          <p:cNvPr id="47" name="Text 45"/>
          <p:cNvSpPr/>
          <p:nvPr/>
        </p:nvSpPr>
        <p:spPr>
          <a:xfrm>
            <a:off x="5077846" y="53492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Telemetry</a:t>
            </a:r>
            <a:endParaRPr lang="en-US" sz="980" dirty="0"/>
          </a:p>
        </p:txBody>
      </p:sp>
      <p:sp>
        <p:nvSpPr>
          <p:cNvPr id="48" name="Shape 46"/>
          <p:cNvSpPr/>
          <p:nvPr/>
        </p:nvSpPr>
        <p:spPr>
          <a:xfrm>
            <a:off x="7251009" y="5349240"/>
            <a:ext cx="2036003" cy="365760"/>
          </a:xfrm>
          <a:prstGeom prst="roundRect">
            <a:avLst>
              <a:gd name="adj" fmla="val 15000"/>
            </a:avLst>
          </a:prstGeom>
          <a:solidFill>
            <a:srgbClr val="FFFFFF"/>
          </a:solidFill>
          <a:ln w="12700">
            <a:solidFill>
              <a:srgbClr val="D6E7DB"/>
            </a:solidFill>
            <a:prstDash val="solid"/>
          </a:ln>
        </p:spPr>
      </p:sp>
      <p:sp>
        <p:nvSpPr>
          <p:cNvPr id="49" name="Text 47"/>
          <p:cNvSpPr/>
          <p:nvPr/>
        </p:nvSpPr>
        <p:spPr>
          <a:xfrm>
            <a:off x="7251009" y="53492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LSP servers</a:t>
            </a:r>
            <a:endParaRPr lang="en-US" sz="980" dirty="0"/>
          </a:p>
        </p:txBody>
      </p:sp>
      <p:sp>
        <p:nvSpPr>
          <p:cNvPr id="50" name="Shape 48"/>
          <p:cNvSpPr/>
          <p:nvPr/>
        </p:nvSpPr>
        <p:spPr>
          <a:xfrm>
            <a:off x="9424172" y="5349240"/>
            <a:ext cx="2036003" cy="365760"/>
          </a:xfrm>
          <a:prstGeom prst="roundRect">
            <a:avLst>
              <a:gd name="adj" fmla="val 15000"/>
            </a:avLst>
          </a:prstGeom>
          <a:solidFill>
            <a:srgbClr val="FFFFFF"/>
          </a:solidFill>
          <a:ln w="12700">
            <a:solidFill>
              <a:srgbClr val="D6E7DB"/>
            </a:solidFill>
            <a:prstDash val="solid"/>
          </a:ln>
        </p:spPr>
      </p:sp>
      <p:sp>
        <p:nvSpPr>
          <p:cNvPr id="51" name="Text 49"/>
          <p:cNvSpPr/>
          <p:nvPr/>
        </p:nvSpPr>
        <p:spPr>
          <a:xfrm>
            <a:off x="9424172" y="5349240"/>
            <a:ext cx="2036003" cy="365760"/>
          </a:xfrm>
          <a:prstGeom prst="rect">
            <a:avLst/>
          </a:prstGeom>
          <a:noFill/>
          <a:ln/>
        </p:spPr>
        <p:txBody>
          <a:bodyPr wrap="square" lIns="0" tIns="0" rIns="0" bIns="0" rtlCol="0" anchor="ctr"/>
          <a:lstStyle/>
          <a:p>
            <a:pPr algn="ctr" indent="0" marL="0">
              <a:buNone/>
            </a:pPr>
            <a:r>
              <a:rPr lang="en-US" sz="980" b="1" dirty="0">
                <a:solidFill>
                  <a:srgbClr val="22252A"/>
                </a:solidFill>
                <a:latin typeface="Calibri" pitchFamily="34" charset="0"/>
                <a:ea typeface="Calibri" pitchFamily="34" charset="-122"/>
                <a:cs typeface="Calibri" pitchFamily="34" charset="-120"/>
              </a:rPr>
              <a:t>Model tier</a:t>
            </a:r>
            <a:endParaRPr lang="en-US" sz="980" dirty="0"/>
          </a:p>
        </p:txBody>
      </p:sp>
      <p:sp>
        <p:nvSpPr>
          <p:cNvPr id="52" name="Text 50"/>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Scaffold in depth · flow</a:t>
            </a:r>
            <a:endParaRPr lang="en-US" sz="850" dirty="0"/>
          </a:p>
        </p:txBody>
      </p:sp>
      <p:sp>
        <p:nvSpPr>
          <p:cNvPr id="53" name="Text 51"/>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08 / 21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C6E49"/>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09</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C6E49"/>
                </a:solidFill>
                <a:latin typeface="Calibri" pitchFamily="34" charset="0"/>
                <a:ea typeface="Calibri" pitchFamily="34" charset="-122"/>
                <a:cs typeface="Calibri" pitchFamily="34" charset="-120"/>
              </a:rPr>
              <a:t>SCAFFOLD IN DEPTH · B</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What it writes — and why that makes Claude predictable</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scaffold materializes an identical control surface into every repo. Predictability comes from the same gates, same agents, and same tunable dials appearing everywhere — configuration, not improvisation.</a:t>
            </a:r>
            <a:endParaRPr lang="en-US" sz="1150" dirty="0"/>
          </a:p>
        </p:txBody>
      </p:sp>
      <p:sp>
        <p:nvSpPr>
          <p:cNvPr id="7" name="Shape 5"/>
          <p:cNvSpPr/>
          <p:nvPr/>
        </p:nvSpPr>
        <p:spPr>
          <a:xfrm>
            <a:off x="502920" y="1874520"/>
            <a:ext cx="5394960" cy="3977640"/>
          </a:xfrm>
          <a:prstGeom prst="roundRect">
            <a:avLst>
              <a:gd name="adj" fmla="val 2069"/>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8" name="Text 6"/>
          <p:cNvSpPr/>
          <p:nvPr/>
        </p:nvSpPr>
        <p:spPr>
          <a:xfrm>
            <a:off x="731520" y="2039112"/>
            <a:ext cx="4937760" cy="274320"/>
          </a:xfrm>
          <a:prstGeom prst="rect">
            <a:avLst/>
          </a:prstGeom>
          <a:noFill/>
          <a:ln/>
        </p:spPr>
        <p:txBody>
          <a:bodyPr wrap="square" lIns="0" tIns="0" rIns="0" bIns="0" rtlCol="0" anchor="ctr"/>
          <a:lstStyle/>
          <a:p>
            <a:pPr indent="0" marL="0">
              <a:buNone/>
            </a:pPr>
            <a:r>
              <a:rPr lang="en-US" sz="1200" b="1" dirty="0">
                <a:solidFill>
                  <a:srgbClr val="2C6E49"/>
                </a:solidFill>
                <a:latin typeface="Calibri" pitchFamily="34" charset="0"/>
                <a:ea typeface="Calibri" pitchFamily="34" charset="-122"/>
                <a:cs typeface="Calibri" pitchFamily="34" charset="-120"/>
              </a:rPr>
              <a:t>What /scaffold generates</a:t>
            </a:r>
            <a:endParaRPr lang="en-US" sz="1200" dirty="0"/>
          </a:p>
        </p:txBody>
      </p:sp>
      <p:pic>
        <p:nvPicPr>
          <p:cNvPr id="9" name="Image 0" descr="/root/work/harness_slide/icons/l1_file.png">    </p:cNvPr>
          <p:cNvPicPr>
            <a:picLocks noChangeAspect="1"/>
          </p:cNvPicPr>
          <p:nvPr/>
        </p:nvPicPr>
        <p:blipFill>
          <a:blip r:embed="rId1"/>
          <a:stretch>
            <a:fillRect/>
          </a:stretch>
        </p:blipFill>
        <p:spPr>
          <a:xfrm>
            <a:off x="758952" y="2450592"/>
            <a:ext cx="164592" cy="164592"/>
          </a:xfrm>
          <a:prstGeom prst="rect">
            <a:avLst/>
          </a:prstGeom>
        </p:spPr>
      </p:pic>
      <p:sp>
        <p:nvSpPr>
          <p:cNvPr id="10" name="Text 7"/>
          <p:cNvSpPr/>
          <p:nvPr/>
        </p:nvSpPr>
        <p:spPr>
          <a:xfrm>
            <a:off x="1005840" y="2377440"/>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project-manifest.json  </a:t>
            </a:r>
            <a:pPr indent="0" marL="0">
              <a:buNone/>
            </a:pPr>
            <a:r>
              <a:rPr lang="en-US" sz="880" i="1" dirty="0">
                <a:solidFill>
                  <a:srgbClr val="6C7078"/>
                </a:solidFill>
                <a:latin typeface="Calibri" pitchFamily="34" charset="0"/>
                <a:ea typeface="Calibri" pitchFamily="34" charset="-122"/>
                <a:cs typeface="Calibri" pitchFamily="34" charset="-120"/>
              </a:rPr>
              <a:t>quality / arch / review / budget knobs</a:t>
            </a:r>
            <a:endParaRPr lang="en-US" sz="980" dirty="0"/>
          </a:p>
        </p:txBody>
      </p:sp>
      <p:pic>
        <p:nvPicPr>
          <p:cNvPr id="11" name="Image 1" descr="/root/work/harness_slide/icons/l1_file.png">    </p:cNvPr>
          <p:cNvPicPr>
            <a:picLocks noChangeAspect="1"/>
          </p:cNvPicPr>
          <p:nvPr/>
        </p:nvPicPr>
        <p:blipFill>
          <a:blip r:embed="rId2"/>
          <a:stretch>
            <a:fillRect/>
          </a:stretch>
        </p:blipFill>
        <p:spPr>
          <a:xfrm>
            <a:off x="758952" y="2866644"/>
            <a:ext cx="164592" cy="164592"/>
          </a:xfrm>
          <a:prstGeom prst="rect">
            <a:avLst/>
          </a:prstGeom>
        </p:spPr>
      </p:pic>
      <p:sp>
        <p:nvSpPr>
          <p:cNvPr id="12" name="Text 8"/>
          <p:cNvSpPr/>
          <p:nvPr/>
        </p:nvSpPr>
        <p:spPr>
          <a:xfrm>
            <a:off x="1005840" y="2793492"/>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CLAUDE.md · design.md · HARNESS.md  </a:t>
            </a:r>
            <a:pPr indent="0" marL="0">
              <a:buNone/>
            </a:pPr>
            <a:r>
              <a:rPr lang="en-US" sz="880" i="1" dirty="0">
                <a:solidFill>
                  <a:srgbClr val="6C7078"/>
                </a:solidFill>
                <a:latin typeface="Calibri" pitchFamily="34" charset="0"/>
                <a:ea typeface="Calibri" pitchFamily="34" charset="-122"/>
                <a:cs typeface="Calibri" pitchFamily="34" charset="-120"/>
              </a:rPr>
              <a:t>rules + architecture + control registry</a:t>
            </a:r>
            <a:endParaRPr lang="en-US" sz="980" dirty="0"/>
          </a:p>
        </p:txBody>
      </p:sp>
      <p:pic>
        <p:nvPicPr>
          <p:cNvPr id="13" name="Image 2" descr="/root/work/harness_slide/icons/l1_file.png">    </p:cNvPr>
          <p:cNvPicPr>
            <a:picLocks noChangeAspect="1"/>
          </p:cNvPicPr>
          <p:nvPr/>
        </p:nvPicPr>
        <p:blipFill>
          <a:blip r:embed="rId3"/>
          <a:stretch>
            <a:fillRect/>
          </a:stretch>
        </p:blipFill>
        <p:spPr>
          <a:xfrm>
            <a:off x="758952" y="3282696"/>
            <a:ext cx="164592" cy="164592"/>
          </a:xfrm>
          <a:prstGeom prst="rect">
            <a:avLst/>
          </a:prstGeom>
        </p:spPr>
      </p:pic>
      <p:sp>
        <p:nvSpPr>
          <p:cNvPr id="14" name="Text 9"/>
          <p:cNvSpPr/>
          <p:nvPr/>
        </p:nvSpPr>
        <p:spPr>
          <a:xfrm>
            <a:off x="1005840" y="3209544"/>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.claude/agents/  </a:t>
            </a:r>
            <a:pPr indent="0" marL="0">
              <a:buNone/>
            </a:pPr>
            <a:r>
              <a:rPr lang="en-US" sz="880" i="1" dirty="0">
                <a:solidFill>
                  <a:srgbClr val="6C7078"/>
                </a:solidFill>
                <a:latin typeface="Calibri" pitchFamily="34" charset="0"/>
                <a:ea typeface="Calibri" pitchFamily="34" charset="-122"/>
                <a:cs typeface="Calibri" pitchFamily="34" charset="-120"/>
              </a:rPr>
              <a:t>8 subagents with tool + model grants</a:t>
            </a:r>
            <a:endParaRPr lang="en-US" sz="980" dirty="0"/>
          </a:p>
        </p:txBody>
      </p:sp>
      <p:pic>
        <p:nvPicPr>
          <p:cNvPr id="15" name="Image 3" descr="/root/work/harness_slide/icons/l1_file.png">    </p:cNvPr>
          <p:cNvPicPr>
            <a:picLocks noChangeAspect="1"/>
          </p:cNvPicPr>
          <p:nvPr/>
        </p:nvPicPr>
        <p:blipFill>
          <a:blip r:embed="rId4"/>
          <a:stretch>
            <a:fillRect/>
          </a:stretch>
        </p:blipFill>
        <p:spPr>
          <a:xfrm>
            <a:off x="758952" y="3698748"/>
            <a:ext cx="164592" cy="164592"/>
          </a:xfrm>
          <a:prstGeom prst="rect">
            <a:avLst/>
          </a:prstGeom>
        </p:spPr>
      </p:pic>
      <p:sp>
        <p:nvSpPr>
          <p:cNvPr id="16" name="Text 10"/>
          <p:cNvSpPr/>
          <p:nvPr/>
        </p:nvSpPr>
        <p:spPr>
          <a:xfrm>
            <a:off x="1005840" y="3625596"/>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.claude/skills/  </a:t>
            </a:r>
            <a:pPr indent="0" marL="0">
              <a:buNone/>
            </a:pPr>
            <a:r>
              <a:rPr lang="en-US" sz="880" i="1" dirty="0">
                <a:solidFill>
                  <a:srgbClr val="6C7078"/>
                </a:solidFill>
                <a:latin typeface="Calibri" pitchFamily="34" charset="0"/>
                <a:ea typeface="Calibri" pitchFamily="34" charset="-122"/>
                <a:cs typeface="Calibri" pitchFamily="34" charset="-120"/>
              </a:rPr>
              <a:t>26+ workflow lanes as virtual commands</a:t>
            </a:r>
            <a:endParaRPr lang="en-US" sz="980" dirty="0"/>
          </a:p>
        </p:txBody>
      </p:sp>
      <p:pic>
        <p:nvPicPr>
          <p:cNvPr id="17" name="Image 4" descr="/root/work/harness_slide/icons/l1_file.png">    </p:cNvPr>
          <p:cNvPicPr>
            <a:picLocks noChangeAspect="1"/>
          </p:cNvPicPr>
          <p:nvPr/>
        </p:nvPicPr>
        <p:blipFill>
          <a:blip r:embed="rId5"/>
          <a:stretch>
            <a:fillRect/>
          </a:stretch>
        </p:blipFill>
        <p:spPr>
          <a:xfrm>
            <a:off x="758952" y="4114800"/>
            <a:ext cx="164592" cy="164592"/>
          </a:xfrm>
          <a:prstGeom prst="rect">
            <a:avLst/>
          </a:prstGeom>
        </p:spPr>
      </p:pic>
      <p:sp>
        <p:nvSpPr>
          <p:cNvPr id="18" name="Text 11"/>
          <p:cNvSpPr/>
          <p:nvPr/>
        </p:nvSpPr>
        <p:spPr>
          <a:xfrm>
            <a:off x="1005840" y="4041648"/>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.claude/hooks/  +  git-hooks/  </a:t>
            </a:r>
            <a:pPr indent="0" marL="0">
              <a:buNone/>
            </a:pPr>
            <a:r>
              <a:rPr lang="en-US" sz="880" i="1" dirty="0">
                <a:solidFill>
                  <a:srgbClr val="6C7078"/>
                </a:solidFill>
                <a:latin typeface="Calibri" pitchFamily="34" charset="0"/>
                <a:ea typeface="Calibri" pitchFamily="34" charset="-122"/>
                <a:cs typeface="Calibri" pitchFamily="34" charset="-120"/>
              </a:rPr>
              <a:t>lifecycle gates + commit-time ratchet</a:t>
            </a:r>
            <a:endParaRPr lang="en-US" sz="980" dirty="0"/>
          </a:p>
        </p:txBody>
      </p:sp>
      <p:pic>
        <p:nvPicPr>
          <p:cNvPr id="19" name="Image 5" descr="/root/work/harness_slide/icons/l1_file.png">    </p:cNvPr>
          <p:cNvPicPr>
            <a:picLocks noChangeAspect="1"/>
          </p:cNvPicPr>
          <p:nvPr/>
        </p:nvPicPr>
        <p:blipFill>
          <a:blip r:embed="rId6"/>
          <a:stretch>
            <a:fillRect/>
          </a:stretch>
        </p:blipFill>
        <p:spPr>
          <a:xfrm>
            <a:off x="758952" y="4530852"/>
            <a:ext cx="164592" cy="164592"/>
          </a:xfrm>
          <a:prstGeom prst="rect">
            <a:avLst/>
          </a:prstGeom>
        </p:spPr>
      </p:pic>
      <p:sp>
        <p:nvSpPr>
          <p:cNvPr id="20" name="Text 12"/>
          <p:cNvSpPr/>
          <p:nvPr/>
        </p:nvSpPr>
        <p:spPr>
          <a:xfrm>
            <a:off x="1005840" y="4457700"/>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.claude/templates/  +  state/  </a:t>
            </a:r>
            <a:pPr indent="0" marL="0">
              <a:buNone/>
            </a:pPr>
            <a:r>
              <a:rPr lang="en-US" sz="880" i="1" dirty="0">
                <a:solidFill>
                  <a:srgbClr val="6C7078"/>
                </a:solidFill>
                <a:latin typeface="Calibri" pitchFamily="34" charset="0"/>
                <a:ea typeface="Calibri" pitchFamily="34" charset="-122"/>
                <a:cs typeface="Calibri" pitchFamily="34" charset="-120"/>
              </a:rPr>
              <a:t>sprint contracts, seeds, learned rules</a:t>
            </a:r>
            <a:endParaRPr lang="en-US" sz="980" dirty="0"/>
          </a:p>
        </p:txBody>
      </p:sp>
      <p:pic>
        <p:nvPicPr>
          <p:cNvPr id="21" name="Image 6" descr="/root/work/harness_slide/icons/l1_file.png">    </p:cNvPr>
          <p:cNvPicPr>
            <a:picLocks noChangeAspect="1"/>
          </p:cNvPicPr>
          <p:nvPr/>
        </p:nvPicPr>
        <p:blipFill>
          <a:blip r:embed="rId7"/>
          <a:stretch>
            <a:fillRect/>
          </a:stretch>
        </p:blipFill>
        <p:spPr>
          <a:xfrm>
            <a:off x="758952" y="4946904"/>
            <a:ext cx="164592" cy="164592"/>
          </a:xfrm>
          <a:prstGeom prst="rect">
            <a:avLst/>
          </a:prstGeom>
        </p:spPr>
      </p:pic>
      <p:sp>
        <p:nvSpPr>
          <p:cNvPr id="22" name="Text 13"/>
          <p:cNvSpPr/>
          <p:nvPr/>
        </p:nvSpPr>
        <p:spPr>
          <a:xfrm>
            <a:off x="1005840" y="4873752"/>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specs/  (brd · stories · design)  </a:t>
            </a:r>
            <a:pPr indent="0" marL="0">
              <a:buNone/>
            </a:pPr>
            <a:r>
              <a:rPr lang="en-US" sz="880" i="1" dirty="0">
                <a:solidFill>
                  <a:srgbClr val="6C7078"/>
                </a:solidFill>
                <a:latin typeface="Calibri" pitchFamily="34" charset="0"/>
                <a:ea typeface="Calibri" pitchFamily="34" charset="-122"/>
                <a:cs typeface="Calibri" pitchFamily="34" charset="-120"/>
              </a:rPr>
              <a:t>the machine-readable work contract</a:t>
            </a:r>
            <a:endParaRPr lang="en-US" sz="980" dirty="0"/>
          </a:p>
        </p:txBody>
      </p:sp>
      <p:pic>
        <p:nvPicPr>
          <p:cNvPr id="23" name="Image 7" descr="/root/work/harness_slide/icons/l1_file.png">    </p:cNvPr>
          <p:cNvPicPr>
            <a:picLocks noChangeAspect="1"/>
          </p:cNvPicPr>
          <p:nvPr/>
        </p:nvPicPr>
        <p:blipFill>
          <a:blip r:embed="rId8"/>
          <a:stretch>
            <a:fillRect/>
          </a:stretch>
        </p:blipFill>
        <p:spPr>
          <a:xfrm>
            <a:off x="758952" y="5362956"/>
            <a:ext cx="164592" cy="164592"/>
          </a:xfrm>
          <a:prstGeom prst="rect">
            <a:avLst/>
          </a:prstGeom>
        </p:spPr>
      </p:pic>
      <p:sp>
        <p:nvSpPr>
          <p:cNvPr id="24" name="Text 14"/>
          <p:cNvSpPr/>
          <p:nvPr/>
        </p:nvSpPr>
        <p:spPr>
          <a:xfrm>
            <a:off x="1005840" y="5289804"/>
            <a:ext cx="4709160" cy="320040"/>
          </a:xfrm>
          <a:prstGeom prst="rect">
            <a:avLst/>
          </a:prstGeom>
          <a:noFill/>
          <a:ln/>
        </p:spPr>
        <p:txBody>
          <a:bodyPr wrap="square" lIns="0" tIns="0" rIns="0" bIns="0" rtlCol="0" anchor="ctr"/>
          <a:lstStyle/>
          <a:p>
            <a:pPr indent="0" marL="0">
              <a:buNone/>
            </a:pPr>
            <a:r>
              <a:rPr lang="en-US" sz="980" b="1" dirty="0">
                <a:solidFill>
                  <a:srgbClr val="22252A"/>
                </a:solidFill>
                <a:latin typeface="Calibri" pitchFamily="34" charset="0"/>
                <a:ea typeface="Calibri" pitchFamily="34" charset="-122"/>
                <a:cs typeface="Calibri" pitchFamily="34" charset="-120"/>
              </a:rPr>
              <a:t>init.sh  +  .mcp.json  </a:t>
            </a:r>
            <a:pPr indent="0" marL="0">
              <a:buNone/>
            </a:pPr>
            <a:r>
              <a:rPr lang="en-US" sz="880" i="1" dirty="0">
                <a:solidFill>
                  <a:srgbClr val="6C7078"/>
                </a:solidFill>
                <a:latin typeface="Calibri" pitchFamily="34" charset="0"/>
                <a:ea typeface="Calibri" pitchFamily="34" charset="-122"/>
                <a:cs typeface="Calibri" pitchFamily="34" charset="-120"/>
              </a:rPr>
              <a:t>bootstrap + navigation MCP server</a:t>
            </a:r>
            <a:endParaRPr lang="en-US" sz="980" dirty="0"/>
          </a:p>
        </p:txBody>
      </p:sp>
      <p:sp>
        <p:nvSpPr>
          <p:cNvPr id="25" name="Shape 15"/>
          <p:cNvSpPr/>
          <p:nvPr/>
        </p:nvSpPr>
        <p:spPr>
          <a:xfrm>
            <a:off x="6217920" y="1874520"/>
            <a:ext cx="5470855" cy="3977640"/>
          </a:xfrm>
          <a:prstGeom prst="roundRect">
            <a:avLst>
              <a:gd name="adj" fmla="val 2069"/>
            </a:avLst>
          </a:prstGeom>
          <a:solidFill>
            <a:srgbClr val="E7F1E9"/>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26" name="Text 16"/>
          <p:cNvSpPr/>
          <p:nvPr/>
        </p:nvSpPr>
        <p:spPr>
          <a:xfrm>
            <a:off x="6446520" y="2039112"/>
            <a:ext cx="5013655" cy="274320"/>
          </a:xfrm>
          <a:prstGeom prst="rect">
            <a:avLst/>
          </a:prstGeom>
          <a:noFill/>
          <a:ln/>
        </p:spPr>
        <p:txBody>
          <a:bodyPr wrap="square" lIns="0" tIns="0" rIns="0" bIns="0" rtlCol="0" anchor="ctr"/>
          <a:lstStyle/>
          <a:p>
            <a:pPr indent="0" marL="0">
              <a:buNone/>
            </a:pPr>
            <a:r>
              <a:rPr lang="en-US" sz="1200" b="1" dirty="0">
                <a:solidFill>
                  <a:srgbClr val="2C6E49"/>
                </a:solidFill>
                <a:latin typeface="Calibri" pitchFamily="34" charset="0"/>
                <a:ea typeface="Calibri" pitchFamily="34" charset="-122"/>
                <a:cs typeface="Calibri" pitchFamily="34" charset="-120"/>
              </a:rPr>
              <a:t>The dials that make behaviour predictable</a:t>
            </a:r>
            <a:endParaRPr lang="en-US" sz="1200" dirty="0"/>
          </a:p>
        </p:txBody>
      </p:sp>
      <p:sp>
        <p:nvSpPr>
          <p:cNvPr id="27" name="Shape 17"/>
          <p:cNvSpPr/>
          <p:nvPr/>
        </p:nvSpPr>
        <p:spPr>
          <a:xfrm>
            <a:off x="6419088" y="2441448"/>
            <a:ext cx="5068519" cy="475488"/>
          </a:xfrm>
          <a:prstGeom prst="roundRect">
            <a:avLst>
              <a:gd name="adj" fmla="val 11538"/>
            </a:avLst>
          </a:prstGeom>
          <a:solidFill>
            <a:srgbClr val="FFFFFF"/>
          </a:solidFill>
          <a:ln w="12700">
            <a:solidFill>
              <a:srgbClr val="D6E7DB"/>
            </a:solidFill>
            <a:prstDash val="solid"/>
          </a:ln>
        </p:spPr>
      </p:sp>
      <p:sp>
        <p:nvSpPr>
          <p:cNvPr id="28" name="Text 18"/>
          <p:cNvSpPr/>
          <p:nvPr/>
        </p:nvSpPr>
        <p:spPr>
          <a:xfrm>
            <a:off x="6547104" y="244144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architecture.layers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one-way import hierarchy, enforced on every save</a:t>
            </a:r>
            <a:endParaRPr lang="en-US" sz="980" dirty="0"/>
          </a:p>
        </p:txBody>
      </p:sp>
      <p:sp>
        <p:nvSpPr>
          <p:cNvPr id="29" name="Shape 19"/>
          <p:cNvSpPr/>
          <p:nvPr/>
        </p:nvSpPr>
        <p:spPr>
          <a:xfrm>
            <a:off x="6419088" y="2990088"/>
            <a:ext cx="5068519" cy="475488"/>
          </a:xfrm>
          <a:prstGeom prst="roundRect">
            <a:avLst>
              <a:gd name="adj" fmla="val 11538"/>
            </a:avLst>
          </a:prstGeom>
          <a:solidFill>
            <a:srgbClr val="FFFFFF"/>
          </a:solidFill>
          <a:ln w="12700">
            <a:solidFill>
              <a:srgbClr val="D6E7DB"/>
            </a:solidFill>
            <a:prstDash val="solid"/>
          </a:ln>
        </p:spPr>
      </p:sp>
      <p:sp>
        <p:nvSpPr>
          <p:cNvPr id="30" name="Text 20"/>
          <p:cNvSpPr/>
          <p:nvPr/>
        </p:nvSpPr>
        <p:spPr>
          <a:xfrm>
            <a:off x="6547104" y="299008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quality.sensor_tier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minimal · standard · strict commit ceremony</a:t>
            </a:r>
            <a:endParaRPr lang="en-US" sz="980" dirty="0"/>
          </a:p>
        </p:txBody>
      </p:sp>
      <p:sp>
        <p:nvSpPr>
          <p:cNvPr id="31" name="Shape 21"/>
          <p:cNvSpPr/>
          <p:nvPr/>
        </p:nvSpPr>
        <p:spPr>
          <a:xfrm>
            <a:off x="6419088" y="3538728"/>
            <a:ext cx="5068519" cy="475488"/>
          </a:xfrm>
          <a:prstGeom prst="roundRect">
            <a:avLst>
              <a:gd name="adj" fmla="val 11538"/>
            </a:avLst>
          </a:prstGeom>
          <a:solidFill>
            <a:srgbClr val="FFFFFF"/>
          </a:solidFill>
          <a:ln w="12700">
            <a:solidFill>
              <a:srgbClr val="D6E7DB"/>
            </a:solidFill>
            <a:prstDash val="solid"/>
          </a:ln>
        </p:spPr>
      </p:sp>
      <p:sp>
        <p:nvSpPr>
          <p:cNvPr id="32" name="Text 22"/>
          <p:cNvSpPr/>
          <p:nvPr/>
        </p:nvSpPr>
        <p:spPr>
          <a:xfrm>
            <a:off x="6547104" y="353872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execution.coverage_threshold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ratchet floor (default 80%, targets 100%)</a:t>
            </a:r>
            <a:endParaRPr lang="en-US" sz="980" dirty="0"/>
          </a:p>
        </p:txBody>
      </p:sp>
      <p:sp>
        <p:nvSpPr>
          <p:cNvPr id="33" name="Shape 23"/>
          <p:cNvSpPr/>
          <p:nvPr/>
        </p:nvSpPr>
        <p:spPr>
          <a:xfrm>
            <a:off x="6419088" y="4087368"/>
            <a:ext cx="5068519" cy="475488"/>
          </a:xfrm>
          <a:prstGeom prst="roundRect">
            <a:avLst>
              <a:gd name="adj" fmla="val 11538"/>
            </a:avLst>
          </a:prstGeom>
          <a:solidFill>
            <a:srgbClr val="FFFFFF"/>
          </a:solidFill>
          <a:ln w="12700">
            <a:solidFill>
              <a:srgbClr val="D6E7DB"/>
            </a:solidFill>
            <a:prstDash val="solid"/>
          </a:ln>
        </p:spPr>
      </p:sp>
      <p:sp>
        <p:nvSpPr>
          <p:cNvPr id="34" name="Text 24"/>
          <p:cNvSpPr/>
          <p:nvPr/>
        </p:nvSpPr>
        <p:spPr>
          <a:xfrm>
            <a:off x="6547104" y="408736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review.adversarial + thresholds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when dual fresh-context review triggers</a:t>
            </a:r>
            <a:endParaRPr lang="en-US" sz="980" dirty="0"/>
          </a:p>
        </p:txBody>
      </p:sp>
      <p:sp>
        <p:nvSpPr>
          <p:cNvPr id="35" name="Shape 25"/>
          <p:cNvSpPr/>
          <p:nvPr/>
        </p:nvSpPr>
        <p:spPr>
          <a:xfrm>
            <a:off x="6419088" y="4636008"/>
            <a:ext cx="5068519" cy="475488"/>
          </a:xfrm>
          <a:prstGeom prst="roundRect">
            <a:avLst>
              <a:gd name="adj" fmla="val 11538"/>
            </a:avLst>
          </a:prstGeom>
          <a:solidFill>
            <a:srgbClr val="FFFFFF"/>
          </a:solidFill>
          <a:ln w="12700">
            <a:solidFill>
              <a:srgbClr val="D6E7DB"/>
            </a:solidFill>
            <a:prstDash val="solid"/>
          </a:ln>
        </p:spPr>
      </p:sp>
      <p:sp>
        <p:nvSpPr>
          <p:cNvPr id="36" name="Text 26"/>
          <p:cNvSpPr/>
          <p:nvPr/>
        </p:nvSpPr>
        <p:spPr>
          <a:xfrm>
            <a:off x="6547104" y="463600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token_governor.mode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enforced navigation before broad reads</a:t>
            </a:r>
            <a:endParaRPr lang="en-US" sz="980" dirty="0"/>
          </a:p>
        </p:txBody>
      </p:sp>
      <p:sp>
        <p:nvSpPr>
          <p:cNvPr id="37" name="Shape 27"/>
          <p:cNvSpPr/>
          <p:nvPr/>
        </p:nvSpPr>
        <p:spPr>
          <a:xfrm>
            <a:off x="6419088" y="5184648"/>
            <a:ext cx="5068519" cy="475488"/>
          </a:xfrm>
          <a:prstGeom prst="roundRect">
            <a:avLst>
              <a:gd name="adj" fmla="val 11538"/>
            </a:avLst>
          </a:prstGeom>
          <a:solidFill>
            <a:srgbClr val="FFFFFF"/>
          </a:solidFill>
          <a:ln w="12700">
            <a:solidFill>
              <a:srgbClr val="D6E7DB"/>
            </a:solidFill>
            <a:prstDash val="solid"/>
          </a:ln>
        </p:spPr>
      </p:sp>
      <p:sp>
        <p:nvSpPr>
          <p:cNvPr id="38" name="Text 28"/>
          <p:cNvSpPr/>
          <p:nvPr/>
        </p:nvSpPr>
        <p:spPr>
          <a:xfrm>
            <a:off x="6547104" y="5184648"/>
            <a:ext cx="4867351" cy="475488"/>
          </a:xfrm>
          <a:prstGeom prst="rect">
            <a:avLst/>
          </a:prstGeom>
          <a:noFill/>
          <a:ln/>
        </p:spPr>
        <p:txBody>
          <a:bodyPr wrap="square" lIns="0" tIns="0" rIns="0" bIns="0" rtlCol="0" anchor="ctr"/>
          <a:lstStyle/>
          <a:p>
            <a:pPr indent="0" marL="0">
              <a:lnSpc>
                <a:spcPct val="96000"/>
              </a:lnSpc>
              <a:buNone/>
            </a:pPr>
            <a:r>
              <a:rPr lang="en-US" sz="980" b="1" dirty="0">
                <a:solidFill>
                  <a:srgbClr val="2C6E49"/>
                </a:solidFill>
                <a:latin typeface="Calibri" pitchFamily="34" charset="0"/>
                <a:ea typeface="Calibri" pitchFamily="34" charset="-122"/>
                <a:cs typeface="Calibri" pitchFamily="34" charset="-120"/>
              </a:rPr>
              <a:t>execution.model_tier + budget
</a:t>
            </a:r>
            <a:pPr indent="0" marL="0">
              <a:lnSpc>
                <a:spcPct val="96000"/>
              </a:lnSpc>
              <a:buNone/>
            </a:pPr>
            <a:r>
              <a:rPr lang="en-US" sz="860" dirty="0">
                <a:solidFill>
                  <a:srgbClr val="6C7078"/>
                </a:solidFill>
                <a:latin typeface="Calibri" pitchFamily="34" charset="0"/>
                <a:ea typeface="Calibri" pitchFamily="34" charset="-122"/>
                <a:cs typeface="Calibri" pitchFamily="34" charset="-120"/>
              </a:rPr>
              <a:t>cost posture + wall-clock / spawn caps</a:t>
            </a:r>
            <a:endParaRPr lang="en-US" sz="980" dirty="0"/>
          </a:p>
        </p:txBody>
      </p:sp>
      <p:sp>
        <p:nvSpPr>
          <p:cNvPr id="39" name="Text 29"/>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Scaffold in depth · output</a:t>
            </a:r>
            <a:endParaRPr lang="en-US" sz="850" dirty="0"/>
          </a:p>
        </p:txBody>
      </p:sp>
      <p:sp>
        <p:nvSpPr>
          <p:cNvPr id="40" name="Text 30"/>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09 / 21</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1C7293"/>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10</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LAYER 2 · SKILLS &amp; LANES</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26+ skills behind a deliberately small surface</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Skills are on-demand, virtual commands. The user learns four verbs; the harness classifies scope and routes each task to the correct lane — with the right amount of ceremony for the risk.</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1554480"/>
                <a:gridCol w="2103120"/>
                <a:gridCol w="5669280"/>
                <a:gridCol w="2404872"/>
              </a:tblGrid>
              <a:tr h="54864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Verb</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Use when</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What happens</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Lane</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/build</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New product</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BRD → stories → design/test → /auto, with human gates</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Greenfield</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/feature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Existing code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Refresh DeepWiki → route by scope → gate → PR</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Brownfield</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/sprint</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Next PRD</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Ground vs prior sprint → human-reviewed design amendment → /auto</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Sprint-delta</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/gate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Before merge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Evaluator + dual review + security + quality card + walkthrough</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Verify</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(routed) /change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Behaviour change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Test-first change; --issue N for a GitHub bug</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Change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(routed) /refactor</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No behaviour change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Behaviour-preserving cleanup with purity + coverage gates</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Refactor</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r h="548640">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(routed) /vibe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Tiny safe edit</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Micro-contract fast lane (≤3 files, &lt;150 lines, no auth/API)</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80" dirty="0">
                          <a:solidFill>
                            <a:srgbClr val="22252A"/>
                          </a:solidFill>
                          <a:latin typeface="Calibri" pitchFamily="34" charset="0"/>
                          <a:ea typeface="Calibri" pitchFamily="34" charset="-122"/>
                          <a:cs typeface="Calibri" pitchFamily="34" charset="-120"/>
                        </a:rPr>
                        <a:t>Vibe</a:t>
                      </a:r>
                      <a:endParaRPr lang="en-US" sz="98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5532120"/>
            <a:ext cx="11185855" cy="658368"/>
          </a:xfrm>
          <a:prstGeom prst="roundRect">
            <a:avLst>
              <a:gd name="adj" fmla="val 11111"/>
            </a:avLst>
          </a:prstGeom>
          <a:solidFill>
            <a:srgbClr val="E2EEF3"/>
          </a:solidFill>
          <a:ln w="12700">
            <a:solidFill>
              <a:srgbClr val="CFE1EA"/>
            </a:solidFill>
            <a:prstDash val="solid"/>
          </a:ln>
        </p:spPr>
      </p:sp>
      <p:sp>
        <p:nvSpPr>
          <p:cNvPr id="9" name="Text 6"/>
          <p:cNvSpPr/>
          <p:nvPr/>
        </p:nvSpPr>
        <p:spPr>
          <a:xfrm>
            <a:off x="731520" y="5532120"/>
            <a:ext cx="10728655" cy="658368"/>
          </a:xfrm>
          <a:prstGeom prst="rect">
            <a:avLst/>
          </a:prstGeom>
          <a:noFill/>
          <a:ln/>
        </p:spPr>
        <p:txBody>
          <a:bodyPr wrap="square" lIns="0" tIns="0" rIns="0" bIns="0" rtlCol="0" anchor="ctr"/>
          <a:lstStyle/>
          <a:p>
            <a:pPr indent="0" marL="0">
              <a:lnSpc>
                <a:spcPct val="100000"/>
              </a:lnSpc>
              <a:buNone/>
            </a:pPr>
            <a:r>
              <a:rPr lang="en-US" sz="1100" b="1" dirty="0">
                <a:solidFill>
                  <a:srgbClr val="1C7293"/>
                </a:solidFill>
                <a:latin typeface="Calibri" pitchFamily="34" charset="0"/>
                <a:ea typeface="Calibri" pitchFamily="34" charset="-122"/>
                <a:cs typeface="Calibri" pitchFamily="34" charset="-120"/>
              </a:rPr>
              <a:t>Z/L continuum   </a:t>
            </a:r>
            <a:pPr indent="0" marL="0">
              <a:lnSpc>
                <a:spcPct val="100000"/>
              </a:lnSpc>
              <a:buNone/>
            </a:pPr>
            <a:r>
              <a:rPr lang="en-US" sz="1000" dirty="0">
                <a:solidFill>
                  <a:srgbClr val="22252A"/>
                </a:solidFill>
                <a:latin typeface="Calibri" pitchFamily="34" charset="0"/>
                <a:ea typeface="Calibri" pitchFamily="34" charset="-122"/>
                <a:cs typeface="Calibri" pitchFamily="34" charset="-120"/>
              </a:rPr>
              <a:t>Each task is scored and banded (L / M / Z), which picks both the harness lane and the human read-plan — you are not a permanent “vibe” or “read-every-line” team; the placement is per-task. Disposable artifacts (mockups, ARB docs, research) bypass the pipeline by design.</a:t>
            </a:r>
            <a:endParaRPr lang="en-US" sz="1100" dirty="0"/>
          </a:p>
        </p:txBody>
      </p:sp>
      <p:sp>
        <p:nvSpPr>
          <p:cNvPr id="10" name="Text 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Skills &amp; Lanes</a:t>
            </a:r>
            <a:endParaRPr lang="en-US" sz="850" dirty="0"/>
          </a:p>
        </p:txBody>
      </p:sp>
      <p:sp>
        <p:nvSpPr>
          <p:cNvPr id="11" name="Text 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10 / 21</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B07414"/>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11</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B07414"/>
                </a:solidFill>
                <a:latin typeface="Calibri" pitchFamily="34" charset="0"/>
                <a:ea typeface="Calibri" pitchFamily="34" charset="-122"/>
                <a:cs typeface="Calibri" pitchFamily="34" charset="-120"/>
              </a:rPr>
              <a:t>LAYER 3 · HOOKS &amp; GATES</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Deterministic guardrails — not AI</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Hooks are code, not model calls. They key off the tool name only, so they fire on every matching edit — including raw ad-hoc edits made outside any slash command. First failure wins, with a remediation hint.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2651760"/>
                <a:gridCol w="3108960"/>
                <a:gridCol w="6153912"/>
              </a:tblGrid>
              <a:tr h="530352">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Lifecycle event</a:t>
                      </a:r>
                      <a:endParaRPr lang="en-US" sz="102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B07414"/>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Hook</a:t>
                      </a:r>
                      <a:endParaRPr lang="en-US" sz="102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B07414"/>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What it enforces</a:t>
                      </a:r>
                      <a:endParaRPr lang="en-US" sz="102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B07414"/>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SessionStart</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check-git-hooks</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Warns if a repo is missing the commit-time gates</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PreToolUse · Write/Edit</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pre-write-gate</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Scope → prompt-cache lock → secrets → 300-line file / 30-line fn caps → TDD test-first</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PreToolUse · Bash</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pre-bash-gate</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Closes the shell write-bypass (redirects, tee, sed -i, cp/mv)</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PreToolUse · Read/Bash</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token-advisor</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Warns on avoidable broad reads / verbose commands</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PostToolUse · Edit</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verify-on-save</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One-way layer-import check + ruff/mypy/eslint on the saved file</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Stop / SubagentStop</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review-on-stop · graph-refresh</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Forces reviewer agents; refreshes the code graph &amp; DeepWiki</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7EDD6"/>
                    </a:solidFill>
                  </a:tcPr>
                </a:tc>
              </a:tr>
              <a:tr h="530352">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git pre-commit</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(real git hook)</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c>
                  <a:txBody>
                    <a:bodyPr/>
                    <a:lstStyle/>
                    <a:p>
                      <a:pPr algn="l" indent="0" marL="0">
                        <a:buNone/>
                      </a:pPr>
                      <a:r>
                        <a:rPr lang="en-US" sz="960" dirty="0">
                          <a:solidFill>
                            <a:srgbClr val="22252A"/>
                          </a:solidFill>
                          <a:latin typeface="Calibri" pitchFamily="34" charset="0"/>
                          <a:ea typeface="Calibri" pitchFamily="34" charset="-122"/>
                          <a:cs typeface="Calibri" pitchFamily="34" charset="-120"/>
                        </a:rPr>
                        <a:t>Layer scan → sprint-contract PASS → tsc → coverage ratchet vs baseline</a:t>
                      </a:r>
                      <a:endParaRPr lang="en-US" sz="960" dirty="0">
                        <a:latin typeface="Calibri" charset="0"/>
                        <a:ea typeface="Calibri" charset="0"/>
                        <a:cs typeface="Calibri" charset="0"/>
                      </a:endParaRPr>
                    </a:p>
                  </a:txBody>
                  <a:tcPr marL="63500" marR="50800" marT="25400" marB="25400" anchor="ctr">
                    <a:lnL w="6350" cap="flat" cmpd="sng" algn="ctr">
                      <a:solidFill>
                        <a:srgbClr val="EBDAB4"/>
                      </a:solidFill>
                      <a:prstDash val="solid"/>
                      <a:round/>
                      <a:headEnd type="none" w="med" len="med"/>
                      <a:tailEnd type="none" w="med" len="med"/>
                    </a:lnL>
                    <a:lnR w="6350" cap="flat" cmpd="sng" algn="ctr">
                      <a:solidFill>
                        <a:srgbClr val="EBDAB4"/>
                      </a:solidFill>
                      <a:prstDash val="solid"/>
                      <a:round/>
                      <a:headEnd type="none" w="med" len="med"/>
                      <a:tailEnd type="none" w="med" len="med"/>
                    </a:lnR>
                    <a:lnT w="6350" cap="flat" cmpd="sng" algn="ctr">
                      <a:solidFill>
                        <a:srgbClr val="EBDAB4"/>
                      </a:solidFill>
                      <a:prstDash val="solid"/>
                      <a:round/>
                      <a:headEnd type="none" w="med" len="med"/>
                      <a:tailEnd type="none" w="med" len="med"/>
                    </a:lnT>
                    <a:lnB w="6350" cap="flat" cmpd="sng" algn="ctr">
                      <a:solidFill>
                        <a:srgbClr val="EBDAB4"/>
                      </a:solidFill>
                      <a:prstDash val="solid"/>
                      <a:round/>
                      <a:headEnd type="none" w="med" len="med"/>
                      <a:tailEnd type="none" w="med" len="med"/>
                    </a:lnB>
                    <a:solidFill>
                      <a:srgbClr val="FFFFFF"/>
                    </a:solidFill>
                  </a:tcPr>
                </a:tc>
              </a:tr>
            </a:tbl>
          </a:graphicData>
        </a:graphic>
      </p:graphicFrame>
      <p:sp>
        <p:nvSpPr>
          <p:cNvPr id="8" name="Shape 5"/>
          <p:cNvSpPr/>
          <p:nvPr/>
        </p:nvSpPr>
        <p:spPr>
          <a:xfrm>
            <a:off x="502920" y="5623560"/>
            <a:ext cx="11185855" cy="566928"/>
          </a:xfrm>
          <a:prstGeom prst="roundRect">
            <a:avLst>
              <a:gd name="adj" fmla="val 12903"/>
            </a:avLst>
          </a:prstGeom>
          <a:solidFill>
            <a:srgbClr val="F7EDD6"/>
          </a:solidFill>
          <a:ln w="12700">
            <a:solidFill>
              <a:srgbClr val="EBDAB4"/>
            </a:solidFill>
            <a:prstDash val="solid"/>
          </a:ln>
        </p:spPr>
      </p:sp>
      <p:sp>
        <p:nvSpPr>
          <p:cNvPr id="9" name="Text 6"/>
          <p:cNvSpPr/>
          <p:nvPr/>
        </p:nvSpPr>
        <p:spPr>
          <a:xfrm>
            <a:off x="731520" y="5623560"/>
            <a:ext cx="10728655" cy="566928"/>
          </a:xfrm>
          <a:prstGeom prst="rect">
            <a:avLst/>
          </a:prstGeom>
          <a:noFill/>
          <a:ln/>
        </p:spPr>
        <p:txBody>
          <a:bodyPr wrap="square" lIns="0" tIns="0" rIns="0" bIns="0" rtlCol="0" anchor="ctr"/>
          <a:lstStyle/>
          <a:p>
            <a:pPr indent="0" marL="0">
              <a:buNone/>
            </a:pPr>
            <a:r>
              <a:rPr lang="en-US" sz="1050" b="1" dirty="0">
                <a:solidFill>
                  <a:srgbClr val="B07414"/>
                </a:solidFill>
                <a:latin typeface="Calibri" pitchFamily="34" charset="0"/>
                <a:ea typeface="Calibri" pitchFamily="34" charset="-122"/>
                <a:cs typeface="Calibri" pitchFamily="34" charset="-120"/>
              </a:rPr>
              <a:t>Fail loud, never silent   </a:t>
            </a:r>
            <a:pPr indent="0" marL="0">
              <a:buNone/>
            </a:pPr>
            <a:r>
              <a:rPr lang="en-US" sz="1000" dirty="0">
                <a:solidFill>
                  <a:srgbClr val="22252A"/>
                </a:solidFill>
                <a:latin typeface="Calibri" pitchFamily="34" charset="0"/>
                <a:ea typeface="Calibri" pitchFamily="34" charset="-122"/>
                <a:cs typeface="Calibri" pitchFamily="34" charset="-120"/>
              </a:rPr>
              <a:t>A gate that can't run (toolchain missing) prints WARNING: GATE SKIPPED; a hook crash is logged to hook-errors.log. A skip is never mistaken for a pass.</a:t>
            </a:r>
            <a:endParaRPr lang="en-US" sz="1050" dirty="0"/>
          </a:p>
        </p:txBody>
      </p:sp>
      <p:sp>
        <p:nvSpPr>
          <p:cNvPr id="10" name="Text 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Hooks &amp; Gates</a:t>
            </a:r>
            <a:endParaRPr lang="en-US" sz="850" dirty="0"/>
          </a:p>
        </p:txBody>
      </p:sp>
      <p:sp>
        <p:nvSpPr>
          <p:cNvPr id="11" name="Text 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11 / 21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6B4E9E"/>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12</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6B4E9E"/>
                </a:solidFill>
                <a:latin typeface="Calibri" pitchFamily="34" charset="0"/>
                <a:ea typeface="Calibri" pitchFamily="34" charset="-122"/>
                <a:cs typeface="Calibri" pitchFamily="34" charset="-120"/>
              </a:rPr>
              <a:t>LAYER 4 · THE AGENT TEAM</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Eight specialists, each with its own context &amp; model</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Judgment stays on the top-capability model (Opus); high-volume execution runs on cheaper tiers (Sonnet / Haiku). Subagents keep the main context clean and cannot spawn each other — no infinite recursion.</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2148840"/>
                <a:gridCol w="1554480"/>
                <a:gridCol w="8211312"/>
              </a:tblGrid>
              <a:tr h="457200">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Agent</a:t>
                      </a:r>
                      <a:endParaRPr lang="en-US" sz="102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Model (balanced)</a:t>
                      </a:r>
                      <a:endParaRPr lang="en-US" sz="102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Responsibility</a:t>
                      </a:r>
                      <a:endParaRPr lang="en-US" sz="102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planner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Opus 4.8</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BRD, stories, dependency graph, architecture, schemas</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generator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Sonnet</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Code + tests via TDD; spawns the parallel agent team (≤5)</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implementer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Sonnet / Haiku</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Per-story worker under the generator lead</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evaluator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Opus 4.8</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Runs the app: 3-layer verification + latency ratchet; structured failures</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design-critic</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Opus 4.8</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Vision scoring (design quality, originality, craft, function); plateau pivot</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security-reviewer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Opus 4.8</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OWASP scan + adversarial find-then-refute; blocks on critical/high</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code-reviewer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Opus 4.8</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Fresh-context structure (SOLID) + correctness review of the diff</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457200">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codebase-explorer</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Sonnet</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Read-only brownfield discovery + LSP symbol navigation</a:t>
                      </a:r>
                      <a:endParaRPr lang="en-US" sz="9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bl>
          </a:graphicData>
        </a:graphic>
      </p:graphicFrame>
      <p:sp>
        <p:nvSpPr>
          <p:cNvPr id="8" name="Text 5"/>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The Agent Team</a:t>
            </a:r>
            <a:endParaRPr lang="en-US" sz="850" dirty="0"/>
          </a:p>
        </p:txBody>
      </p:sp>
      <p:sp>
        <p:nvSpPr>
          <p:cNvPr id="9" name="Text 6"/>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12 / 21</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6B4E9E"/>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13</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6B4E9E"/>
                </a:solidFill>
                <a:latin typeface="Calibri" pitchFamily="34" charset="0"/>
                <a:ea typeface="Calibri" pitchFamily="34" charset="-122"/>
                <a:cs typeface="Calibri" pitchFamily="34" charset="-120"/>
              </a:rPr>
              <a:t>THE GAN LOOP</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Sprint contracts define “done” before code exists</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generator and evaluator negotiate a machine-readable sprint contract in exactly two calls — generator proposes, evaluator finalizes. The result is immutable, and it is what the running app is graded against.</a:t>
            </a:r>
            <a:endParaRPr lang="en-US" sz="1150" dirty="0"/>
          </a:p>
        </p:txBody>
      </p:sp>
      <p:sp>
        <p:nvSpPr>
          <p:cNvPr id="7" name="Shape 5"/>
          <p:cNvSpPr/>
          <p:nvPr/>
        </p:nvSpPr>
        <p:spPr>
          <a:xfrm>
            <a:off x="502920" y="1874520"/>
            <a:ext cx="5486400" cy="3977640"/>
          </a:xfrm>
          <a:prstGeom prst="roundRect">
            <a:avLst>
              <a:gd name="adj" fmla="val 2069"/>
            </a:avLst>
          </a:prstGeom>
          <a:solidFill>
            <a:srgbClr val="FFFFFF"/>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8" name="Text 6"/>
          <p:cNvSpPr/>
          <p:nvPr/>
        </p:nvSpPr>
        <p:spPr>
          <a:xfrm>
            <a:off x="731520" y="2020824"/>
            <a:ext cx="5029200" cy="274320"/>
          </a:xfrm>
          <a:prstGeom prst="rect">
            <a:avLst/>
          </a:prstGeom>
          <a:noFill/>
          <a:ln/>
        </p:spPr>
        <p:txBody>
          <a:bodyPr wrap="square" lIns="0" tIns="0" rIns="0" bIns="0" rtlCol="0" anchor="ctr"/>
          <a:lstStyle/>
          <a:p>
            <a:pPr indent="0" marL="0">
              <a:buNone/>
            </a:pPr>
            <a:r>
              <a:rPr lang="en-US" sz="1200" b="1" dirty="0">
                <a:solidFill>
                  <a:srgbClr val="6B4E9E"/>
                </a:solidFill>
                <a:latin typeface="Calibri" pitchFamily="34" charset="0"/>
                <a:ea typeface="Calibri" pitchFamily="34" charset="-122"/>
                <a:cs typeface="Calibri" pitchFamily="34" charset="-120"/>
              </a:rPr>
              <a:t>Protocol (per group)</a:t>
            </a:r>
            <a:endParaRPr lang="en-US" sz="1200" dirty="0"/>
          </a:p>
        </p:txBody>
      </p:sp>
      <p:sp>
        <p:nvSpPr>
          <p:cNvPr id="9" name="Shape 7"/>
          <p:cNvSpPr/>
          <p:nvPr/>
        </p:nvSpPr>
        <p:spPr>
          <a:xfrm>
            <a:off x="777240" y="2404872"/>
            <a:ext cx="310896" cy="310896"/>
          </a:xfrm>
          <a:prstGeom prst="ellipse">
            <a:avLst/>
          </a:prstGeom>
          <a:solidFill>
            <a:srgbClr val="6B4E9E"/>
          </a:solidFill>
          <a:ln/>
        </p:spPr>
      </p:sp>
      <p:sp>
        <p:nvSpPr>
          <p:cNvPr id="10" name="Text 8"/>
          <p:cNvSpPr/>
          <p:nvPr/>
        </p:nvSpPr>
        <p:spPr>
          <a:xfrm>
            <a:off x="777240" y="24048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9"/>
          <p:cNvSpPr/>
          <p:nvPr/>
        </p:nvSpPr>
        <p:spPr>
          <a:xfrm>
            <a:off x="1216152" y="2350008"/>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Generator proposes the sprint contract</a:t>
            </a:r>
            <a:endParaRPr lang="en-US" sz="1000" dirty="0"/>
          </a:p>
        </p:txBody>
      </p:sp>
      <p:sp>
        <p:nvSpPr>
          <p:cNvPr id="12" name="Shape 10"/>
          <p:cNvSpPr/>
          <p:nvPr/>
        </p:nvSpPr>
        <p:spPr>
          <a:xfrm>
            <a:off x="777240" y="2889504"/>
            <a:ext cx="310896" cy="310896"/>
          </a:xfrm>
          <a:prstGeom prst="ellipse">
            <a:avLst/>
          </a:prstGeom>
          <a:solidFill>
            <a:srgbClr val="6B4E9E"/>
          </a:solidFill>
          <a:ln/>
        </p:spPr>
      </p:sp>
      <p:sp>
        <p:nvSpPr>
          <p:cNvPr id="13" name="Text 11"/>
          <p:cNvSpPr/>
          <p:nvPr/>
        </p:nvSpPr>
        <p:spPr>
          <a:xfrm>
            <a:off x="777240" y="28895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p:nvPr/>
        </p:nvSpPr>
        <p:spPr>
          <a:xfrm>
            <a:off x="1216152" y="2834640"/>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Evaluator finalizes it (immutable)</a:t>
            </a:r>
            <a:endParaRPr lang="en-US" sz="1000" dirty="0"/>
          </a:p>
        </p:txBody>
      </p:sp>
      <p:sp>
        <p:nvSpPr>
          <p:cNvPr id="15" name="Shape 13"/>
          <p:cNvSpPr/>
          <p:nvPr/>
        </p:nvSpPr>
        <p:spPr>
          <a:xfrm>
            <a:off x="777240" y="3374136"/>
            <a:ext cx="310896" cy="310896"/>
          </a:xfrm>
          <a:prstGeom prst="ellipse">
            <a:avLst/>
          </a:prstGeom>
          <a:solidFill>
            <a:srgbClr val="6B4E9E"/>
          </a:solidFill>
          <a:ln/>
        </p:spPr>
      </p:sp>
      <p:sp>
        <p:nvSpPr>
          <p:cNvPr id="16" name="Text 14"/>
          <p:cNvSpPr/>
          <p:nvPr/>
        </p:nvSpPr>
        <p:spPr>
          <a:xfrm>
            <a:off x="777240" y="33741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1216152" y="3319272"/>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Generator implements code + tests (TDD red→green→refactor)</a:t>
            </a:r>
            <a:endParaRPr lang="en-US" sz="1000" dirty="0"/>
          </a:p>
        </p:txBody>
      </p:sp>
      <p:sp>
        <p:nvSpPr>
          <p:cNvPr id="18" name="Shape 16"/>
          <p:cNvSpPr/>
          <p:nvPr/>
        </p:nvSpPr>
        <p:spPr>
          <a:xfrm>
            <a:off x="777240" y="3858768"/>
            <a:ext cx="310896" cy="310896"/>
          </a:xfrm>
          <a:prstGeom prst="ellipse">
            <a:avLst/>
          </a:prstGeom>
          <a:solidFill>
            <a:srgbClr val="6B4E9E"/>
          </a:solidFill>
          <a:ln/>
        </p:spPr>
      </p:sp>
      <p:sp>
        <p:nvSpPr>
          <p:cNvPr id="19" name="Text 17"/>
          <p:cNvSpPr/>
          <p:nvPr/>
        </p:nvSpPr>
        <p:spPr>
          <a:xfrm>
            <a:off x="777240" y="38587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1216152" y="3803904"/>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Evaluator boots the app (Docker / local / stub)</a:t>
            </a:r>
            <a:endParaRPr lang="en-US" sz="1000" dirty="0"/>
          </a:p>
        </p:txBody>
      </p:sp>
      <p:sp>
        <p:nvSpPr>
          <p:cNvPr id="21" name="Shape 19"/>
          <p:cNvSpPr/>
          <p:nvPr/>
        </p:nvSpPr>
        <p:spPr>
          <a:xfrm>
            <a:off x="777240" y="4343400"/>
            <a:ext cx="310896" cy="310896"/>
          </a:xfrm>
          <a:prstGeom prst="ellipse">
            <a:avLst/>
          </a:prstGeom>
          <a:solidFill>
            <a:srgbClr val="6B4E9E"/>
          </a:solidFill>
          <a:ln/>
        </p:spPr>
      </p:sp>
      <p:sp>
        <p:nvSpPr>
          <p:cNvPr id="22" name="Text 20"/>
          <p:cNvSpPr/>
          <p:nvPr/>
        </p:nvSpPr>
        <p:spPr>
          <a:xfrm>
            <a:off x="777240" y="43434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3" name="Text 21"/>
          <p:cNvSpPr/>
          <p:nvPr/>
        </p:nvSpPr>
        <p:spPr>
          <a:xfrm>
            <a:off x="1216152" y="4288536"/>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Runs API · browser · vision · security checks</a:t>
            </a:r>
            <a:endParaRPr lang="en-US" sz="1000" dirty="0"/>
          </a:p>
        </p:txBody>
      </p:sp>
      <p:sp>
        <p:nvSpPr>
          <p:cNvPr id="24" name="Shape 22"/>
          <p:cNvSpPr/>
          <p:nvPr/>
        </p:nvSpPr>
        <p:spPr>
          <a:xfrm>
            <a:off x="777240" y="4828032"/>
            <a:ext cx="310896" cy="310896"/>
          </a:xfrm>
          <a:prstGeom prst="ellipse">
            <a:avLst/>
          </a:prstGeom>
          <a:solidFill>
            <a:srgbClr val="6B4E9E"/>
          </a:solidFill>
          <a:ln/>
        </p:spPr>
      </p:sp>
      <p:sp>
        <p:nvSpPr>
          <p:cNvPr id="25" name="Text 23"/>
          <p:cNvSpPr/>
          <p:nvPr/>
        </p:nvSpPr>
        <p:spPr>
          <a:xfrm>
            <a:off x="777240" y="482803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6" name="Text 24"/>
          <p:cNvSpPr/>
          <p:nvPr/>
        </p:nvSpPr>
        <p:spPr>
          <a:xfrm>
            <a:off x="1216152" y="4773168"/>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Binary VERDICT: PASS or FAIL + structured failure JSON</a:t>
            </a:r>
            <a:endParaRPr lang="en-US" sz="1000" dirty="0"/>
          </a:p>
        </p:txBody>
      </p:sp>
      <p:sp>
        <p:nvSpPr>
          <p:cNvPr id="27" name="Shape 25"/>
          <p:cNvSpPr/>
          <p:nvPr/>
        </p:nvSpPr>
        <p:spPr>
          <a:xfrm>
            <a:off x="777240" y="5312664"/>
            <a:ext cx="310896" cy="310896"/>
          </a:xfrm>
          <a:prstGeom prst="ellipse">
            <a:avLst/>
          </a:prstGeom>
          <a:solidFill>
            <a:srgbClr val="C15F3C"/>
          </a:solidFill>
          <a:ln/>
        </p:spPr>
      </p:sp>
      <p:sp>
        <p:nvSpPr>
          <p:cNvPr id="28" name="Text 26"/>
          <p:cNvSpPr/>
          <p:nvPr/>
        </p:nvSpPr>
        <p:spPr>
          <a:xfrm>
            <a:off x="777240" y="53126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9" name="Text 27"/>
          <p:cNvSpPr/>
          <p:nvPr/>
        </p:nvSpPr>
        <p:spPr>
          <a:xfrm>
            <a:off x="1216152" y="5257800"/>
            <a:ext cx="4572000" cy="420624"/>
          </a:xfrm>
          <a:prstGeom prst="rect">
            <a:avLst/>
          </a:prstGeom>
          <a:noFill/>
          <a:ln/>
        </p:spPr>
        <p:txBody>
          <a:bodyPr wrap="square" lIns="0" tIns="0" rIns="0" bIns="0" rtlCol="0" anchor="ctr"/>
          <a:lstStyle/>
          <a:p>
            <a:pPr indent="0" marL="0">
              <a:lnSpc>
                <a:spcPct val="98000"/>
              </a:lnSpc>
              <a:buNone/>
            </a:pPr>
            <a:r>
              <a:rPr lang="en-US" sz="1000" dirty="0">
                <a:solidFill>
                  <a:srgbClr val="22252A"/>
                </a:solidFill>
                <a:latin typeface="Calibri" pitchFamily="34" charset="0"/>
                <a:ea typeface="Calibri" pitchFamily="34" charset="-122"/>
                <a:cs typeface="Calibri" pitchFamily="34" charset="-120"/>
              </a:rPr>
              <a:t>On FAIL → targeted self-heal (max 3, new strategy each)</a:t>
            </a:r>
            <a:endParaRPr lang="en-US" sz="1000" dirty="0"/>
          </a:p>
        </p:txBody>
      </p:sp>
      <p:sp>
        <p:nvSpPr>
          <p:cNvPr id="30" name="Shape 28"/>
          <p:cNvSpPr/>
          <p:nvPr/>
        </p:nvSpPr>
        <p:spPr>
          <a:xfrm>
            <a:off x="6309360" y="1874520"/>
            <a:ext cx="5379415" cy="3977640"/>
          </a:xfrm>
          <a:prstGeom prst="roundRect">
            <a:avLst>
              <a:gd name="adj" fmla="val 2069"/>
            </a:avLst>
          </a:prstGeom>
          <a:solidFill>
            <a:srgbClr val="ECEDEF"/>
          </a:solidFill>
          <a:ln w="12700">
            <a:solidFill>
              <a:srgbClr val="D6D9DD"/>
            </a:solidFill>
            <a:prstDash val="solid"/>
          </a:ln>
          <a:effectLst>
            <a:outerShdw sx="100000" sy="100000" kx="0" ky="0" algn="bl" rotWithShape="0" blurRad="50800" dist="12700" dir="5400000">
              <a:srgbClr val="8A8168">
                <a:alpha val="25000"/>
              </a:srgbClr>
            </a:outerShdw>
          </a:effectLst>
        </p:spPr>
      </p:sp>
      <p:sp>
        <p:nvSpPr>
          <p:cNvPr id="31" name="Text 29"/>
          <p:cNvSpPr/>
          <p:nvPr/>
        </p:nvSpPr>
        <p:spPr>
          <a:xfrm>
            <a:off x="6537960" y="2020824"/>
            <a:ext cx="4922215" cy="274320"/>
          </a:xfrm>
          <a:prstGeom prst="rect">
            <a:avLst/>
          </a:prstGeom>
          <a:noFill/>
          <a:ln/>
        </p:spPr>
        <p:txBody>
          <a:bodyPr wrap="square" lIns="0" tIns="0" rIns="0" bIns="0" rtlCol="0" anchor="ctr"/>
          <a:lstStyle/>
          <a:p>
            <a:pPr indent="0" marL="0">
              <a:buNone/>
            </a:pPr>
            <a:r>
              <a:rPr lang="en-US" sz="1200" b="1" dirty="0">
                <a:solidFill>
                  <a:srgbClr val="2A2E34"/>
                </a:solidFill>
                <a:latin typeface="Courier New" pitchFamily="34" charset="0"/>
                <a:ea typeface="Courier New" pitchFamily="34" charset="-122"/>
                <a:cs typeface="Courier New" pitchFamily="34" charset="-120"/>
              </a:rPr>
              <a:t>sprint-contract.json</a:t>
            </a:r>
            <a:endParaRPr lang="en-US" sz="1200" dirty="0"/>
          </a:p>
        </p:txBody>
      </p:sp>
      <p:sp>
        <p:nvSpPr>
          <p:cNvPr id="32" name="Shape 30"/>
          <p:cNvSpPr/>
          <p:nvPr/>
        </p:nvSpPr>
        <p:spPr>
          <a:xfrm>
            <a:off x="6510528" y="2441448"/>
            <a:ext cx="4977079" cy="566928"/>
          </a:xfrm>
          <a:prstGeom prst="roundRect">
            <a:avLst>
              <a:gd name="adj" fmla="val 9677"/>
            </a:avLst>
          </a:prstGeom>
          <a:solidFill>
            <a:srgbClr val="FFFFFF"/>
          </a:solidFill>
          <a:ln w="12700">
            <a:solidFill>
              <a:srgbClr val="D6D9DD"/>
            </a:solidFill>
            <a:prstDash val="solid"/>
          </a:ln>
        </p:spPr>
      </p:sp>
      <p:sp>
        <p:nvSpPr>
          <p:cNvPr id="33" name="Text 31"/>
          <p:cNvSpPr/>
          <p:nvPr/>
        </p:nvSpPr>
        <p:spPr>
          <a:xfrm>
            <a:off x="6638544" y="2441448"/>
            <a:ext cx="4812487" cy="566928"/>
          </a:xfrm>
          <a:prstGeom prst="rect">
            <a:avLst/>
          </a:prstGeom>
          <a:noFill/>
          <a:ln/>
        </p:spPr>
        <p:txBody>
          <a:bodyPr wrap="square" lIns="0" tIns="0" rIns="0" bIns="0" rtlCol="0" anchor="ctr"/>
          <a:lstStyle/>
          <a:p>
            <a:pPr indent="0" marL="0">
              <a:lnSpc>
                <a:spcPct val="98000"/>
              </a:lnSpc>
              <a:buNone/>
            </a:pPr>
            <a:r>
              <a:rPr lang="en-US" sz="1000" b="1" dirty="0">
                <a:solidFill>
                  <a:srgbClr val="6B4E9E"/>
                </a:solidFill>
                <a:latin typeface="Courier New" pitchFamily="34" charset="0"/>
                <a:ea typeface="Courier New" pitchFamily="34" charset="-122"/>
                <a:cs typeface="Courier New" pitchFamily="34" charset="-120"/>
              </a:rPr>
              <a:t>api_checks
</a:t>
            </a:r>
            <a:pPr indent="0" marL="0">
              <a:lnSpc>
                <a:spcPct val="98000"/>
              </a:lnSpc>
              <a:buNone/>
            </a:pPr>
            <a:r>
              <a:rPr lang="en-US" sz="870" dirty="0">
                <a:solidFill>
                  <a:srgbClr val="6C7078"/>
                </a:solidFill>
                <a:latin typeface="Calibri" pitchFamily="34" charset="0"/>
                <a:ea typeface="Calibri" pitchFamily="34" charset="-122"/>
                <a:cs typeface="Calibri" pitchFamily="34" charset="-120"/>
              </a:rPr>
              <a:t>method · path · expected status + body schema</a:t>
            </a:r>
            <a:endParaRPr lang="en-US" sz="1000" dirty="0"/>
          </a:p>
        </p:txBody>
      </p:sp>
      <p:sp>
        <p:nvSpPr>
          <p:cNvPr id="34" name="Shape 32"/>
          <p:cNvSpPr/>
          <p:nvPr/>
        </p:nvSpPr>
        <p:spPr>
          <a:xfrm>
            <a:off x="6510528" y="3099816"/>
            <a:ext cx="4977079" cy="566928"/>
          </a:xfrm>
          <a:prstGeom prst="roundRect">
            <a:avLst>
              <a:gd name="adj" fmla="val 9677"/>
            </a:avLst>
          </a:prstGeom>
          <a:solidFill>
            <a:srgbClr val="FFFFFF"/>
          </a:solidFill>
          <a:ln w="12700">
            <a:solidFill>
              <a:srgbClr val="D6D9DD"/>
            </a:solidFill>
            <a:prstDash val="solid"/>
          </a:ln>
        </p:spPr>
      </p:sp>
      <p:sp>
        <p:nvSpPr>
          <p:cNvPr id="35" name="Text 33"/>
          <p:cNvSpPr/>
          <p:nvPr/>
        </p:nvSpPr>
        <p:spPr>
          <a:xfrm>
            <a:off x="6638544" y="3099816"/>
            <a:ext cx="4812487" cy="566928"/>
          </a:xfrm>
          <a:prstGeom prst="rect">
            <a:avLst/>
          </a:prstGeom>
          <a:noFill/>
          <a:ln/>
        </p:spPr>
        <p:txBody>
          <a:bodyPr wrap="square" lIns="0" tIns="0" rIns="0" bIns="0" rtlCol="0" anchor="ctr"/>
          <a:lstStyle/>
          <a:p>
            <a:pPr indent="0" marL="0">
              <a:lnSpc>
                <a:spcPct val="98000"/>
              </a:lnSpc>
              <a:buNone/>
            </a:pPr>
            <a:r>
              <a:rPr lang="en-US" sz="1000" b="1" dirty="0">
                <a:solidFill>
                  <a:srgbClr val="6B4E9E"/>
                </a:solidFill>
                <a:latin typeface="Courier New" pitchFamily="34" charset="0"/>
                <a:ea typeface="Courier New" pitchFamily="34" charset="-122"/>
                <a:cs typeface="Courier New" pitchFamily="34" charset="-120"/>
              </a:rPr>
              <a:t>playwright_checks
</a:t>
            </a:r>
            <a:pPr indent="0" marL="0">
              <a:lnSpc>
                <a:spcPct val="98000"/>
              </a:lnSpc>
              <a:buNone/>
            </a:pPr>
            <a:r>
              <a:rPr lang="en-US" sz="870" dirty="0">
                <a:solidFill>
                  <a:srgbClr val="6C7078"/>
                </a:solidFill>
                <a:latin typeface="Calibri" pitchFamily="34" charset="0"/>
                <a:ea typeface="Calibri" pitchFamily="34" charset="-122"/>
                <a:cs typeface="Calibri" pitchFamily="34" charset="-120"/>
              </a:rPr>
              <a:t>navigate · fill · click · assert (semantic selectors)</a:t>
            </a:r>
            <a:endParaRPr lang="en-US" sz="1000" dirty="0"/>
          </a:p>
        </p:txBody>
      </p:sp>
      <p:sp>
        <p:nvSpPr>
          <p:cNvPr id="36" name="Shape 34"/>
          <p:cNvSpPr/>
          <p:nvPr/>
        </p:nvSpPr>
        <p:spPr>
          <a:xfrm>
            <a:off x="6510528" y="3758184"/>
            <a:ext cx="4977079" cy="566928"/>
          </a:xfrm>
          <a:prstGeom prst="roundRect">
            <a:avLst>
              <a:gd name="adj" fmla="val 9677"/>
            </a:avLst>
          </a:prstGeom>
          <a:solidFill>
            <a:srgbClr val="FFFFFF"/>
          </a:solidFill>
          <a:ln w="12700">
            <a:solidFill>
              <a:srgbClr val="D6D9DD"/>
            </a:solidFill>
            <a:prstDash val="solid"/>
          </a:ln>
        </p:spPr>
      </p:sp>
      <p:sp>
        <p:nvSpPr>
          <p:cNvPr id="37" name="Text 35"/>
          <p:cNvSpPr/>
          <p:nvPr/>
        </p:nvSpPr>
        <p:spPr>
          <a:xfrm>
            <a:off x="6638544" y="3758184"/>
            <a:ext cx="4812487" cy="566928"/>
          </a:xfrm>
          <a:prstGeom prst="rect">
            <a:avLst/>
          </a:prstGeom>
          <a:noFill/>
          <a:ln/>
        </p:spPr>
        <p:txBody>
          <a:bodyPr wrap="square" lIns="0" tIns="0" rIns="0" bIns="0" rtlCol="0" anchor="ctr"/>
          <a:lstStyle/>
          <a:p>
            <a:pPr indent="0" marL="0">
              <a:lnSpc>
                <a:spcPct val="98000"/>
              </a:lnSpc>
              <a:buNone/>
            </a:pPr>
            <a:r>
              <a:rPr lang="en-US" sz="1000" b="1" dirty="0">
                <a:solidFill>
                  <a:srgbClr val="6B4E9E"/>
                </a:solidFill>
                <a:latin typeface="Courier New" pitchFamily="34" charset="0"/>
                <a:ea typeface="Courier New" pitchFamily="34" charset="-122"/>
                <a:cs typeface="Courier New" pitchFamily="34" charset="-120"/>
              </a:rPr>
              <a:t>design_checks
</a:t>
            </a:r>
            <a:pPr indent="0" marL="0">
              <a:lnSpc>
                <a:spcPct val="98000"/>
              </a:lnSpc>
              <a:buNone/>
            </a:pPr>
            <a:r>
              <a:rPr lang="en-US" sz="870" dirty="0">
                <a:solidFill>
                  <a:srgbClr val="6C7078"/>
                </a:solidFill>
                <a:latin typeface="Calibri" pitchFamily="34" charset="0"/>
                <a:ea typeface="Calibri" pitchFamily="34" charset="-122"/>
                <a:cs typeface="Calibri" pitchFamily="34" charset="-120"/>
              </a:rPr>
              <a:t>visual hierarchy + accessibility min-scores</a:t>
            </a:r>
            <a:endParaRPr lang="en-US" sz="1000" dirty="0"/>
          </a:p>
        </p:txBody>
      </p:sp>
      <p:sp>
        <p:nvSpPr>
          <p:cNvPr id="38" name="Shape 36"/>
          <p:cNvSpPr/>
          <p:nvPr/>
        </p:nvSpPr>
        <p:spPr>
          <a:xfrm>
            <a:off x="6510528" y="4416552"/>
            <a:ext cx="4977079" cy="566928"/>
          </a:xfrm>
          <a:prstGeom prst="roundRect">
            <a:avLst>
              <a:gd name="adj" fmla="val 9677"/>
            </a:avLst>
          </a:prstGeom>
          <a:solidFill>
            <a:srgbClr val="FFFFFF"/>
          </a:solidFill>
          <a:ln w="12700">
            <a:solidFill>
              <a:srgbClr val="D6D9DD"/>
            </a:solidFill>
            <a:prstDash val="solid"/>
          </a:ln>
        </p:spPr>
      </p:sp>
      <p:sp>
        <p:nvSpPr>
          <p:cNvPr id="39" name="Text 37"/>
          <p:cNvSpPr/>
          <p:nvPr/>
        </p:nvSpPr>
        <p:spPr>
          <a:xfrm>
            <a:off x="6638544" y="4416552"/>
            <a:ext cx="4812487" cy="566928"/>
          </a:xfrm>
          <a:prstGeom prst="rect">
            <a:avLst/>
          </a:prstGeom>
          <a:noFill/>
          <a:ln/>
        </p:spPr>
        <p:txBody>
          <a:bodyPr wrap="square" lIns="0" tIns="0" rIns="0" bIns="0" rtlCol="0" anchor="ctr"/>
          <a:lstStyle/>
          <a:p>
            <a:pPr indent="0" marL="0">
              <a:lnSpc>
                <a:spcPct val="98000"/>
              </a:lnSpc>
              <a:buNone/>
            </a:pPr>
            <a:r>
              <a:rPr lang="en-US" sz="1000" b="1" dirty="0">
                <a:solidFill>
                  <a:srgbClr val="6B4E9E"/>
                </a:solidFill>
                <a:latin typeface="Courier New" pitchFamily="34" charset="0"/>
                <a:ea typeface="Courier New" pitchFamily="34" charset="-122"/>
                <a:cs typeface="Courier New" pitchFamily="34" charset="-120"/>
              </a:rPr>
              <a:t>performance_checks
</a:t>
            </a:r>
            <a:pPr indent="0" marL="0">
              <a:lnSpc>
                <a:spcPct val="98000"/>
              </a:lnSpc>
              <a:buNone/>
            </a:pPr>
            <a:r>
              <a:rPr lang="en-US" sz="870" dirty="0">
                <a:solidFill>
                  <a:srgbClr val="6C7078"/>
                </a:solidFill>
                <a:latin typeface="Calibri" pitchFamily="34" charset="0"/>
                <a:ea typeface="Calibri" pitchFamily="34" charset="-122"/>
                <a:cs typeface="Calibri" pitchFamily="34" charset="-120"/>
              </a:rPr>
              <a:t>per-endpoint max response time (p95 ratchet)</a:t>
            </a:r>
            <a:endParaRPr lang="en-US" sz="1000" dirty="0"/>
          </a:p>
        </p:txBody>
      </p:sp>
      <p:sp>
        <p:nvSpPr>
          <p:cNvPr id="40" name="Shape 38"/>
          <p:cNvSpPr/>
          <p:nvPr/>
        </p:nvSpPr>
        <p:spPr>
          <a:xfrm>
            <a:off x="6510528" y="5074920"/>
            <a:ext cx="4977079" cy="566928"/>
          </a:xfrm>
          <a:prstGeom prst="roundRect">
            <a:avLst>
              <a:gd name="adj" fmla="val 9677"/>
            </a:avLst>
          </a:prstGeom>
          <a:solidFill>
            <a:srgbClr val="FFFFFF"/>
          </a:solidFill>
          <a:ln w="12700">
            <a:solidFill>
              <a:srgbClr val="D6D9DD"/>
            </a:solidFill>
            <a:prstDash val="solid"/>
          </a:ln>
        </p:spPr>
      </p:sp>
      <p:sp>
        <p:nvSpPr>
          <p:cNvPr id="41" name="Text 39"/>
          <p:cNvSpPr/>
          <p:nvPr/>
        </p:nvSpPr>
        <p:spPr>
          <a:xfrm>
            <a:off x="6638544" y="5074920"/>
            <a:ext cx="4812487" cy="566928"/>
          </a:xfrm>
          <a:prstGeom prst="rect">
            <a:avLst/>
          </a:prstGeom>
          <a:noFill/>
          <a:ln/>
        </p:spPr>
        <p:txBody>
          <a:bodyPr wrap="square" lIns="0" tIns="0" rIns="0" bIns="0" rtlCol="0" anchor="ctr"/>
          <a:lstStyle/>
          <a:p>
            <a:pPr indent="0" marL="0">
              <a:lnSpc>
                <a:spcPct val="98000"/>
              </a:lnSpc>
              <a:buNone/>
            </a:pPr>
            <a:r>
              <a:rPr lang="en-US" sz="1000" b="1" dirty="0">
                <a:solidFill>
                  <a:srgbClr val="6B4E9E"/>
                </a:solidFill>
                <a:latin typeface="Courier New" pitchFamily="34" charset="0"/>
                <a:ea typeface="Courier New" pitchFamily="34" charset="-122"/>
                <a:cs typeface="Courier New" pitchFamily="34" charset="-120"/>
              </a:rPr>
              <a:t>architecture_checks
</a:t>
            </a:r>
            <a:pPr indent="0" marL="0">
              <a:lnSpc>
                <a:spcPct val="98000"/>
              </a:lnSpc>
              <a:buNone/>
            </a:pPr>
            <a:r>
              <a:rPr lang="en-US" sz="870" dirty="0">
                <a:solidFill>
                  <a:srgbClr val="6C7078"/>
                </a:solidFill>
                <a:latin typeface="Calibri" pitchFamily="34" charset="0"/>
                <a:ea typeface="Calibri" pitchFamily="34" charset="-122"/>
                <a:cs typeface="Calibri" pitchFamily="34" charset="-120"/>
              </a:rPr>
              <a:t>layering · typing · folder structure</a:t>
            </a:r>
            <a:endParaRPr lang="en-US" sz="1000" dirty="0"/>
          </a:p>
        </p:txBody>
      </p:sp>
      <p:sp>
        <p:nvSpPr>
          <p:cNvPr id="42" name="Text 40"/>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GAN loop &amp; contracts</a:t>
            </a:r>
            <a:endParaRPr lang="en-US" sz="850" dirty="0"/>
          </a:p>
        </p:txBody>
      </p:sp>
      <p:sp>
        <p:nvSpPr>
          <p:cNvPr id="43" name="Text 41"/>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13 / 21</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6B4E9E"/>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14</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6B4E9E"/>
                </a:solidFill>
                <a:latin typeface="Calibri" pitchFamily="34" charset="0"/>
                <a:ea typeface="Calibri" pitchFamily="34" charset="-122"/>
                <a:cs typeface="Calibri" pitchFamily="34" charset="-120"/>
              </a:rPr>
              <a:t>INDEPENDENT VERIFICATION</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Four layers — the evaluator never reads source</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evaluator only runs the application and checks observable behaviour. On any failure it reads the real stack trace from logs and hands the generator the exact error — not “got 500 instead of 201.”</a:t>
            </a:r>
            <a:endParaRPr lang="en-US" sz="11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1737360"/>
                <a:gridCol w="4206240"/>
                <a:gridCol w="5239512"/>
              </a:tblGrid>
              <a:tr h="5669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Layer</a:t>
                      </a:r>
                      <a:endParaRPr lang="en-US" sz="10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How</a:t>
                      </a:r>
                      <a:endParaRPr lang="en-US" sz="10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Catches</a:t>
                      </a:r>
                      <a:endParaRPr lang="en-US" sz="105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6B4E9E"/>
                    </a:solidFill>
                  </a:tcPr>
                </a:tc>
              </a:tr>
              <a:tr h="566928">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1 · API</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curl endpoints + JSON-schema validation</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Backend logic, schema mismatch, error handling</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566928">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2 · Playwright</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Browser flows via semantic selectors (MCP)</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Broken forms, missing feedback, dead buttons</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r h="566928">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3 · Vision</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Screenshots scored by the design-critic</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Generic templates, poor spacing, weak hierarchy</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FFFFFF"/>
                    </a:solidFill>
                  </a:tcPr>
                </a:tc>
              </a:tr>
              <a:tr h="566928">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4 · Security</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security-reviewer → verdict.json (fail critical/high)</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Injection, auth bypass, IDOR, SSRF, secrets</a:t>
                      </a:r>
                      <a:endParaRPr lang="en-US" sz="1000" dirty="0">
                        <a:latin typeface="Calibri" charset="0"/>
                        <a:ea typeface="Calibri" charset="0"/>
                        <a:cs typeface="Calibri" charset="0"/>
                      </a:endParaRPr>
                    </a:p>
                  </a:txBody>
                  <a:tcPr marL="63500" marR="50800" marT="25400" marB="25400" anchor="ctr">
                    <a:lnL w="6350" cap="flat" cmpd="sng" algn="ctr">
                      <a:solidFill>
                        <a:srgbClr val="DBCFEC"/>
                      </a:solidFill>
                      <a:prstDash val="solid"/>
                      <a:round/>
                      <a:headEnd type="none" w="med" len="med"/>
                      <a:tailEnd type="none" w="med" len="med"/>
                    </a:lnL>
                    <a:lnR w="6350" cap="flat" cmpd="sng" algn="ctr">
                      <a:solidFill>
                        <a:srgbClr val="DBCFEC"/>
                      </a:solidFill>
                      <a:prstDash val="solid"/>
                      <a:round/>
                      <a:headEnd type="none" w="med" len="med"/>
                      <a:tailEnd type="none" w="med" len="med"/>
                    </a:lnR>
                    <a:lnT w="6350" cap="flat" cmpd="sng" algn="ctr">
                      <a:solidFill>
                        <a:srgbClr val="DBCFEC"/>
                      </a:solidFill>
                      <a:prstDash val="solid"/>
                      <a:round/>
                      <a:headEnd type="none" w="med" len="med"/>
                      <a:tailEnd type="none" w="med" len="med"/>
                    </a:lnT>
                    <a:lnB w="6350" cap="flat" cmpd="sng" algn="ctr">
                      <a:solidFill>
                        <a:srgbClr val="DBCFEC"/>
                      </a:solidFill>
                      <a:prstDash val="solid"/>
                      <a:round/>
                      <a:headEnd type="none" w="med" len="med"/>
                      <a:tailEnd type="none" w="med" len="med"/>
                    </a:lnB>
                    <a:solidFill>
                      <a:srgbClr val="ECE6F4"/>
                    </a:solidFill>
                  </a:tcPr>
                </a:tc>
              </a:tr>
            </a:tbl>
          </a:graphicData>
        </a:graphic>
      </p:graphicFrame>
      <p:sp>
        <p:nvSpPr>
          <p:cNvPr id="8" name="Shape 5"/>
          <p:cNvSpPr/>
          <p:nvPr/>
        </p:nvSpPr>
        <p:spPr>
          <a:xfrm>
            <a:off x="502920" y="4343400"/>
            <a:ext cx="5532120" cy="1508760"/>
          </a:xfrm>
          <a:prstGeom prst="roundRect">
            <a:avLst>
              <a:gd name="adj" fmla="val 5455"/>
            </a:avLst>
          </a:prstGeom>
          <a:solidFill>
            <a:srgbClr val="ECE6F4"/>
          </a:solidFill>
          <a:ln w="12700">
            <a:solidFill>
              <a:srgbClr val="DBCFEC"/>
            </a:solidFill>
            <a:prstDash val="solid"/>
          </a:ln>
        </p:spPr>
      </p:sp>
      <p:sp>
        <p:nvSpPr>
          <p:cNvPr id="9" name="Text 6"/>
          <p:cNvSpPr/>
          <p:nvPr/>
        </p:nvSpPr>
        <p:spPr>
          <a:xfrm>
            <a:off x="731520" y="4480560"/>
            <a:ext cx="5029200" cy="274320"/>
          </a:xfrm>
          <a:prstGeom prst="rect">
            <a:avLst/>
          </a:prstGeom>
          <a:noFill/>
          <a:ln/>
        </p:spPr>
        <p:txBody>
          <a:bodyPr wrap="square" lIns="0" tIns="0" rIns="0" bIns="0" rtlCol="0" anchor="ctr"/>
          <a:lstStyle/>
          <a:p>
            <a:pPr indent="0" marL="0">
              <a:buNone/>
            </a:pPr>
            <a:r>
              <a:rPr lang="en-US" sz="1100" b="1" dirty="0">
                <a:solidFill>
                  <a:srgbClr val="6B4E9E"/>
                </a:solidFill>
                <a:latin typeface="Calibri" pitchFamily="34" charset="0"/>
                <a:ea typeface="Calibri" pitchFamily="34" charset="-122"/>
                <a:cs typeface="Calibri" pitchFamily="34" charset="-120"/>
              </a:rPr>
              <a:t>Design-critic weighted score</a:t>
            </a:r>
            <a:endParaRPr lang="en-US" sz="1100" dirty="0"/>
          </a:p>
        </p:txBody>
      </p:sp>
      <p:sp>
        <p:nvSpPr>
          <p:cNvPr id="10" name="Text 7"/>
          <p:cNvSpPr/>
          <p:nvPr/>
        </p:nvSpPr>
        <p:spPr>
          <a:xfrm>
            <a:off x="731520" y="4846320"/>
            <a:ext cx="5074920" cy="914400"/>
          </a:xfrm>
          <a:prstGeom prst="rect">
            <a:avLst/>
          </a:prstGeom>
          <a:noFill/>
          <a:ln/>
        </p:spPr>
        <p:txBody>
          <a:bodyPr wrap="square" lIns="0" tIns="0" rIns="0" bIns="0" rtlCol="0" anchor="t"/>
          <a:lstStyle/>
          <a:p>
            <a:pPr indent="0" marL="0">
              <a:lnSpc>
                <a:spcPct val="105000"/>
              </a:lnSpc>
              <a:buNone/>
            </a:pPr>
            <a:r>
              <a:rPr lang="en-US" sz="950" dirty="0">
                <a:solidFill>
                  <a:srgbClr val="22252A"/>
                </a:solidFill>
                <a:latin typeface="Courier New" pitchFamily="34" charset="0"/>
                <a:ea typeface="Courier New" pitchFamily="34" charset="-122"/>
                <a:cs typeface="Courier New" pitchFamily="34" charset="-120"/>
              </a:rPr>
              <a:t>Score = (DQ×1.5 + Originality×1.5 + Craft×0.75 + Function×0.75) / 4.5
</a:t>
            </a:r>
            <a:endParaRPr lang="en-US" sz="950" dirty="0"/>
          </a:p>
          <a:p>
            <a:pPr indent="0" marL="0">
              <a:lnSpc>
                <a:spcPct val="105000"/>
              </a:lnSpc>
              <a:buNone/>
            </a:pPr>
            <a:r>
              <a:rPr lang="en-US" sz="960" dirty="0">
                <a:solidFill>
                  <a:srgbClr val="6C7078"/>
                </a:solidFill>
                <a:latin typeface="Calibri" pitchFamily="34" charset="0"/>
                <a:ea typeface="Calibri" pitchFamily="34" charset="-122"/>
                <a:cs typeface="Calibri" pitchFamily="34" charset="-120"/>
              </a:rPr>
              <a:t>Passes only if weighted average ≥ 7 AND every criterion ≥ 5. Three flat iterations trigger a forced pivot.</a:t>
            </a:r>
            <a:endParaRPr lang="en-US" sz="950" dirty="0"/>
          </a:p>
        </p:txBody>
      </p:sp>
      <p:sp>
        <p:nvSpPr>
          <p:cNvPr id="11" name="Shape 8"/>
          <p:cNvSpPr/>
          <p:nvPr/>
        </p:nvSpPr>
        <p:spPr>
          <a:xfrm>
            <a:off x="6309360" y="4343400"/>
            <a:ext cx="5379415" cy="1508760"/>
          </a:xfrm>
          <a:prstGeom prst="roundRect">
            <a:avLst>
              <a:gd name="adj" fmla="val 5455"/>
            </a:avLst>
          </a:prstGeom>
          <a:solidFill>
            <a:srgbClr val="E4EEE7"/>
          </a:solidFill>
          <a:ln w="12700">
            <a:solidFill>
              <a:srgbClr val="CFE0D5"/>
            </a:solidFill>
            <a:prstDash val="solid"/>
          </a:ln>
        </p:spPr>
      </p:sp>
      <p:sp>
        <p:nvSpPr>
          <p:cNvPr id="12" name="Text 9"/>
          <p:cNvSpPr/>
          <p:nvPr/>
        </p:nvSpPr>
        <p:spPr>
          <a:xfrm>
            <a:off x="6537960" y="4480560"/>
            <a:ext cx="4922215" cy="274320"/>
          </a:xfrm>
          <a:prstGeom prst="rect">
            <a:avLst/>
          </a:prstGeom>
          <a:noFill/>
          <a:ln/>
        </p:spPr>
        <p:txBody>
          <a:bodyPr wrap="square" lIns="0" tIns="0" rIns="0" bIns="0" rtlCol="0" anchor="ctr"/>
          <a:lstStyle/>
          <a:p>
            <a:pPr indent="0" marL="0">
              <a:buNone/>
            </a:pPr>
            <a:r>
              <a:rPr lang="en-US" sz="1100" b="1" dirty="0">
                <a:solidFill>
                  <a:srgbClr val="1F5132"/>
                </a:solidFill>
                <a:latin typeface="Calibri" pitchFamily="34" charset="0"/>
                <a:ea typeface="Calibri" pitchFamily="34" charset="-122"/>
                <a:cs typeface="Calibri" pitchFamily="34" charset="-120"/>
              </a:rPr>
              <a:t>Re-verify by majority vote</a:t>
            </a:r>
            <a:endParaRPr lang="en-US" sz="1100" dirty="0"/>
          </a:p>
        </p:txBody>
      </p:sp>
      <p:sp>
        <p:nvSpPr>
          <p:cNvPr id="13" name="Text 10"/>
          <p:cNvSpPr/>
          <p:nvPr/>
        </p:nvSpPr>
        <p:spPr>
          <a:xfrm>
            <a:off x="6537960" y="4846320"/>
            <a:ext cx="4922215" cy="914400"/>
          </a:xfrm>
          <a:prstGeom prst="rect">
            <a:avLst/>
          </a:prstGeom>
          <a:noFill/>
          <a:ln/>
        </p:spPr>
        <p:txBody>
          <a:bodyPr wrap="square" lIns="0" tIns="0" rIns="0" bIns="0" rtlCol="0" anchor="t"/>
          <a:lstStyle/>
          <a:p>
            <a:pPr indent="0" marL="0">
              <a:lnSpc>
                <a:spcPct val="105000"/>
              </a:lnSpc>
              <a:buNone/>
            </a:pPr>
            <a:r>
              <a:rPr lang="en-US" sz="980" dirty="0">
                <a:solidFill>
                  <a:srgbClr val="22252A"/>
                </a:solidFill>
                <a:latin typeface="Calibri" pitchFamily="34" charset="0"/>
                <a:ea typeface="Calibri" pitchFamily="34" charset="-122"/>
                <a:cs typeface="Calibri" pitchFamily="34" charset="-120"/>
              </a:rPr>
              <a:t>At /gate, when the diff crosses a security/data/API boundary, the evaluator and security axes re-verify across 3 independent fresh-context instances and resolve 2-of-3. A timeout fails safe to the stricter outcome.</a:t>
            </a:r>
            <a:endParaRPr lang="en-US" sz="980" dirty="0"/>
          </a:p>
        </p:txBody>
      </p:sp>
      <p:sp>
        <p:nvSpPr>
          <p:cNvPr id="14" name="Text 11"/>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Verification</a:t>
            </a:r>
            <a:endParaRPr lang="en-US" sz="850" dirty="0"/>
          </a:p>
        </p:txBody>
      </p:sp>
      <p:sp>
        <p:nvSpPr>
          <p:cNvPr id="15" name="Text 12"/>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14 / 21</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1F5132"/>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15</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1F5132"/>
                </a:solidFill>
                <a:latin typeface="Calibri" pitchFamily="34" charset="0"/>
                <a:ea typeface="Calibri" pitchFamily="34" charset="-122"/>
                <a:cs typeface="Calibri" pitchFamily="34" charset="-120"/>
              </a:rPr>
              <a:t>LAYER 5 · THE KARPATHY RATCHET</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Eight gates, self-healing, and learning</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Each iteration runs the gates in sequence. A FAIL doesn't revert immediately — the harness self-heals up to three times, each with a different strategy, then reverts, extracts a permanent rule, and moves on.</a:t>
            </a:r>
            <a:endParaRPr lang="en-US" sz="1150" dirty="0"/>
          </a:p>
        </p:txBody>
      </p:sp>
      <p:sp>
        <p:nvSpPr>
          <p:cNvPr id="7" name="Shape 5"/>
          <p:cNvSpPr/>
          <p:nvPr/>
        </p:nvSpPr>
        <p:spPr>
          <a:xfrm>
            <a:off x="502920" y="182880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685800" y="2061972"/>
            <a:ext cx="402336" cy="402336"/>
          </a:xfrm>
          <a:prstGeom prst="ellipse">
            <a:avLst/>
          </a:prstGeom>
          <a:solidFill>
            <a:srgbClr val="1F5132"/>
          </a:solidFill>
          <a:ln/>
        </p:spPr>
      </p:sp>
      <p:sp>
        <p:nvSpPr>
          <p:cNvPr id="9" name="Text 7"/>
          <p:cNvSpPr/>
          <p:nvPr/>
        </p:nvSpPr>
        <p:spPr>
          <a:xfrm>
            <a:off x="685800" y="20619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1179576" y="182880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Unit tests pass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all modes</a:t>
            </a:r>
            <a:endParaRPr lang="en-US" sz="1030" dirty="0"/>
          </a:p>
        </p:txBody>
      </p:sp>
      <p:sp>
        <p:nvSpPr>
          <p:cNvPr id="11" name="Shape 9"/>
          <p:cNvSpPr/>
          <p:nvPr/>
        </p:nvSpPr>
        <p:spPr>
          <a:xfrm>
            <a:off x="3345104" y="182880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12" name="Shape 10"/>
          <p:cNvSpPr/>
          <p:nvPr/>
        </p:nvSpPr>
        <p:spPr>
          <a:xfrm>
            <a:off x="3527984" y="2061972"/>
            <a:ext cx="402336" cy="402336"/>
          </a:xfrm>
          <a:prstGeom prst="ellipse">
            <a:avLst/>
          </a:prstGeom>
          <a:solidFill>
            <a:srgbClr val="1F5132"/>
          </a:solidFill>
          <a:ln/>
        </p:spPr>
      </p:sp>
      <p:sp>
        <p:nvSpPr>
          <p:cNvPr id="13" name="Text 11"/>
          <p:cNvSpPr/>
          <p:nvPr/>
        </p:nvSpPr>
        <p:spPr>
          <a:xfrm>
            <a:off x="3527984" y="20619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4" name="Text 12"/>
          <p:cNvSpPr/>
          <p:nvPr/>
        </p:nvSpPr>
        <p:spPr>
          <a:xfrm>
            <a:off x="4021760" y="182880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Lint + types clean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all modes</a:t>
            </a:r>
            <a:endParaRPr lang="en-US" sz="1030" dirty="0"/>
          </a:p>
        </p:txBody>
      </p:sp>
      <p:sp>
        <p:nvSpPr>
          <p:cNvPr id="15" name="Shape 13"/>
          <p:cNvSpPr/>
          <p:nvPr/>
        </p:nvSpPr>
        <p:spPr>
          <a:xfrm>
            <a:off x="6187288" y="182880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16" name="Shape 14"/>
          <p:cNvSpPr/>
          <p:nvPr/>
        </p:nvSpPr>
        <p:spPr>
          <a:xfrm>
            <a:off x="6370168" y="2061972"/>
            <a:ext cx="402336" cy="402336"/>
          </a:xfrm>
          <a:prstGeom prst="ellipse">
            <a:avLst/>
          </a:prstGeom>
          <a:solidFill>
            <a:srgbClr val="1F5132"/>
          </a:solidFill>
          <a:ln/>
        </p:spPr>
      </p:sp>
      <p:sp>
        <p:nvSpPr>
          <p:cNvPr id="17" name="Text 15"/>
          <p:cNvSpPr/>
          <p:nvPr/>
        </p:nvSpPr>
        <p:spPr>
          <a:xfrm>
            <a:off x="6370168" y="20619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6863944" y="182880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Coverage ≥ baseline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floor 80%</a:t>
            </a:r>
            <a:endParaRPr lang="en-US" sz="1030" dirty="0"/>
          </a:p>
        </p:txBody>
      </p:sp>
      <p:sp>
        <p:nvSpPr>
          <p:cNvPr id="19" name="Shape 17"/>
          <p:cNvSpPr/>
          <p:nvPr/>
        </p:nvSpPr>
        <p:spPr>
          <a:xfrm>
            <a:off x="9029471" y="182880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20" name="Shape 18"/>
          <p:cNvSpPr/>
          <p:nvPr/>
        </p:nvSpPr>
        <p:spPr>
          <a:xfrm>
            <a:off x="9212351" y="2061972"/>
            <a:ext cx="402336" cy="402336"/>
          </a:xfrm>
          <a:prstGeom prst="ellipse">
            <a:avLst/>
          </a:prstGeom>
          <a:solidFill>
            <a:srgbClr val="1F5132"/>
          </a:solidFill>
          <a:ln/>
        </p:spPr>
      </p:sp>
      <p:sp>
        <p:nvSpPr>
          <p:cNvPr id="21" name="Text 19"/>
          <p:cNvSpPr/>
          <p:nvPr/>
        </p:nvSpPr>
        <p:spPr>
          <a:xfrm>
            <a:off x="9212351" y="206197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706127" y="182880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Architecture alignment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one-way imports</a:t>
            </a:r>
            <a:endParaRPr lang="en-US" sz="1030" dirty="0"/>
          </a:p>
        </p:txBody>
      </p:sp>
      <p:sp>
        <p:nvSpPr>
          <p:cNvPr id="23" name="Shape 21"/>
          <p:cNvSpPr/>
          <p:nvPr/>
        </p:nvSpPr>
        <p:spPr>
          <a:xfrm>
            <a:off x="502920" y="283464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24" name="Shape 22"/>
          <p:cNvSpPr/>
          <p:nvPr/>
        </p:nvSpPr>
        <p:spPr>
          <a:xfrm>
            <a:off x="685800" y="3067812"/>
            <a:ext cx="402336" cy="402336"/>
          </a:xfrm>
          <a:prstGeom prst="ellipse">
            <a:avLst/>
          </a:prstGeom>
          <a:solidFill>
            <a:srgbClr val="1F5132"/>
          </a:solidFill>
          <a:ln/>
        </p:spPr>
      </p:sp>
      <p:sp>
        <p:nvSpPr>
          <p:cNvPr id="25" name="Text 23"/>
          <p:cNvSpPr/>
          <p:nvPr/>
        </p:nvSpPr>
        <p:spPr>
          <a:xfrm>
            <a:off x="685800" y="30678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6" name="Text 24"/>
          <p:cNvSpPr/>
          <p:nvPr/>
        </p:nvSpPr>
        <p:spPr>
          <a:xfrm>
            <a:off x="1179576" y="283464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Evaluator verdict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API + browser</a:t>
            </a:r>
            <a:endParaRPr lang="en-US" sz="1030" dirty="0"/>
          </a:p>
        </p:txBody>
      </p:sp>
      <p:sp>
        <p:nvSpPr>
          <p:cNvPr id="27" name="Shape 25"/>
          <p:cNvSpPr/>
          <p:nvPr/>
        </p:nvSpPr>
        <p:spPr>
          <a:xfrm>
            <a:off x="3345104" y="283464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28" name="Shape 26"/>
          <p:cNvSpPr/>
          <p:nvPr/>
        </p:nvSpPr>
        <p:spPr>
          <a:xfrm>
            <a:off x="3527984" y="3067812"/>
            <a:ext cx="402336" cy="402336"/>
          </a:xfrm>
          <a:prstGeom prst="ellipse">
            <a:avLst/>
          </a:prstGeom>
          <a:solidFill>
            <a:srgbClr val="1F5132"/>
          </a:solidFill>
          <a:ln/>
        </p:spPr>
      </p:sp>
      <p:sp>
        <p:nvSpPr>
          <p:cNvPr id="29" name="Text 27"/>
          <p:cNvSpPr/>
          <p:nvPr/>
        </p:nvSpPr>
        <p:spPr>
          <a:xfrm>
            <a:off x="3527984" y="30678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0" name="Text 28"/>
          <p:cNvSpPr/>
          <p:nvPr/>
        </p:nvSpPr>
        <p:spPr>
          <a:xfrm>
            <a:off x="4021760" y="283464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Design-critic score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full mode</a:t>
            </a:r>
            <a:endParaRPr lang="en-US" sz="1030" dirty="0"/>
          </a:p>
        </p:txBody>
      </p:sp>
      <p:sp>
        <p:nvSpPr>
          <p:cNvPr id="31" name="Shape 29"/>
          <p:cNvSpPr/>
          <p:nvPr/>
        </p:nvSpPr>
        <p:spPr>
          <a:xfrm>
            <a:off x="6187288" y="283464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32" name="Shape 30"/>
          <p:cNvSpPr/>
          <p:nvPr/>
        </p:nvSpPr>
        <p:spPr>
          <a:xfrm>
            <a:off x="6370168" y="3067812"/>
            <a:ext cx="402336" cy="402336"/>
          </a:xfrm>
          <a:prstGeom prst="ellipse">
            <a:avLst/>
          </a:prstGeom>
          <a:solidFill>
            <a:srgbClr val="1F5132"/>
          </a:solidFill>
          <a:ln/>
        </p:spPr>
      </p:sp>
      <p:sp>
        <p:nvSpPr>
          <p:cNvPr id="33" name="Text 31"/>
          <p:cNvSpPr/>
          <p:nvPr/>
        </p:nvSpPr>
        <p:spPr>
          <a:xfrm>
            <a:off x="6370168" y="30678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7</a:t>
            </a:r>
            <a:endParaRPr lang="en-US" sz="1600" dirty="0"/>
          </a:p>
        </p:txBody>
      </p:sp>
      <p:sp>
        <p:nvSpPr>
          <p:cNvPr id="34" name="Text 32"/>
          <p:cNvSpPr/>
          <p:nvPr/>
        </p:nvSpPr>
        <p:spPr>
          <a:xfrm>
            <a:off x="6863944" y="283464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Security gate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critical/high</a:t>
            </a:r>
            <a:endParaRPr lang="en-US" sz="1030" dirty="0"/>
          </a:p>
        </p:txBody>
      </p:sp>
      <p:sp>
        <p:nvSpPr>
          <p:cNvPr id="35" name="Shape 33"/>
          <p:cNvSpPr/>
          <p:nvPr/>
        </p:nvSpPr>
        <p:spPr>
          <a:xfrm>
            <a:off x="9029471" y="2834640"/>
            <a:ext cx="2659304" cy="868680"/>
          </a:xfrm>
          <a:prstGeom prst="roundRect">
            <a:avLst>
              <a:gd name="adj" fmla="val 8421"/>
            </a:avLst>
          </a:prstGeom>
          <a:solidFill>
            <a:srgbClr val="FFFFFF"/>
          </a:solidFill>
          <a:ln w="12700">
            <a:solidFill>
              <a:srgbClr val="CFE0D5"/>
            </a:solidFill>
            <a:prstDash val="solid"/>
          </a:ln>
          <a:effectLst>
            <a:outerShdw sx="100000" sy="100000" kx="0" ky="0" algn="bl" rotWithShape="0" blurRad="50800" dist="12700" dir="5400000">
              <a:srgbClr val="8A8168">
                <a:alpha val="25000"/>
              </a:srgbClr>
            </a:outerShdw>
          </a:effectLst>
        </p:spPr>
      </p:sp>
      <p:sp>
        <p:nvSpPr>
          <p:cNvPr id="36" name="Shape 34"/>
          <p:cNvSpPr/>
          <p:nvPr/>
        </p:nvSpPr>
        <p:spPr>
          <a:xfrm>
            <a:off x="9212351" y="3067812"/>
            <a:ext cx="402336" cy="402336"/>
          </a:xfrm>
          <a:prstGeom prst="ellipse">
            <a:avLst/>
          </a:prstGeom>
          <a:solidFill>
            <a:srgbClr val="1F5132"/>
          </a:solidFill>
          <a:ln/>
        </p:spPr>
      </p:sp>
      <p:sp>
        <p:nvSpPr>
          <p:cNvPr id="37" name="Text 35"/>
          <p:cNvSpPr/>
          <p:nvPr/>
        </p:nvSpPr>
        <p:spPr>
          <a:xfrm>
            <a:off x="9212351" y="3067812"/>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38" name="Text 36"/>
          <p:cNvSpPr/>
          <p:nvPr/>
        </p:nvSpPr>
        <p:spPr>
          <a:xfrm>
            <a:off x="9706127" y="2834640"/>
            <a:ext cx="1882064" cy="868680"/>
          </a:xfrm>
          <a:prstGeom prst="rect">
            <a:avLst/>
          </a:prstGeom>
          <a:noFill/>
          <a:ln/>
        </p:spPr>
        <p:txBody>
          <a:bodyPr wrap="square" lIns="0" tIns="0" rIns="0" bIns="0" rtlCol="0" anchor="ctr"/>
          <a:lstStyle/>
          <a:p>
            <a:pPr indent="0" marL="0">
              <a:lnSpc>
                <a:spcPct val="98000"/>
              </a:lnSpc>
              <a:buNone/>
            </a:pPr>
            <a:r>
              <a:rPr lang="en-US" sz="1030" b="1" dirty="0">
                <a:solidFill>
                  <a:srgbClr val="22252A"/>
                </a:solidFill>
                <a:latin typeface="Calibri" pitchFamily="34" charset="0"/>
                <a:ea typeface="Calibri" pitchFamily="34" charset="-122"/>
                <a:cs typeface="Calibri" pitchFamily="34" charset="-120"/>
              </a:rPr>
              <a:t>Fresh-context review
</a:t>
            </a:r>
            <a:endParaRPr lang="en-US" sz="1030" dirty="0"/>
          </a:p>
          <a:p>
            <a:pPr indent="0" marL="0">
              <a:lnSpc>
                <a:spcPct val="98000"/>
              </a:lnSpc>
              <a:buNone/>
            </a:pPr>
            <a:r>
              <a:rPr lang="en-US" sz="880" i="1" dirty="0">
                <a:solidFill>
                  <a:srgbClr val="6C7078"/>
                </a:solidFill>
                <a:latin typeface="Calibri" pitchFamily="34" charset="0"/>
                <a:ea typeface="Calibri" pitchFamily="34" charset="-122"/>
                <a:cs typeface="Calibri" pitchFamily="34" charset="-120"/>
              </a:rPr>
              <a:t>structure + correctness</a:t>
            </a:r>
            <a:endParaRPr lang="en-US" sz="1030" dirty="0"/>
          </a:p>
        </p:txBody>
      </p:sp>
      <p:sp>
        <p:nvSpPr>
          <p:cNvPr id="39" name="Shape 37"/>
          <p:cNvSpPr/>
          <p:nvPr/>
        </p:nvSpPr>
        <p:spPr>
          <a:xfrm>
            <a:off x="502920" y="3977640"/>
            <a:ext cx="3545738" cy="1691640"/>
          </a:xfrm>
          <a:prstGeom prst="roundRect">
            <a:avLst>
              <a:gd name="adj" fmla="val 4865"/>
            </a:avLst>
          </a:prstGeom>
          <a:solidFill>
            <a:srgbClr val="E4EEE7"/>
          </a:solidFill>
          <a:ln w="12700">
            <a:solidFill>
              <a:srgbClr val="CFE0D5"/>
            </a:solidFill>
            <a:prstDash val="solid"/>
          </a:ln>
        </p:spPr>
      </p:sp>
      <p:sp>
        <p:nvSpPr>
          <p:cNvPr id="40" name="Shape 38"/>
          <p:cNvSpPr/>
          <p:nvPr/>
        </p:nvSpPr>
        <p:spPr>
          <a:xfrm>
            <a:off x="704088" y="4178808"/>
            <a:ext cx="420624" cy="420624"/>
          </a:xfrm>
          <a:prstGeom prst="ellipse">
            <a:avLst/>
          </a:prstGeom>
          <a:solidFill>
            <a:srgbClr val="1F5132"/>
          </a:solidFill>
          <a:ln/>
        </p:spPr>
      </p:sp>
      <p:pic>
        <p:nvPicPr>
          <p:cNvPr id="41" name="Image 0" descr="/root/work/harness_slide/icons/l3_shield.png">    </p:cNvPr>
          <p:cNvPicPr>
            <a:picLocks noChangeAspect="1"/>
          </p:cNvPicPr>
          <p:nvPr/>
        </p:nvPicPr>
        <p:blipFill>
          <a:blip r:embed="rId1"/>
          <a:stretch>
            <a:fillRect/>
          </a:stretch>
        </p:blipFill>
        <p:spPr>
          <a:xfrm>
            <a:off x="832104" y="4306824"/>
            <a:ext cx="164592" cy="164592"/>
          </a:xfrm>
          <a:prstGeom prst="rect">
            <a:avLst/>
          </a:prstGeom>
        </p:spPr>
      </p:pic>
      <p:sp>
        <p:nvSpPr>
          <p:cNvPr id="42" name="Text 39"/>
          <p:cNvSpPr/>
          <p:nvPr/>
        </p:nvSpPr>
        <p:spPr>
          <a:xfrm>
            <a:off x="1234440" y="4178808"/>
            <a:ext cx="2677058" cy="420624"/>
          </a:xfrm>
          <a:prstGeom prst="rect">
            <a:avLst/>
          </a:prstGeom>
          <a:noFill/>
          <a:ln/>
        </p:spPr>
        <p:txBody>
          <a:bodyPr wrap="square" lIns="0" tIns="0" rIns="0" bIns="0" rtlCol="0" anchor="ctr"/>
          <a:lstStyle/>
          <a:p>
            <a:pPr indent="0" marL="0">
              <a:buNone/>
            </a:pPr>
            <a:r>
              <a:rPr lang="en-US" sz="1200" b="1" dirty="0">
                <a:solidFill>
                  <a:srgbClr val="1F5132"/>
                </a:solidFill>
                <a:latin typeface="Calibri" pitchFamily="34" charset="0"/>
                <a:ea typeface="Calibri" pitchFamily="34" charset="-122"/>
                <a:cs typeface="Calibri" pitchFamily="34" charset="-120"/>
              </a:rPr>
              <a:t>Self-heal ×3</a:t>
            </a:r>
            <a:endParaRPr lang="en-US" sz="1200" dirty="0"/>
          </a:p>
        </p:txBody>
      </p:sp>
      <p:sp>
        <p:nvSpPr>
          <p:cNvPr id="43" name="Text 40"/>
          <p:cNvSpPr/>
          <p:nvPr/>
        </p:nvSpPr>
        <p:spPr>
          <a:xfrm>
            <a:off x="722376" y="4690872"/>
            <a:ext cx="3106826" cy="86868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10 failure categories, each a distinct auto-fix. prior_attempts prevents repeating a fix. After 3 → revert + learn + mark BLOCKED.</a:t>
            </a:r>
            <a:endParaRPr lang="en-US" sz="970" dirty="0"/>
          </a:p>
        </p:txBody>
      </p:sp>
      <p:sp>
        <p:nvSpPr>
          <p:cNvPr id="44" name="Shape 41"/>
          <p:cNvSpPr/>
          <p:nvPr/>
        </p:nvSpPr>
        <p:spPr>
          <a:xfrm>
            <a:off x="4322978" y="3977640"/>
            <a:ext cx="3545738" cy="1691640"/>
          </a:xfrm>
          <a:prstGeom prst="roundRect">
            <a:avLst>
              <a:gd name="adj" fmla="val 4865"/>
            </a:avLst>
          </a:prstGeom>
          <a:solidFill>
            <a:srgbClr val="E4EEE7"/>
          </a:solidFill>
          <a:ln w="12700">
            <a:solidFill>
              <a:srgbClr val="CFE0D5"/>
            </a:solidFill>
            <a:prstDash val="solid"/>
          </a:ln>
        </p:spPr>
      </p:sp>
      <p:sp>
        <p:nvSpPr>
          <p:cNvPr id="45" name="Shape 42"/>
          <p:cNvSpPr/>
          <p:nvPr/>
        </p:nvSpPr>
        <p:spPr>
          <a:xfrm>
            <a:off x="4524146" y="4178808"/>
            <a:ext cx="420624" cy="420624"/>
          </a:xfrm>
          <a:prstGeom prst="ellipse">
            <a:avLst/>
          </a:prstGeom>
          <a:solidFill>
            <a:srgbClr val="1F5132"/>
          </a:solidFill>
          <a:ln/>
        </p:spPr>
      </p:sp>
      <p:pic>
        <p:nvPicPr>
          <p:cNvPr id="46" name="Image 1" descr="/root/work/harness_slide/icons/l5_book.png">    </p:cNvPr>
          <p:cNvPicPr>
            <a:picLocks noChangeAspect="1"/>
          </p:cNvPicPr>
          <p:nvPr/>
        </p:nvPicPr>
        <p:blipFill>
          <a:blip r:embed="rId2"/>
          <a:stretch>
            <a:fillRect/>
          </a:stretch>
        </p:blipFill>
        <p:spPr>
          <a:xfrm>
            <a:off x="4652162" y="4306824"/>
            <a:ext cx="164592" cy="164592"/>
          </a:xfrm>
          <a:prstGeom prst="rect">
            <a:avLst/>
          </a:prstGeom>
        </p:spPr>
      </p:pic>
      <p:sp>
        <p:nvSpPr>
          <p:cNvPr id="47" name="Text 43"/>
          <p:cNvSpPr/>
          <p:nvPr/>
        </p:nvSpPr>
        <p:spPr>
          <a:xfrm>
            <a:off x="5054498" y="4178808"/>
            <a:ext cx="2677058" cy="420624"/>
          </a:xfrm>
          <a:prstGeom prst="rect">
            <a:avLst/>
          </a:prstGeom>
          <a:noFill/>
          <a:ln/>
        </p:spPr>
        <p:txBody>
          <a:bodyPr wrap="square" lIns="0" tIns="0" rIns="0" bIns="0" rtlCol="0" anchor="ctr"/>
          <a:lstStyle/>
          <a:p>
            <a:pPr indent="0" marL="0">
              <a:buNone/>
            </a:pPr>
            <a:r>
              <a:rPr lang="en-US" sz="1200" b="1" dirty="0">
                <a:solidFill>
                  <a:srgbClr val="1F5132"/>
                </a:solidFill>
                <a:latin typeface="Calibri" pitchFamily="34" charset="0"/>
                <a:ea typeface="Calibri" pitchFamily="34" charset="-122"/>
                <a:cs typeface="Calibri" pitchFamily="34" charset="-120"/>
              </a:rPr>
              <a:t>Learned rules</a:t>
            </a:r>
            <a:endParaRPr lang="en-US" sz="1200" dirty="0"/>
          </a:p>
        </p:txBody>
      </p:sp>
      <p:sp>
        <p:nvSpPr>
          <p:cNvPr id="48" name="Text 44"/>
          <p:cNvSpPr/>
          <p:nvPr/>
        </p:nvSpPr>
        <p:spPr>
          <a:xfrm>
            <a:off x="4542434" y="4690872"/>
            <a:ext cx="3106826" cy="86868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When an error recurs 2+ times it becomes a permanent directive in learned-rules.md — monotonic, injected into every future prompt.</a:t>
            </a:r>
            <a:endParaRPr lang="en-US" sz="970" dirty="0"/>
          </a:p>
        </p:txBody>
      </p:sp>
      <p:sp>
        <p:nvSpPr>
          <p:cNvPr id="49" name="Shape 45"/>
          <p:cNvSpPr/>
          <p:nvPr/>
        </p:nvSpPr>
        <p:spPr>
          <a:xfrm>
            <a:off x="8143037" y="3977640"/>
            <a:ext cx="3545738" cy="1691640"/>
          </a:xfrm>
          <a:prstGeom prst="roundRect">
            <a:avLst>
              <a:gd name="adj" fmla="val 4865"/>
            </a:avLst>
          </a:prstGeom>
          <a:solidFill>
            <a:srgbClr val="E4EEE7"/>
          </a:solidFill>
          <a:ln w="12700">
            <a:solidFill>
              <a:srgbClr val="CFE0D5"/>
            </a:solidFill>
            <a:prstDash val="solid"/>
          </a:ln>
        </p:spPr>
      </p:sp>
      <p:sp>
        <p:nvSpPr>
          <p:cNvPr id="50" name="Shape 46"/>
          <p:cNvSpPr/>
          <p:nvPr/>
        </p:nvSpPr>
        <p:spPr>
          <a:xfrm>
            <a:off x="8344205" y="4178808"/>
            <a:ext cx="420624" cy="420624"/>
          </a:xfrm>
          <a:prstGeom prst="ellipse">
            <a:avLst/>
          </a:prstGeom>
          <a:solidFill>
            <a:srgbClr val="1F5132"/>
          </a:solidFill>
          <a:ln/>
        </p:spPr>
      </p:sp>
      <p:pic>
        <p:nvPicPr>
          <p:cNvPr id="51" name="Image 2" descr="/root/work/harness_slide/icons/l5_chart.png">    </p:cNvPr>
          <p:cNvPicPr>
            <a:picLocks noChangeAspect="1"/>
          </p:cNvPicPr>
          <p:nvPr/>
        </p:nvPicPr>
        <p:blipFill>
          <a:blip r:embed="rId3"/>
          <a:stretch>
            <a:fillRect/>
          </a:stretch>
        </p:blipFill>
        <p:spPr>
          <a:xfrm>
            <a:off x="8472221" y="4306824"/>
            <a:ext cx="164592" cy="164592"/>
          </a:xfrm>
          <a:prstGeom prst="rect">
            <a:avLst/>
          </a:prstGeom>
        </p:spPr>
      </p:pic>
      <p:sp>
        <p:nvSpPr>
          <p:cNvPr id="52" name="Text 47"/>
          <p:cNvSpPr/>
          <p:nvPr/>
        </p:nvSpPr>
        <p:spPr>
          <a:xfrm>
            <a:off x="8874557" y="4178808"/>
            <a:ext cx="2677058" cy="420624"/>
          </a:xfrm>
          <a:prstGeom prst="rect">
            <a:avLst/>
          </a:prstGeom>
          <a:noFill/>
          <a:ln/>
        </p:spPr>
        <p:txBody>
          <a:bodyPr wrap="square" lIns="0" tIns="0" rIns="0" bIns="0" rtlCol="0" anchor="ctr"/>
          <a:lstStyle/>
          <a:p>
            <a:pPr indent="0" marL="0">
              <a:buNone/>
            </a:pPr>
            <a:r>
              <a:rPr lang="en-US" sz="1200" b="1" dirty="0">
                <a:solidFill>
                  <a:srgbClr val="1F5132"/>
                </a:solidFill>
                <a:latin typeface="Calibri" pitchFamily="34" charset="0"/>
                <a:ea typeface="Calibri" pitchFamily="34" charset="-122"/>
                <a:cs typeface="Calibri" pitchFamily="34" charset="-120"/>
              </a:rPr>
              <a:t>Coverage = proof</a:t>
            </a:r>
            <a:endParaRPr lang="en-US" sz="1200" dirty="0"/>
          </a:p>
        </p:txBody>
      </p:sp>
      <p:sp>
        <p:nvSpPr>
          <p:cNvPr id="53" name="Text 48"/>
          <p:cNvSpPr/>
          <p:nvPr/>
        </p:nvSpPr>
        <p:spPr>
          <a:xfrm>
            <a:off x="8362493" y="4690872"/>
            <a:ext cx="3106826" cy="86868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100% isn't a target for its own sake — it verifies the agent double-checked every line it wrote. Below-baseline commits are rejected.</a:t>
            </a:r>
            <a:endParaRPr lang="en-US" sz="970" dirty="0"/>
          </a:p>
        </p:txBody>
      </p:sp>
      <p:sp>
        <p:nvSpPr>
          <p:cNvPr id="54" name="Text 49"/>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The Ratchet</a:t>
            </a:r>
            <a:endParaRPr lang="en-US" sz="850" dirty="0"/>
          </a:p>
        </p:txBody>
      </p:sp>
      <p:sp>
        <p:nvSpPr>
          <p:cNvPr id="55" name="Text 50"/>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15 / 21</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1F5132"/>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16</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1F5132"/>
                </a:solidFill>
                <a:latin typeface="Calibri" pitchFamily="34" charset="0"/>
                <a:ea typeface="Calibri" pitchFamily="34" charset="-122"/>
                <a:cs typeface="Calibri" pitchFamily="34" charset="-120"/>
              </a:rPr>
              <a:t>THE CONTROL-SYSTEM REGISTRY</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Guides × sensors across four axes of quality</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HARNESS.md + harness-manifest.json are the single source of truth for what governs what — and where the holes are. A guide steers before the agent acts; a sensor verifies after. You need both.</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2286000"/>
                <a:gridCol w="4937760"/>
                <a:gridCol w="3959352"/>
              </a:tblGrid>
              <a:tr h="658368">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Axis</a:t>
                      </a:r>
                      <a:endParaRPr lang="en-US" sz="102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1F5132"/>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Guides (feedforward)</a:t>
                      </a:r>
                      <a:endParaRPr lang="en-US" sz="102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1F5132"/>
                    </a:solidFill>
                  </a:tcPr>
                </a:tc>
                <a:tc>
                  <a:txBody>
                    <a:bodyPr/>
                    <a:lstStyle/>
                    <a:p>
                      <a:pPr algn="l" indent="0" marL="0">
                        <a:buNone/>
                      </a:pPr>
                      <a:r>
                        <a:rPr lang="en-US" sz="1020" b="1" dirty="0">
                          <a:solidFill>
                            <a:srgbClr val="FFFFFF"/>
                          </a:solidFill>
                          <a:latin typeface="Calibri" pitchFamily="34" charset="0"/>
                          <a:ea typeface="Calibri" pitchFamily="34" charset="-122"/>
                          <a:cs typeface="Calibri" pitchFamily="34" charset="-120"/>
                        </a:rPr>
                        <a:t>Sensors (feedback)</a:t>
                      </a:r>
                      <a:endParaRPr lang="en-US" sz="102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1F5132"/>
                    </a:solidFill>
                  </a:tcPr>
                </a:tc>
              </a:tr>
              <a:tr h="658368">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Maintainability</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code-gen principles, length caps, clarify</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lint/types, coverage ratchet, structure review, dead-code drift</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r>
              <a:tr h="658368">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Architecture</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architecture.md layer config, observability conventions</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layer-import check, cycle + coupling ratchet, API contract-drift</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r>
              <a:tr h="658368">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Behaviour</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BRD/spec/design, acceptance criteria, sprint contracts</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unit tests, 3-layer evaluator, security, flake + regression suites</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FFFFFF"/>
                    </a:solidFill>
                  </a:tcPr>
                </a:tc>
              </a:tr>
              <a:tr h="658368">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Traceability</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FRD/PRD baseline, token governor / living nav</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c>
                  <a:txBody>
                    <a:bodyPr/>
                    <a:lstStyle/>
                    <a:p>
                      <a:pPr algn="l" indent="0" marL="0">
                        <a:buNone/>
                      </a:pPr>
                      <a:r>
                        <a:rPr lang="en-US" sz="950" dirty="0">
                          <a:solidFill>
                            <a:srgbClr val="22252A"/>
                          </a:solidFill>
                          <a:latin typeface="Calibri" pitchFamily="34" charset="0"/>
                          <a:ea typeface="Calibri" pitchFamily="34" charset="-122"/>
                          <a:cs typeface="Calibri" pitchFamily="34" charset="-120"/>
                        </a:rPr>
                        <a:t>grounding + trace check, verification matrix, ownership + canvas sync</a:t>
                      </a:r>
                      <a:endParaRPr lang="en-US" sz="950" dirty="0">
                        <a:latin typeface="Calibri" charset="0"/>
                        <a:ea typeface="Calibri" charset="0"/>
                        <a:cs typeface="Calibri" charset="0"/>
                      </a:endParaRPr>
                    </a:p>
                  </a:txBody>
                  <a:tcPr marL="63500" marR="50800" marT="25400" marB="25400" anchor="ctr">
                    <a:lnL w="6350" cap="flat" cmpd="sng" algn="ctr">
                      <a:solidFill>
                        <a:srgbClr val="CFE0D5"/>
                      </a:solidFill>
                      <a:prstDash val="solid"/>
                      <a:round/>
                      <a:headEnd type="none" w="med" len="med"/>
                      <a:tailEnd type="none" w="med" len="med"/>
                    </a:lnL>
                    <a:lnR w="6350" cap="flat" cmpd="sng" algn="ctr">
                      <a:solidFill>
                        <a:srgbClr val="CFE0D5"/>
                      </a:solidFill>
                      <a:prstDash val="solid"/>
                      <a:round/>
                      <a:headEnd type="none" w="med" len="med"/>
                      <a:tailEnd type="none" w="med" len="med"/>
                    </a:lnR>
                    <a:lnT w="6350" cap="flat" cmpd="sng" algn="ctr">
                      <a:solidFill>
                        <a:srgbClr val="CFE0D5"/>
                      </a:solidFill>
                      <a:prstDash val="solid"/>
                      <a:round/>
                      <a:headEnd type="none" w="med" len="med"/>
                      <a:tailEnd type="none" w="med" len="med"/>
                    </a:lnT>
                    <a:lnB w="6350" cap="flat" cmpd="sng" algn="ctr">
                      <a:solidFill>
                        <a:srgbClr val="CFE0D5"/>
                      </a:solidFill>
                      <a:prstDash val="solid"/>
                      <a:round/>
                      <a:headEnd type="none" w="med" len="med"/>
                      <a:tailEnd type="none" w="med" len="med"/>
                    </a:lnB>
                    <a:solidFill>
                      <a:srgbClr val="E4EEE7"/>
                    </a:solidFill>
                  </a:tcPr>
                </a:tc>
              </a:tr>
            </a:tbl>
          </a:graphicData>
        </a:graphic>
      </p:graphicFrame>
      <p:sp>
        <p:nvSpPr>
          <p:cNvPr id="8" name="Shape 5"/>
          <p:cNvSpPr/>
          <p:nvPr/>
        </p:nvSpPr>
        <p:spPr>
          <a:xfrm>
            <a:off x="502920" y="5166360"/>
            <a:ext cx="11185855" cy="1024128"/>
          </a:xfrm>
          <a:prstGeom prst="roundRect">
            <a:avLst>
              <a:gd name="adj" fmla="val 8036"/>
            </a:avLst>
          </a:prstGeom>
          <a:solidFill>
            <a:srgbClr val="ECEDEF"/>
          </a:solidFill>
          <a:ln w="12700">
            <a:solidFill>
              <a:srgbClr val="D6D9DD"/>
            </a:solidFill>
            <a:prstDash val="solid"/>
          </a:ln>
        </p:spPr>
      </p:sp>
      <p:sp>
        <p:nvSpPr>
          <p:cNvPr id="9" name="Text 6"/>
          <p:cNvSpPr/>
          <p:nvPr/>
        </p:nvSpPr>
        <p:spPr>
          <a:xfrm>
            <a:off x="731520" y="5166360"/>
            <a:ext cx="10728655" cy="1024128"/>
          </a:xfrm>
          <a:prstGeom prst="rect">
            <a:avLst/>
          </a:prstGeom>
          <a:noFill/>
          <a:ln/>
        </p:spPr>
        <p:txBody>
          <a:bodyPr wrap="square" lIns="0" tIns="0" rIns="0" bIns="0" rtlCol="0" anchor="ctr"/>
          <a:lstStyle/>
          <a:p>
            <a:pPr indent="0" marL="0">
              <a:lnSpc>
                <a:spcPct val="104000"/>
              </a:lnSpc>
              <a:buNone/>
            </a:pPr>
            <a:r>
              <a:rPr lang="en-US" sz="1100" b="1" dirty="0">
                <a:solidFill>
                  <a:srgbClr val="1F5132"/>
                </a:solidFill>
                <a:latin typeface="Calibri" pitchFamily="34" charset="0"/>
                <a:ea typeface="Calibri" pitchFamily="34" charset="-122"/>
                <a:cs typeface="Calibri" pitchFamily="34" charset="-120"/>
              </a:rPr>
              <a:t>Cadence   </a:t>
            </a:r>
            <a:pPr indent="0" marL="0">
              <a:lnSpc>
                <a:spcPct val="104000"/>
              </a:lnSpc>
              <a:buNone/>
            </a:pPr>
            <a:r>
              <a:rPr lang="en-US" sz="1030" dirty="0">
                <a:solidFill>
                  <a:srgbClr val="22252A"/>
                </a:solidFill>
                <a:latin typeface="Calibri" pitchFamily="34" charset="0"/>
                <a:ea typeface="Calibri" pitchFamily="34" charset="-122"/>
                <a:cs typeface="Calibri" pitchFamily="34" charset="-120"/>
              </a:rPr>
              <a:t>planning → session → commit → integration → drift  (earlier is cheaper).      </a:t>
            </a:r>
            <a:pPr indent="0" marL="0">
              <a:lnSpc>
                <a:spcPct val="104000"/>
              </a:lnSpc>
              <a:buNone/>
            </a:pPr>
            <a:r>
              <a:rPr lang="en-US" sz="1100" b="1" dirty="0">
                <a:solidFill>
                  <a:srgbClr val="C15F3C"/>
                </a:solidFill>
                <a:latin typeface="Calibri" pitchFamily="34" charset="0"/>
                <a:ea typeface="Calibri" pitchFamily="34" charset="-122"/>
                <a:cs typeface="Calibri" pitchFamily="34" charset="-120"/>
              </a:rPr>
              <a:t>Control budget   </a:t>
            </a:r>
            <a:pPr indent="0" marL="0">
              <a:lnSpc>
                <a:spcPct val="104000"/>
              </a:lnSpc>
              <a:buNone/>
            </a:pPr>
            <a:r>
              <a:rPr lang="en-US" sz="1030" dirty="0">
                <a:solidFill>
                  <a:srgbClr val="22252A"/>
                </a:solidFill>
                <a:latin typeface="Calibri" pitchFamily="34" charset="0"/>
                <a:ea typeface="Calibri" pitchFamily="34" charset="-122"/>
                <a:cs typeface="Calibri" pitchFamily="34" charset="-120"/>
              </a:rPr>
              <a:t>a ratchet on the harness's own size — the count of controls may only stay flat or drop unless a new one carries a written justification. The system fights its own accretion.</a:t>
            </a:r>
            <a:endParaRPr lang="en-US" sz="1100" dirty="0"/>
          </a:p>
        </p:txBody>
      </p:sp>
      <p:sp>
        <p:nvSpPr>
          <p:cNvPr id="10" name="Text 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Control registry</a:t>
            </a:r>
            <a:endParaRPr lang="en-US" sz="850" dirty="0"/>
          </a:p>
        </p:txBody>
      </p:sp>
      <p:sp>
        <p:nvSpPr>
          <p:cNvPr id="11" name="Text 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16 / 21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1C7293"/>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17</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LONG-RUNNING BUILDS</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Session chaining, parallel teams, and budgets</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Complex projects exceed one context window. Every /auto iteration is resumable: a killed session, closed laptop, or budget stop loses nothing that was committed — re-invoking /auto recovers state for ~700–1000 tokens.</a:t>
            </a:r>
            <a:endParaRPr lang="en-US" sz="1150" dirty="0"/>
          </a:p>
        </p:txBody>
      </p:sp>
      <p:sp>
        <p:nvSpPr>
          <p:cNvPr id="7" name="Shape 5"/>
          <p:cNvSpPr/>
          <p:nvPr/>
        </p:nvSpPr>
        <p:spPr>
          <a:xfrm>
            <a:off x="502920" y="1874520"/>
            <a:ext cx="5486400" cy="3977640"/>
          </a:xfrm>
          <a:prstGeom prst="roundRect">
            <a:avLst>
              <a:gd name="adj" fmla="val 2069"/>
            </a:avLst>
          </a:prstGeom>
          <a:solidFill>
            <a:srgbClr val="FFFFFF"/>
          </a:solidFill>
          <a:ln w="12700">
            <a:solidFill>
              <a:srgbClr val="CFE1EA"/>
            </a:solidFill>
            <a:prstDash val="solid"/>
          </a:ln>
          <a:effectLst>
            <a:outerShdw sx="100000" sy="100000" kx="0" ky="0" algn="bl" rotWithShape="0" blurRad="50800" dist="12700" dir="5400000">
              <a:srgbClr val="8A8168">
                <a:alpha val="25000"/>
              </a:srgbClr>
            </a:outerShdw>
          </a:effectLst>
        </p:spPr>
      </p:sp>
      <p:sp>
        <p:nvSpPr>
          <p:cNvPr id="8" name="Text 6"/>
          <p:cNvSpPr/>
          <p:nvPr/>
        </p:nvSpPr>
        <p:spPr>
          <a:xfrm>
            <a:off x="731520" y="2020824"/>
            <a:ext cx="5029200" cy="274320"/>
          </a:xfrm>
          <a:prstGeom prst="rect">
            <a:avLst/>
          </a:prstGeom>
          <a:noFill/>
          <a:ln/>
        </p:spPr>
        <p:txBody>
          <a:bodyPr wrap="square" lIns="0" tIns="0" rIns="0" bIns="0" rtlCol="0" anchor="ctr"/>
          <a:lstStyle/>
          <a:p>
            <a:pPr indent="0" marL="0">
              <a:buNone/>
            </a:pPr>
            <a:r>
              <a:rPr lang="en-US" sz="1200" b="1" dirty="0">
                <a:solidFill>
                  <a:srgbClr val="1C7293"/>
                </a:solidFill>
                <a:latin typeface="Calibri" pitchFamily="34" charset="0"/>
                <a:ea typeface="Calibri" pitchFamily="34" charset="-122"/>
                <a:cs typeface="Calibri" pitchFamily="34" charset="-120"/>
              </a:rPr>
              <a:t>What /auto reads to resume</a:t>
            </a:r>
            <a:endParaRPr lang="en-US" sz="1200" dirty="0"/>
          </a:p>
        </p:txBody>
      </p:sp>
      <p:sp>
        <p:nvSpPr>
          <p:cNvPr id="9" name="Shape 7"/>
          <p:cNvSpPr/>
          <p:nvPr/>
        </p:nvSpPr>
        <p:spPr>
          <a:xfrm>
            <a:off x="704088" y="2441448"/>
            <a:ext cx="5084064" cy="548640"/>
          </a:xfrm>
          <a:prstGeom prst="roundRect">
            <a:avLst>
              <a:gd name="adj" fmla="val 10000"/>
            </a:avLst>
          </a:prstGeom>
          <a:solidFill>
            <a:srgbClr val="FFFFFF"/>
          </a:solidFill>
          <a:ln w="12700">
            <a:solidFill>
              <a:srgbClr val="CFE1EA"/>
            </a:solidFill>
            <a:prstDash val="solid"/>
          </a:ln>
        </p:spPr>
      </p:sp>
      <p:sp>
        <p:nvSpPr>
          <p:cNvPr id="10" name="Text 8"/>
          <p:cNvSpPr/>
          <p:nvPr/>
        </p:nvSpPr>
        <p:spPr>
          <a:xfrm>
            <a:off x="868680" y="2441448"/>
            <a:ext cx="4846320" cy="548640"/>
          </a:xfrm>
          <a:prstGeom prst="rect">
            <a:avLst/>
          </a:prstGeom>
          <a:noFill/>
          <a:ln/>
        </p:spPr>
        <p:txBody>
          <a:bodyPr wrap="square" lIns="0" tIns="0" rIns="0" bIns="0" rtlCol="0" anchor="ctr"/>
          <a:lstStyle/>
          <a:p>
            <a:pPr indent="0" marL="0">
              <a:buNone/>
            </a:pPr>
            <a:r>
              <a:rPr lang="en-US" sz="1030" b="1" dirty="0">
                <a:solidFill>
                  <a:srgbClr val="1C7293"/>
                </a:solidFill>
                <a:latin typeface="Courier New" pitchFamily="34" charset="0"/>
                <a:ea typeface="Courier New" pitchFamily="34" charset="-122"/>
                <a:cs typeface="Courier New" pitchFamily="34" charset="-120"/>
              </a:rPr>
              <a:t>program.md   </a:t>
            </a:r>
            <a:pPr indent="0" marL="0">
              <a:buNone/>
            </a:pPr>
            <a:r>
              <a:rPr lang="en-US" sz="930" i="1" dirty="0">
                <a:solidFill>
                  <a:srgbClr val="6C7078"/>
                </a:solidFill>
                <a:latin typeface="Calibri" pitchFamily="34" charset="0"/>
                <a:ea typeface="Calibri" pitchFamily="34" charset="-122"/>
                <a:cs typeface="Calibri" pitchFamily="34" charset="-120"/>
              </a:rPr>
              <a:t>constraints may have changed mid-run</a:t>
            </a:r>
            <a:endParaRPr lang="en-US" sz="1030" dirty="0"/>
          </a:p>
        </p:txBody>
      </p:sp>
      <p:sp>
        <p:nvSpPr>
          <p:cNvPr id="11" name="Shape 9"/>
          <p:cNvSpPr/>
          <p:nvPr/>
        </p:nvSpPr>
        <p:spPr>
          <a:xfrm>
            <a:off x="704088" y="3081528"/>
            <a:ext cx="5084064" cy="548640"/>
          </a:xfrm>
          <a:prstGeom prst="roundRect">
            <a:avLst>
              <a:gd name="adj" fmla="val 10000"/>
            </a:avLst>
          </a:prstGeom>
          <a:solidFill>
            <a:srgbClr val="E2EEF3"/>
          </a:solidFill>
          <a:ln w="12700">
            <a:solidFill>
              <a:srgbClr val="CFE1EA"/>
            </a:solidFill>
            <a:prstDash val="solid"/>
          </a:ln>
        </p:spPr>
      </p:sp>
      <p:sp>
        <p:nvSpPr>
          <p:cNvPr id="12" name="Text 10"/>
          <p:cNvSpPr/>
          <p:nvPr/>
        </p:nvSpPr>
        <p:spPr>
          <a:xfrm>
            <a:off x="868680" y="3081528"/>
            <a:ext cx="4846320" cy="548640"/>
          </a:xfrm>
          <a:prstGeom prst="rect">
            <a:avLst/>
          </a:prstGeom>
          <a:noFill/>
          <a:ln/>
        </p:spPr>
        <p:txBody>
          <a:bodyPr wrap="square" lIns="0" tIns="0" rIns="0" bIns="0" rtlCol="0" anchor="ctr"/>
          <a:lstStyle/>
          <a:p>
            <a:pPr indent="0" marL="0">
              <a:buNone/>
            </a:pPr>
            <a:r>
              <a:rPr lang="en-US" sz="1030" b="1" dirty="0">
                <a:solidFill>
                  <a:srgbClr val="1C7293"/>
                </a:solidFill>
                <a:latin typeface="Courier New" pitchFamily="34" charset="0"/>
                <a:ea typeface="Courier New" pitchFamily="34" charset="-122"/>
                <a:cs typeface="Courier New" pitchFamily="34" charset="-120"/>
              </a:rPr>
              <a:t>learned-rules.md   </a:t>
            </a:r>
            <a:pPr indent="0" marL="0">
              <a:buNone/>
            </a:pPr>
            <a:r>
              <a:rPr lang="en-US" sz="930" i="1" dirty="0">
                <a:solidFill>
                  <a:srgbClr val="6C7078"/>
                </a:solidFill>
                <a:latin typeface="Calibri" pitchFamily="34" charset="0"/>
                <a:ea typeface="Calibri" pitchFamily="34" charset="-122"/>
                <a:cs typeface="Calibri" pitchFamily="34" charset="-120"/>
              </a:rPr>
              <a:t>injected verbatim into every agent prompt</a:t>
            </a:r>
            <a:endParaRPr lang="en-US" sz="1030" dirty="0"/>
          </a:p>
        </p:txBody>
      </p:sp>
      <p:sp>
        <p:nvSpPr>
          <p:cNvPr id="13" name="Shape 11"/>
          <p:cNvSpPr/>
          <p:nvPr/>
        </p:nvSpPr>
        <p:spPr>
          <a:xfrm>
            <a:off x="704088" y="3721608"/>
            <a:ext cx="5084064" cy="548640"/>
          </a:xfrm>
          <a:prstGeom prst="roundRect">
            <a:avLst>
              <a:gd name="adj" fmla="val 10000"/>
            </a:avLst>
          </a:prstGeom>
          <a:solidFill>
            <a:srgbClr val="FFFFFF"/>
          </a:solidFill>
          <a:ln w="12700">
            <a:solidFill>
              <a:srgbClr val="CFE1EA"/>
            </a:solidFill>
            <a:prstDash val="solid"/>
          </a:ln>
        </p:spPr>
      </p:sp>
      <p:sp>
        <p:nvSpPr>
          <p:cNvPr id="14" name="Text 12"/>
          <p:cNvSpPr/>
          <p:nvPr/>
        </p:nvSpPr>
        <p:spPr>
          <a:xfrm>
            <a:off x="868680" y="3721608"/>
            <a:ext cx="4846320" cy="548640"/>
          </a:xfrm>
          <a:prstGeom prst="rect">
            <a:avLst/>
          </a:prstGeom>
          <a:noFill/>
          <a:ln/>
        </p:spPr>
        <p:txBody>
          <a:bodyPr wrap="square" lIns="0" tIns="0" rIns="0" bIns="0" rtlCol="0" anchor="ctr"/>
          <a:lstStyle/>
          <a:p>
            <a:pPr indent="0" marL="0">
              <a:buNone/>
            </a:pPr>
            <a:r>
              <a:rPr lang="en-US" sz="1030" b="1" dirty="0">
                <a:solidFill>
                  <a:srgbClr val="1C7293"/>
                </a:solidFill>
                <a:latin typeface="Courier New" pitchFamily="34" charset="0"/>
                <a:ea typeface="Courier New" pitchFamily="34" charset="-122"/>
                <a:cs typeface="Courier New" pitchFamily="34" charset="-120"/>
              </a:rPr>
              <a:t>claude-progress.txt   </a:t>
            </a:r>
            <a:pPr indent="0" marL="0">
              <a:buNone/>
            </a:pPr>
            <a:r>
              <a:rPr lang="en-US" sz="930" i="1" dirty="0">
                <a:solidFill>
                  <a:srgbClr val="6C7078"/>
                </a:solidFill>
                <a:latin typeface="Calibri" pitchFamily="34" charset="0"/>
                <a:ea typeface="Calibri" pitchFamily="34" charset="-122"/>
                <a:cs typeface="Calibri" pitchFamily="34" charset="-120"/>
              </a:rPr>
              <a:t>the last session block only</a:t>
            </a:r>
            <a:endParaRPr lang="en-US" sz="1030" dirty="0"/>
          </a:p>
        </p:txBody>
      </p:sp>
      <p:sp>
        <p:nvSpPr>
          <p:cNvPr id="15" name="Shape 13"/>
          <p:cNvSpPr/>
          <p:nvPr/>
        </p:nvSpPr>
        <p:spPr>
          <a:xfrm>
            <a:off x="704088" y="4361688"/>
            <a:ext cx="5084064" cy="548640"/>
          </a:xfrm>
          <a:prstGeom prst="roundRect">
            <a:avLst>
              <a:gd name="adj" fmla="val 10000"/>
            </a:avLst>
          </a:prstGeom>
          <a:solidFill>
            <a:srgbClr val="E2EEF3"/>
          </a:solidFill>
          <a:ln w="12700">
            <a:solidFill>
              <a:srgbClr val="CFE1EA"/>
            </a:solidFill>
            <a:prstDash val="solid"/>
          </a:ln>
        </p:spPr>
      </p:sp>
      <p:sp>
        <p:nvSpPr>
          <p:cNvPr id="16" name="Text 14"/>
          <p:cNvSpPr/>
          <p:nvPr/>
        </p:nvSpPr>
        <p:spPr>
          <a:xfrm>
            <a:off x="868680" y="4361688"/>
            <a:ext cx="4846320" cy="548640"/>
          </a:xfrm>
          <a:prstGeom prst="rect">
            <a:avLst/>
          </a:prstGeom>
          <a:noFill/>
          <a:ln/>
        </p:spPr>
        <p:txBody>
          <a:bodyPr wrap="square" lIns="0" tIns="0" rIns="0" bIns="0" rtlCol="0" anchor="ctr"/>
          <a:lstStyle/>
          <a:p>
            <a:pPr indent="0" marL="0">
              <a:buNone/>
            </a:pPr>
            <a:r>
              <a:rPr lang="en-US" sz="1030" b="1" dirty="0">
                <a:solidFill>
                  <a:srgbClr val="1C7293"/>
                </a:solidFill>
                <a:latin typeface="Courier New" pitchFamily="34" charset="0"/>
                <a:ea typeface="Courier New" pitchFamily="34" charset="-122"/>
                <a:cs typeface="Courier New" pitchFamily="34" charset="-120"/>
              </a:rPr>
              <a:t>features.json   </a:t>
            </a:r>
            <a:pPr indent="0" marL="0">
              <a:buNone/>
            </a:pPr>
            <a:r>
              <a:rPr lang="en-US" sz="930" i="1" dirty="0">
                <a:solidFill>
                  <a:srgbClr val="6C7078"/>
                </a:solidFill>
                <a:latin typeface="Calibri" pitchFamily="34" charset="0"/>
                <a:ea typeface="Calibri" pitchFamily="34" charset="-122"/>
                <a:cs typeface="Calibri" pitchFamily="34" charset="-120"/>
              </a:rPr>
              <a:t>what is passing, what is failing</a:t>
            </a:r>
            <a:endParaRPr lang="en-US" sz="1030" dirty="0"/>
          </a:p>
        </p:txBody>
      </p:sp>
      <p:sp>
        <p:nvSpPr>
          <p:cNvPr id="17" name="Shape 15"/>
          <p:cNvSpPr/>
          <p:nvPr/>
        </p:nvSpPr>
        <p:spPr>
          <a:xfrm>
            <a:off x="704088" y="5001768"/>
            <a:ext cx="5084064" cy="548640"/>
          </a:xfrm>
          <a:prstGeom prst="roundRect">
            <a:avLst>
              <a:gd name="adj" fmla="val 10000"/>
            </a:avLst>
          </a:prstGeom>
          <a:solidFill>
            <a:srgbClr val="FFFFFF"/>
          </a:solidFill>
          <a:ln w="12700">
            <a:solidFill>
              <a:srgbClr val="CFE1EA"/>
            </a:solidFill>
            <a:prstDash val="solid"/>
          </a:ln>
        </p:spPr>
      </p:sp>
      <p:sp>
        <p:nvSpPr>
          <p:cNvPr id="18" name="Text 16"/>
          <p:cNvSpPr/>
          <p:nvPr/>
        </p:nvSpPr>
        <p:spPr>
          <a:xfrm>
            <a:off x="868680" y="5001768"/>
            <a:ext cx="4846320" cy="548640"/>
          </a:xfrm>
          <a:prstGeom prst="rect">
            <a:avLst/>
          </a:prstGeom>
          <a:noFill/>
          <a:ln/>
        </p:spPr>
        <p:txBody>
          <a:bodyPr wrap="square" lIns="0" tIns="0" rIns="0" bIns="0" rtlCol="0" anchor="ctr"/>
          <a:lstStyle/>
          <a:p>
            <a:pPr indent="0" marL="0">
              <a:buNone/>
            </a:pPr>
            <a:r>
              <a:rPr lang="en-US" sz="1030" b="1" dirty="0">
                <a:solidFill>
                  <a:srgbClr val="1C7293"/>
                </a:solidFill>
                <a:latin typeface="Courier New" pitchFamily="34" charset="0"/>
                <a:ea typeface="Courier New" pitchFamily="34" charset="-122"/>
                <a:cs typeface="Courier New" pitchFamily="34" charset="-120"/>
              </a:rPr>
              <a:t>dependency-graph.md   </a:t>
            </a:r>
            <a:pPr indent="0" marL="0">
              <a:buNone/>
            </a:pPr>
            <a:r>
              <a:rPr lang="en-US" sz="930" i="1" dirty="0">
                <a:solidFill>
                  <a:srgbClr val="6C7078"/>
                </a:solidFill>
                <a:latin typeface="Calibri" pitchFamily="34" charset="0"/>
                <a:ea typeface="Calibri" pitchFamily="34" charset="-122"/>
                <a:cs typeface="Calibri" pitchFamily="34" charset="-120"/>
              </a:rPr>
              <a:t>the next unblocked story group</a:t>
            </a:r>
            <a:endParaRPr lang="en-US" sz="1030" dirty="0"/>
          </a:p>
        </p:txBody>
      </p:sp>
      <p:sp>
        <p:nvSpPr>
          <p:cNvPr id="19" name="Shape 17"/>
          <p:cNvSpPr/>
          <p:nvPr/>
        </p:nvSpPr>
        <p:spPr>
          <a:xfrm>
            <a:off x="6309360" y="1874520"/>
            <a:ext cx="5379415" cy="3977640"/>
          </a:xfrm>
          <a:prstGeom prst="roundRect">
            <a:avLst>
              <a:gd name="adj" fmla="val 2069"/>
            </a:avLst>
          </a:prstGeom>
          <a:solidFill>
            <a:srgbClr val="E2EEF3"/>
          </a:solidFill>
          <a:ln w="12700">
            <a:solidFill>
              <a:srgbClr val="CFE1EA"/>
            </a:solidFill>
            <a:prstDash val="solid"/>
          </a:ln>
          <a:effectLst>
            <a:outerShdw sx="100000" sy="100000" kx="0" ky="0" algn="bl" rotWithShape="0" blurRad="50800" dist="12700" dir="5400000">
              <a:srgbClr val="8A8168">
                <a:alpha val="25000"/>
              </a:srgbClr>
            </a:outerShdw>
          </a:effectLst>
        </p:spPr>
      </p:sp>
      <p:sp>
        <p:nvSpPr>
          <p:cNvPr id="20" name="Text 18"/>
          <p:cNvSpPr/>
          <p:nvPr/>
        </p:nvSpPr>
        <p:spPr>
          <a:xfrm>
            <a:off x="6537960" y="2020824"/>
            <a:ext cx="4922215" cy="274320"/>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Metered by model tier (auto-stops clean)</a:t>
            </a:r>
            <a:endParaRPr lang="en-US" sz="11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510528" y="2423160"/>
          <a:ext cx="4977079" cy="914400"/>
        </p:xfrm>
        <a:graphic>
          <a:graphicData uri="http://schemas.openxmlformats.org/drawingml/2006/table">
            <a:tbl>
              <a:tblPr/>
              <a:tblGrid>
                <a:gridCol w="1417320"/>
                <a:gridCol w="1097280"/>
                <a:gridCol w="1417320"/>
                <a:gridCol w="1243584"/>
              </a:tblGrid>
              <a:tr h="384048">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Tier</a:t>
                      </a:r>
                      <a:endParaRPr lang="en-US" sz="9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Wall</a:t>
                      </a:r>
                      <a:endParaRPr lang="en-US" sz="9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Spawns</a:t>
                      </a:r>
                      <a:endParaRPr lang="en-US" sz="9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950" b="1" dirty="0">
                          <a:solidFill>
                            <a:srgbClr val="FFFFFF"/>
                          </a:solidFill>
                          <a:latin typeface="Calibri" pitchFamily="34" charset="0"/>
                          <a:ea typeface="Calibri" pitchFamily="34" charset="-122"/>
                          <a:cs typeface="Calibri" pitchFamily="34" charset="-120"/>
                        </a:rPr>
                        <a:t>Est. cost</a:t>
                      </a:r>
                      <a:endParaRPr lang="en-US" sz="9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r>
              <a:tr h="384048">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cost</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30 min</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balanced</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90 min</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~$25</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r h="384048">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max-quality</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180 min</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400</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52A"/>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bl>
          </a:graphicData>
        </a:graphic>
      </p:graphicFrame>
      <p:sp>
        <p:nvSpPr>
          <p:cNvPr id="22" name="Text 19"/>
          <p:cNvSpPr/>
          <p:nvPr/>
        </p:nvSpPr>
        <p:spPr>
          <a:xfrm>
            <a:off x="6537960" y="4160520"/>
            <a:ext cx="4922215" cy="1463040"/>
          </a:xfrm>
          <a:prstGeom prst="rect">
            <a:avLst/>
          </a:prstGeom>
          <a:noFill/>
          <a:ln/>
        </p:spPr>
        <p:txBody>
          <a:bodyPr wrap="square" lIns="0" tIns="0" rIns="0" bIns="0" rtlCol="0" anchor="t"/>
          <a:lstStyle/>
          <a:p>
            <a:pPr indent="0" marL="0">
              <a:lnSpc>
                <a:spcPct val="105000"/>
              </a:lnSpc>
              <a:buNone/>
            </a:pPr>
            <a:r>
              <a:rPr lang="en-US" sz="1050" b="1" dirty="0">
                <a:solidFill>
                  <a:srgbClr val="1C7293"/>
                </a:solidFill>
                <a:latin typeface="Calibri" pitchFamily="34" charset="0"/>
                <a:ea typeface="Calibri" pitchFamily="34" charset="-122"/>
                <a:cs typeface="Calibri" pitchFamily="34" charset="-120"/>
              </a:rPr>
              <a:t>Agent teams   </a:t>
            </a:r>
            <a:pPr indent="0" marL="0">
              <a:lnSpc>
                <a:spcPct val="105000"/>
              </a:lnSpc>
              <a:buNone/>
            </a:pPr>
            <a:r>
              <a:rPr lang="en-US" sz="980" dirty="0">
                <a:solidFill>
                  <a:srgbClr val="22252A"/>
                </a:solidFill>
                <a:latin typeface="Calibri" pitchFamily="34" charset="0"/>
                <a:ea typeface="Calibri" pitchFamily="34" charset="-122"/>
                <a:cs typeface="Calibri" pitchFamily="34" charset="-120"/>
              </a:rPr>
              <a:t>a phased DAG runs ≤5 teammates in parallel — 3 sequential 3-hour stories become one ~4-hour wave. build-chain.js starts a fresh process per wave so a killed process resumes at the next.</a:t>
            </a:r>
            <a:endParaRPr lang="en-US" sz="1050" dirty="0"/>
          </a:p>
        </p:txBody>
      </p:sp>
      <p:sp>
        <p:nvSpPr>
          <p:cNvPr id="23" name="Text 20"/>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Long-running builds</a:t>
            </a:r>
            <a:endParaRPr lang="en-US" sz="850" dirty="0"/>
          </a:p>
        </p:txBody>
      </p:sp>
      <p:sp>
        <p:nvSpPr>
          <p:cNvPr id="24" name="Text 21"/>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17 / 21</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A2E34"/>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18</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A2E34"/>
                </a:solidFill>
                <a:latin typeface="Calibri" pitchFamily="34" charset="0"/>
                <a:ea typeface="Calibri" pitchFamily="34" charset="-122"/>
                <a:cs typeface="Calibri" pitchFamily="34" charset="-120"/>
              </a:rPr>
              <a:t>RUNTIMES, DELIVERY &amp; HUMAN TRUST</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One scaffold, two runtimes, humans own the merge</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scaffold writes one work contract; both runtimes consume it. The only difference is who picks the next group and where the proof shows up. A human always owns merge and “done.”</a:t>
            </a:r>
            <a:endParaRPr lang="en-US" sz="1150" dirty="0"/>
          </a:p>
        </p:txBody>
      </p:sp>
      <p:sp>
        <p:nvSpPr>
          <p:cNvPr id="7" name="Shape 5"/>
          <p:cNvSpPr/>
          <p:nvPr/>
        </p:nvSpPr>
        <p:spPr>
          <a:xfrm>
            <a:off x="502920" y="1828800"/>
            <a:ext cx="5410048" cy="2148840"/>
          </a:xfrm>
          <a:prstGeom prst="roundRect">
            <a:avLst>
              <a:gd name="adj" fmla="val 3830"/>
            </a:avLst>
          </a:prstGeom>
          <a:solidFill>
            <a:srgbClr val="FFFFFF"/>
          </a:solidFill>
          <a:ln w="12700">
            <a:solidFill>
              <a:srgbClr val="CFE1EA"/>
            </a:solidFill>
            <a:prstDash val="solid"/>
          </a:ln>
          <a:effectLst>
            <a:outerShdw sx="100000" sy="100000" kx="0" ky="0" algn="bl" rotWithShape="0" blurRad="50800" dist="12700" dir="5400000">
              <a:srgbClr val="8A8168">
                <a:alpha val="25000"/>
              </a:srgbClr>
            </a:outerShdw>
          </a:effectLst>
        </p:spPr>
      </p:sp>
      <p:sp>
        <p:nvSpPr>
          <p:cNvPr id="8" name="Shape 6"/>
          <p:cNvSpPr/>
          <p:nvPr/>
        </p:nvSpPr>
        <p:spPr>
          <a:xfrm>
            <a:off x="740664" y="2066544"/>
            <a:ext cx="493776" cy="493776"/>
          </a:xfrm>
          <a:prstGeom prst="ellipse">
            <a:avLst/>
          </a:prstGeom>
          <a:solidFill>
            <a:srgbClr val="1C7293"/>
          </a:solidFill>
          <a:ln/>
        </p:spPr>
      </p:sp>
      <p:pic>
        <p:nvPicPr>
          <p:cNvPr id="9" name="Image 0" descr="/root/work/harness_slide/icons/w_server.png">    </p:cNvPr>
          <p:cNvPicPr>
            <a:picLocks noChangeAspect="1"/>
          </p:cNvPicPr>
          <p:nvPr/>
        </p:nvPicPr>
        <p:blipFill>
          <a:blip r:embed="rId1"/>
          <a:stretch>
            <a:fillRect/>
          </a:stretch>
        </p:blipFill>
        <p:spPr>
          <a:xfrm>
            <a:off x="886968" y="2212848"/>
            <a:ext cx="201168" cy="201168"/>
          </a:xfrm>
          <a:prstGeom prst="rect">
            <a:avLst/>
          </a:prstGeom>
        </p:spPr>
      </p:pic>
      <p:sp>
        <p:nvSpPr>
          <p:cNvPr id="10" name="Text 7"/>
          <p:cNvSpPr/>
          <p:nvPr/>
        </p:nvSpPr>
        <p:spPr>
          <a:xfrm>
            <a:off x="1371600" y="2066544"/>
            <a:ext cx="4404208" cy="493776"/>
          </a:xfrm>
          <a:prstGeom prst="rect">
            <a:avLst/>
          </a:prstGeom>
          <a:noFill/>
          <a:ln/>
        </p:spPr>
        <p:txBody>
          <a:bodyPr wrap="square" lIns="0" tIns="0" rIns="0" bIns="0" rtlCol="0" anchor="ctr"/>
          <a:lstStyle/>
          <a:p>
            <a:pPr indent="0" marL="0">
              <a:buNone/>
            </a:pPr>
            <a:r>
              <a:rPr lang="en-US" sz="1350" b="1" dirty="0">
                <a:solidFill>
                  <a:srgbClr val="1C7293"/>
                </a:solidFill>
                <a:latin typeface="Calibri" pitchFamily="34" charset="0"/>
                <a:ea typeface="Calibri" pitchFamily="34" charset="-122"/>
                <a:cs typeface="Calibri" pitchFamily="34" charset="-120"/>
              </a:rPr>
              <a:t>Local runtime (default)</a:t>
            </a:r>
            <a:endParaRPr lang="en-US" sz="1350" dirty="0"/>
          </a:p>
        </p:txBody>
      </p:sp>
      <p:sp>
        <p:nvSpPr>
          <p:cNvPr id="11" name="Text 8"/>
          <p:cNvSpPr/>
          <p:nvPr/>
        </p:nvSpPr>
        <p:spPr>
          <a:xfrm>
            <a:off x="758952" y="2697480"/>
            <a:ext cx="4897984" cy="1143000"/>
          </a:xfrm>
          <a:prstGeom prst="rect">
            <a:avLst/>
          </a:prstGeom>
          <a:noFill/>
          <a:ln/>
        </p:spPr>
        <p:txBody>
          <a:bodyPr wrap="square" lIns="0" tIns="0" rIns="0" bIns="0" rtlCol="0" anchor="t"/>
          <a:lstStyle/>
          <a:p>
            <a:pPr indent="0" marL="0">
              <a:lnSpc>
                <a:spcPct val="105000"/>
              </a:lnSpc>
              <a:buNone/>
            </a:pPr>
            <a:r>
              <a:rPr lang="en-US" sz="1030" dirty="0">
                <a:solidFill>
                  <a:srgbClr val="22252A"/>
                </a:solidFill>
                <a:latin typeface="Calibri" pitchFamily="34" charset="0"/>
                <a:ea typeface="Calibri" pitchFamily="34" charset="-122"/>
                <a:cs typeface="Calibri" pitchFamily="34" charset="-120"/>
              </a:rPr>
              <a:t>Solo engineer in Claude Code. /auto orchestrates the ratchet; the human reviews diffs and merges. 1–3 hour cycles, full feedback in the same chat.</a:t>
            </a:r>
            <a:endParaRPr lang="en-US" sz="1030" dirty="0"/>
          </a:p>
        </p:txBody>
      </p:sp>
      <p:sp>
        <p:nvSpPr>
          <p:cNvPr id="12" name="Shape 9"/>
          <p:cNvSpPr/>
          <p:nvPr/>
        </p:nvSpPr>
        <p:spPr>
          <a:xfrm>
            <a:off x="6278728" y="1828800"/>
            <a:ext cx="5410048" cy="2148840"/>
          </a:xfrm>
          <a:prstGeom prst="roundRect">
            <a:avLst>
              <a:gd name="adj" fmla="val 3830"/>
            </a:avLst>
          </a:prstGeom>
          <a:solidFill>
            <a:srgbClr val="FFFFFF"/>
          </a:solidFill>
          <a:ln w="12700">
            <a:solidFill>
              <a:srgbClr val="DBCFEC"/>
            </a:solidFill>
            <a:prstDash val="solid"/>
          </a:ln>
          <a:effectLst>
            <a:outerShdw sx="100000" sy="100000" kx="0" ky="0" algn="bl" rotWithShape="0" blurRad="50800" dist="12700" dir="5400000">
              <a:srgbClr val="8A8168">
                <a:alpha val="25000"/>
              </a:srgbClr>
            </a:outerShdw>
          </a:effectLst>
        </p:spPr>
      </p:sp>
      <p:sp>
        <p:nvSpPr>
          <p:cNvPr id="13" name="Shape 10"/>
          <p:cNvSpPr/>
          <p:nvPr/>
        </p:nvSpPr>
        <p:spPr>
          <a:xfrm>
            <a:off x="6516472" y="2066544"/>
            <a:ext cx="493776" cy="493776"/>
          </a:xfrm>
          <a:prstGeom prst="ellipse">
            <a:avLst/>
          </a:prstGeom>
          <a:solidFill>
            <a:srgbClr val="6B4E9E"/>
          </a:solidFill>
          <a:ln/>
        </p:spPr>
      </p:sp>
      <p:pic>
        <p:nvPicPr>
          <p:cNvPr id="14" name="Image 1" descr="/root/work/harness_slide/icons/w_users.png">    </p:cNvPr>
          <p:cNvPicPr>
            <a:picLocks noChangeAspect="1"/>
          </p:cNvPicPr>
          <p:nvPr/>
        </p:nvPicPr>
        <p:blipFill>
          <a:blip r:embed="rId2"/>
          <a:stretch>
            <a:fillRect/>
          </a:stretch>
        </p:blipFill>
        <p:spPr>
          <a:xfrm>
            <a:off x="6662776" y="2212848"/>
            <a:ext cx="201168" cy="201168"/>
          </a:xfrm>
          <a:prstGeom prst="rect">
            <a:avLst/>
          </a:prstGeom>
        </p:spPr>
      </p:pic>
      <p:sp>
        <p:nvSpPr>
          <p:cNvPr id="15" name="Text 11"/>
          <p:cNvSpPr/>
          <p:nvPr/>
        </p:nvSpPr>
        <p:spPr>
          <a:xfrm>
            <a:off x="7147408" y="2066544"/>
            <a:ext cx="4404208" cy="493776"/>
          </a:xfrm>
          <a:prstGeom prst="rect">
            <a:avLst/>
          </a:prstGeom>
          <a:noFill/>
          <a:ln/>
        </p:spPr>
        <p:txBody>
          <a:bodyPr wrap="square" lIns="0" tIns="0" rIns="0" bIns="0" rtlCol="0" anchor="ctr"/>
          <a:lstStyle/>
          <a:p>
            <a:pPr indent="0" marL="0">
              <a:buNone/>
            </a:pPr>
            <a:r>
              <a:rPr lang="en-US" sz="1350" b="1" dirty="0">
                <a:solidFill>
                  <a:srgbClr val="6B4E9E"/>
                </a:solidFill>
                <a:latin typeface="Calibri" pitchFamily="34" charset="0"/>
                <a:ea typeface="Calibri" pitchFamily="34" charset="-122"/>
                <a:cs typeface="Calibri" pitchFamily="34" charset="-120"/>
              </a:rPr>
              <a:t>Agent-factory runtime</a:t>
            </a:r>
            <a:endParaRPr lang="en-US" sz="1350" dirty="0"/>
          </a:p>
        </p:txBody>
      </p:sp>
      <p:sp>
        <p:nvSpPr>
          <p:cNvPr id="16" name="Text 12"/>
          <p:cNvSpPr/>
          <p:nvPr/>
        </p:nvSpPr>
        <p:spPr>
          <a:xfrm>
            <a:off x="6534760" y="2697480"/>
            <a:ext cx="4897984" cy="1143000"/>
          </a:xfrm>
          <a:prstGeom prst="rect">
            <a:avLst/>
          </a:prstGeom>
          <a:noFill/>
          <a:ln/>
        </p:spPr>
        <p:txBody>
          <a:bodyPr wrap="square" lIns="0" tIns="0" rIns="0" bIns="0" rtlCol="0" anchor="t"/>
          <a:lstStyle/>
          <a:p>
            <a:pPr indent="0" marL="0">
              <a:lnSpc>
                <a:spcPct val="105000"/>
              </a:lnSpc>
              <a:buNone/>
            </a:pPr>
            <a:r>
              <a:rPr lang="en-US" sz="1030" dirty="0">
                <a:solidFill>
                  <a:srgbClr val="22252A"/>
                </a:solidFill>
                <a:latin typeface="Calibri" pitchFamily="34" charset="0"/>
                <a:ea typeface="Calibri" pitchFamily="34" charset="-122"/>
                <a:cs typeface="Calibri" pitchFamily="34" charset="-120"/>
              </a:rPr>
              <a:t>symphony_clone (Docker) polls Linear/Jira for Ready issues, clones the repo, runs /auto per group, opens a PR with proof, and moves the issue to Human Review.</a:t>
            </a:r>
            <a:endParaRPr lang="en-US" sz="1030" dirty="0"/>
          </a:p>
        </p:txBody>
      </p:sp>
      <p:sp>
        <p:nvSpPr>
          <p:cNvPr id="17" name="Shape 13"/>
          <p:cNvSpPr/>
          <p:nvPr/>
        </p:nvSpPr>
        <p:spPr>
          <a:xfrm>
            <a:off x="502920" y="4206240"/>
            <a:ext cx="7040880" cy="1645920"/>
          </a:xfrm>
          <a:prstGeom prst="roundRect">
            <a:avLst>
              <a:gd name="adj" fmla="val 5000"/>
            </a:avLst>
          </a:prstGeom>
          <a:solidFill>
            <a:srgbClr val="ECEDEF"/>
          </a:solidFill>
          <a:ln w="12700">
            <a:solidFill>
              <a:srgbClr val="D6D9DD"/>
            </a:solidFill>
            <a:prstDash val="solid"/>
          </a:ln>
        </p:spPr>
      </p:sp>
      <p:sp>
        <p:nvSpPr>
          <p:cNvPr id="18" name="Text 14"/>
          <p:cNvSpPr/>
          <p:nvPr/>
        </p:nvSpPr>
        <p:spPr>
          <a:xfrm>
            <a:off x="731520" y="4352544"/>
            <a:ext cx="6583680" cy="274320"/>
          </a:xfrm>
          <a:prstGeom prst="rect">
            <a:avLst/>
          </a:prstGeom>
          <a:noFill/>
          <a:ln/>
        </p:spPr>
        <p:txBody>
          <a:bodyPr wrap="square" lIns="0" tIns="0" rIns="0" bIns="0" rtlCol="0" anchor="ctr"/>
          <a:lstStyle/>
          <a:p>
            <a:pPr indent="0" marL="0">
              <a:buNone/>
            </a:pPr>
            <a:r>
              <a:rPr lang="en-US" sz="1150" b="1" dirty="0">
                <a:solidFill>
                  <a:srgbClr val="2A2E34"/>
                </a:solidFill>
                <a:latin typeface="Calibri" pitchFamily="34" charset="0"/>
                <a:ea typeface="Calibri" pitchFamily="34" charset="-122"/>
                <a:cs typeface="Calibri" pitchFamily="34" charset="-120"/>
              </a:rPr>
              <a:t>Human trust surfaces (proof, not diff noise)</a:t>
            </a:r>
            <a:endParaRPr lang="en-US" sz="1150" dirty="0"/>
          </a:p>
        </p:txBody>
      </p:sp>
      <p:sp>
        <p:nvSpPr>
          <p:cNvPr id="19" name="Text 15"/>
          <p:cNvSpPr/>
          <p:nvPr/>
        </p:nvSpPr>
        <p:spPr>
          <a:xfrm>
            <a:off x="731520" y="4736592"/>
            <a:ext cx="3291840" cy="45720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Quality card  </a:t>
            </a:r>
            <a:pPr indent="0" marL="0">
              <a:buNone/>
            </a:pPr>
            <a:r>
              <a:rPr lang="en-US" sz="880" i="1" dirty="0">
                <a:solidFill>
                  <a:srgbClr val="6C7078"/>
                </a:solidFill>
                <a:latin typeface="Calibri" pitchFamily="34" charset="0"/>
                <a:ea typeface="Calibri" pitchFamily="34" charset="-122"/>
                <a:cs typeface="Calibri" pitchFamily="34" charset="-120"/>
              </a:rPr>
              <a:t>single trust receipt</a:t>
            </a:r>
            <a:endParaRPr lang="en-US" sz="1000" dirty="0"/>
          </a:p>
        </p:txBody>
      </p:sp>
      <p:sp>
        <p:nvSpPr>
          <p:cNvPr id="20" name="Text 16"/>
          <p:cNvSpPr/>
          <p:nvPr/>
        </p:nvSpPr>
        <p:spPr>
          <a:xfrm>
            <a:off x="4114800" y="4736592"/>
            <a:ext cx="3291840" cy="45720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Walkthrough  </a:t>
            </a:r>
            <a:pPr indent="0" marL="0">
              <a:buNone/>
            </a:pPr>
            <a:r>
              <a:rPr lang="en-US" sz="880" i="1" dirty="0">
                <a:solidFill>
                  <a:srgbClr val="6C7078"/>
                </a:solidFill>
                <a:latin typeface="Calibri" pitchFamily="34" charset="0"/>
                <a:ea typeface="Calibri" pitchFamily="34" charset="-122"/>
                <a:cs typeface="Calibri" pitchFamily="34" charset="-120"/>
              </a:rPr>
              <a:t>logical groups + blast radius</a:t>
            </a:r>
            <a:endParaRPr lang="en-US" sz="1000" dirty="0"/>
          </a:p>
        </p:txBody>
      </p:sp>
      <p:sp>
        <p:nvSpPr>
          <p:cNvPr id="21" name="Text 17"/>
          <p:cNvSpPr/>
          <p:nvPr/>
        </p:nvSpPr>
        <p:spPr>
          <a:xfrm>
            <a:off x="731520" y="5266944"/>
            <a:ext cx="3291840" cy="45720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Verification matrix  </a:t>
            </a:r>
            <a:pPr indent="0" marL="0">
              <a:buNone/>
            </a:pPr>
            <a:r>
              <a:rPr lang="en-US" sz="880" i="1" dirty="0">
                <a:solidFill>
                  <a:srgbClr val="6C7078"/>
                </a:solidFill>
                <a:latin typeface="Calibri" pitchFamily="34" charset="0"/>
                <a:ea typeface="Calibri" pitchFamily="34" charset="-122"/>
                <a:cs typeface="Calibri" pitchFamily="34" charset="-120"/>
              </a:rPr>
              <a:t>AC → unit/API/E2E evidence</a:t>
            </a:r>
            <a:endParaRPr lang="en-US" sz="1000" dirty="0"/>
          </a:p>
        </p:txBody>
      </p:sp>
      <p:sp>
        <p:nvSpPr>
          <p:cNvPr id="22" name="Text 18"/>
          <p:cNvSpPr/>
          <p:nvPr/>
        </p:nvSpPr>
        <p:spPr>
          <a:xfrm>
            <a:off x="4114800" y="5266944"/>
            <a:ext cx="3291840" cy="45720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Ask the codebase  </a:t>
            </a:r>
            <a:pPr indent="0" marL="0">
              <a:buNone/>
            </a:pPr>
            <a:r>
              <a:rPr lang="en-US" sz="880" i="1" dirty="0">
                <a:solidFill>
                  <a:srgbClr val="6C7078"/>
                </a:solidFill>
                <a:latin typeface="Calibri" pitchFamily="34" charset="0"/>
                <a:ea typeface="Calibri" pitchFamily="34" charset="-122"/>
                <a:cs typeface="Calibri" pitchFamily="34" charset="-120"/>
              </a:rPr>
              <a:t>cited, slice-level answers</a:t>
            </a:r>
            <a:endParaRPr lang="en-US" sz="1000" dirty="0"/>
          </a:p>
        </p:txBody>
      </p:sp>
      <p:sp>
        <p:nvSpPr>
          <p:cNvPr id="23" name="Shape 19"/>
          <p:cNvSpPr/>
          <p:nvPr/>
        </p:nvSpPr>
        <p:spPr>
          <a:xfrm>
            <a:off x="7772400" y="4206240"/>
            <a:ext cx="3916375" cy="1645920"/>
          </a:xfrm>
          <a:prstGeom prst="roundRect">
            <a:avLst>
              <a:gd name="adj" fmla="val 5000"/>
            </a:avLst>
          </a:prstGeom>
          <a:solidFill>
            <a:srgbClr val="E7F1E9"/>
          </a:solidFill>
          <a:ln w="12700">
            <a:solidFill>
              <a:srgbClr val="D6E7DB"/>
            </a:solidFill>
            <a:prstDash val="solid"/>
          </a:ln>
        </p:spPr>
      </p:sp>
      <p:sp>
        <p:nvSpPr>
          <p:cNvPr id="24" name="Text 20"/>
          <p:cNvSpPr/>
          <p:nvPr/>
        </p:nvSpPr>
        <p:spPr>
          <a:xfrm>
            <a:off x="8001000" y="4352544"/>
            <a:ext cx="3459175" cy="274320"/>
          </a:xfrm>
          <a:prstGeom prst="rect">
            <a:avLst/>
          </a:prstGeom>
          <a:noFill/>
          <a:ln/>
        </p:spPr>
        <p:txBody>
          <a:bodyPr wrap="square" lIns="0" tIns="0" rIns="0" bIns="0" rtlCol="0" anchor="ctr"/>
          <a:lstStyle/>
          <a:p>
            <a:pPr indent="0" marL="0">
              <a:buNone/>
            </a:pPr>
            <a:r>
              <a:rPr lang="en-US" sz="1150" b="1" dirty="0">
                <a:solidFill>
                  <a:srgbClr val="2C6E49"/>
                </a:solidFill>
                <a:latin typeface="Calibri" pitchFamily="34" charset="0"/>
                <a:ea typeface="Calibri" pitchFamily="34" charset="-122"/>
                <a:cs typeface="Calibri" pitchFamily="34" charset="-120"/>
              </a:rPr>
              <a:t>Install SKUs</a:t>
            </a:r>
            <a:endParaRPr lang="en-US" sz="1150" dirty="0"/>
          </a:p>
        </p:txBody>
      </p:sp>
      <p:sp>
        <p:nvSpPr>
          <p:cNvPr id="25" name="Text 21"/>
          <p:cNvSpPr/>
          <p:nvPr/>
        </p:nvSpPr>
        <p:spPr>
          <a:xfrm>
            <a:off x="8001000" y="4718304"/>
            <a:ext cx="3459175" cy="329184"/>
          </a:xfrm>
          <a:prstGeom prst="rect">
            <a:avLst/>
          </a:prstGeom>
          <a:noFill/>
          <a:ln/>
        </p:spPr>
        <p:txBody>
          <a:bodyPr wrap="square" lIns="0" tIns="0" rIns="0" bIns="0" rtlCol="0" anchor="ctr"/>
          <a:lstStyle/>
          <a:p>
            <a:pPr indent="0" marL="0">
              <a:buNone/>
            </a:pPr>
            <a:r>
              <a:rPr lang="en-US" sz="1000" b="1" dirty="0">
                <a:solidFill>
                  <a:srgbClr val="2C6E49"/>
                </a:solidFill>
                <a:latin typeface="Calibri" pitchFamily="34" charset="0"/>
                <a:ea typeface="Calibri" pitchFamily="34" charset="-122"/>
                <a:cs typeface="Calibri" pitchFamily="34" charset="-120"/>
              </a:rPr>
              <a:t>harness-core  </a:t>
            </a:r>
            <a:pPr indent="0" marL="0">
              <a:buNone/>
            </a:pPr>
            <a:r>
              <a:rPr lang="en-US" sz="870" dirty="0">
                <a:solidFill>
                  <a:srgbClr val="6C7078"/>
                </a:solidFill>
                <a:latin typeface="Calibri" pitchFamily="34" charset="0"/>
                <a:ea typeface="Calibri" pitchFamily="34" charset="-122"/>
                <a:cs typeface="Calibri" pitchFamily="34" charset="-120"/>
              </a:rPr>
              <a:t>default product — build &amp; change</a:t>
            </a:r>
            <a:endParaRPr lang="en-US" sz="1000" dirty="0"/>
          </a:p>
        </p:txBody>
      </p:sp>
      <p:sp>
        <p:nvSpPr>
          <p:cNvPr id="26" name="Text 22"/>
          <p:cNvSpPr/>
          <p:nvPr/>
        </p:nvSpPr>
        <p:spPr>
          <a:xfrm>
            <a:off x="8001000" y="5084064"/>
            <a:ext cx="3459175" cy="329184"/>
          </a:xfrm>
          <a:prstGeom prst="rect">
            <a:avLst/>
          </a:prstGeom>
          <a:noFill/>
          <a:ln/>
        </p:spPr>
        <p:txBody>
          <a:bodyPr wrap="square" lIns="0" tIns="0" rIns="0" bIns="0" rtlCol="0" anchor="ctr"/>
          <a:lstStyle/>
          <a:p>
            <a:pPr indent="0" marL="0">
              <a:buNone/>
            </a:pPr>
            <a:r>
              <a:rPr lang="en-US" sz="1000" b="1" dirty="0">
                <a:solidFill>
                  <a:srgbClr val="2C6E49"/>
                </a:solidFill>
                <a:latin typeface="Calibri" pitchFamily="34" charset="0"/>
                <a:ea typeface="Calibri" pitchFamily="34" charset="-122"/>
                <a:cs typeface="Calibri" pitchFamily="34" charset="-120"/>
              </a:rPr>
              <a:t>harness-full  </a:t>
            </a:r>
            <a:pPr indent="0" marL="0">
              <a:buNone/>
            </a:pPr>
            <a:r>
              <a:rPr lang="en-US" sz="870" dirty="0">
                <a:solidFill>
                  <a:srgbClr val="6C7078"/>
                </a:solidFill>
                <a:latin typeface="Calibri" pitchFamily="34" charset="0"/>
                <a:ea typeface="Calibri" pitchFamily="34" charset="-122"/>
                <a:cs typeface="Calibri" pitchFamily="34" charset="-120"/>
              </a:rPr>
              <a:t>optional skills / full surface</a:t>
            </a:r>
            <a:endParaRPr lang="en-US" sz="1000" dirty="0"/>
          </a:p>
        </p:txBody>
      </p:sp>
      <p:sp>
        <p:nvSpPr>
          <p:cNvPr id="27" name="Text 23"/>
          <p:cNvSpPr/>
          <p:nvPr/>
        </p:nvSpPr>
        <p:spPr>
          <a:xfrm>
            <a:off x="8001000" y="5449824"/>
            <a:ext cx="3459175" cy="329184"/>
          </a:xfrm>
          <a:prstGeom prst="rect">
            <a:avLst/>
          </a:prstGeom>
          <a:noFill/>
          <a:ln/>
        </p:spPr>
        <p:txBody>
          <a:bodyPr wrap="square" lIns="0" tIns="0" rIns="0" bIns="0" rtlCol="0" anchor="ctr"/>
          <a:lstStyle/>
          <a:p>
            <a:pPr indent="0" marL="0">
              <a:buNone/>
            </a:pPr>
            <a:r>
              <a:rPr lang="en-US" sz="1000" b="1" dirty="0">
                <a:solidFill>
                  <a:srgbClr val="2C6E49"/>
                </a:solidFill>
                <a:latin typeface="Calibri" pitchFamily="34" charset="0"/>
                <a:ea typeface="Calibri" pitchFamily="34" charset="-122"/>
                <a:cs typeface="Calibri" pitchFamily="34" charset="-120"/>
              </a:rPr>
              <a:t>harness-lite  </a:t>
            </a:r>
            <a:pPr indent="0" marL="0">
              <a:buNone/>
            </a:pPr>
            <a:r>
              <a:rPr lang="en-US" sz="870" dirty="0">
                <a:solidFill>
                  <a:srgbClr val="6C7078"/>
                </a:solidFill>
                <a:latin typeface="Calibri" pitchFamily="34" charset="0"/>
                <a:ea typeface="Calibri" pitchFamily="34" charset="-122"/>
                <a:cs typeface="Calibri" pitchFamily="34" charset="-120"/>
              </a:rPr>
              <a:t>mockups / ARB docs / research</a:t>
            </a:r>
            <a:endParaRPr lang="en-US" sz="1000" dirty="0"/>
          </a:p>
        </p:txBody>
      </p:sp>
      <p:sp>
        <p:nvSpPr>
          <p:cNvPr id="28" name="Text 24"/>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Runtimes &amp; trust</a:t>
            </a:r>
            <a:endParaRPr lang="en-US" sz="850" dirty="0"/>
          </a:p>
        </p:txBody>
      </p:sp>
      <p:sp>
        <p:nvSpPr>
          <p:cNvPr id="29" name="Text 25"/>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18 / 21</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1C7293"/>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19</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COST &amp; TOKEN GOVERNANCE</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Model choice is measured, not vibed</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A per-token-cheaper worker can be dearer per shipped story if it needs more self-heal cycles. The platform measures cost-per-passed-story and pins one model per role — judgment always stays on Opus.</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11185855" cy="914400"/>
        </p:xfrm>
        <a:graphic>
          <a:graphicData uri="http://schemas.openxmlformats.org/drawingml/2006/table">
            <a:tbl>
              <a:tblPr/>
              <a:tblGrid>
                <a:gridCol w="2194560"/>
                <a:gridCol w="2377440"/>
                <a:gridCol w="2377440"/>
                <a:gridCol w="1920240"/>
                <a:gridCol w="2404872"/>
              </a:tblGrid>
              <a:tr h="4572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Preset</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Generator (lead)</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Worker</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Explorer</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Judgment</a:t>
                      </a:r>
                      <a:endParaRPr lang="en-US" sz="105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1C7293"/>
                    </a:solidFill>
                  </a:tcPr>
                </a:tc>
              </a:tr>
              <a:tr h="457200">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cost / enterprise</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Haiku</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balanced (default)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r h="457200">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max-quality</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FFFFFF"/>
                    </a:solidFill>
                  </a:tcPr>
                </a:tc>
              </a:tr>
              <a:tr h="457200">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fusion</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Haiku (cheap worker)</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Sonnet</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c>
                  <a:txBody>
                    <a:bodyPr/>
                    <a:lstStyle/>
                    <a:p>
                      <a:pPr algn="l" indent="0" marL="0">
                        <a:buNone/>
                      </a:pPr>
                      <a:r>
                        <a:rPr lang="en-US" sz="1000" dirty="0">
                          <a:solidFill>
                            <a:srgbClr val="22252A"/>
                          </a:solidFill>
                          <a:latin typeface="Calibri" pitchFamily="34" charset="0"/>
                          <a:ea typeface="Calibri" pitchFamily="34" charset="-122"/>
                          <a:cs typeface="Calibri" pitchFamily="34" charset="-120"/>
                        </a:rPr>
                        <a:t>Opus 4.8</a:t>
                      </a:r>
                      <a:endParaRPr lang="en-US" sz="1000" dirty="0">
                        <a:latin typeface="Calibri" charset="0"/>
                        <a:ea typeface="Calibri" charset="0"/>
                        <a:cs typeface="Calibri" charset="0"/>
                      </a:endParaRPr>
                    </a:p>
                  </a:txBody>
                  <a:tcPr marL="63500" marR="50800" marT="25400" marB="25400" anchor="ctr">
                    <a:lnL w="6350" cap="flat" cmpd="sng" algn="ctr">
                      <a:solidFill>
                        <a:srgbClr val="CFE1EA"/>
                      </a:solidFill>
                      <a:prstDash val="solid"/>
                      <a:round/>
                      <a:headEnd type="none" w="med" len="med"/>
                      <a:tailEnd type="none" w="med" len="med"/>
                    </a:lnL>
                    <a:lnR w="6350" cap="flat" cmpd="sng" algn="ctr">
                      <a:solidFill>
                        <a:srgbClr val="CFE1EA"/>
                      </a:solidFill>
                      <a:prstDash val="solid"/>
                      <a:round/>
                      <a:headEnd type="none" w="med" len="med"/>
                      <a:tailEnd type="none" w="med" len="med"/>
                    </a:lnR>
                    <a:lnT w="6350" cap="flat" cmpd="sng" algn="ctr">
                      <a:solidFill>
                        <a:srgbClr val="CFE1EA"/>
                      </a:solidFill>
                      <a:prstDash val="solid"/>
                      <a:round/>
                      <a:headEnd type="none" w="med" len="med"/>
                      <a:tailEnd type="none" w="med" len="med"/>
                    </a:lnT>
                    <a:lnB w="6350" cap="flat" cmpd="sng" algn="ctr">
                      <a:solidFill>
                        <a:srgbClr val="CFE1EA"/>
                      </a:solidFill>
                      <a:prstDash val="solid"/>
                      <a:round/>
                      <a:headEnd type="none" w="med" len="med"/>
                      <a:tailEnd type="none" w="med" len="med"/>
                    </a:lnB>
                    <a:solidFill>
                      <a:srgbClr val="E2EEF3"/>
                    </a:solidFill>
                  </a:tcPr>
                </a:tc>
              </a:tr>
            </a:tbl>
          </a:graphicData>
        </a:graphic>
      </p:graphicFrame>
      <p:sp>
        <p:nvSpPr>
          <p:cNvPr id="8" name="Shape 5"/>
          <p:cNvSpPr/>
          <p:nvPr/>
        </p:nvSpPr>
        <p:spPr>
          <a:xfrm>
            <a:off x="502920" y="4160520"/>
            <a:ext cx="3545738" cy="1737360"/>
          </a:xfrm>
          <a:prstGeom prst="roundRect">
            <a:avLst>
              <a:gd name="adj" fmla="val 4737"/>
            </a:avLst>
          </a:prstGeom>
          <a:solidFill>
            <a:srgbClr val="E2EEF3"/>
          </a:solidFill>
          <a:ln w="12700">
            <a:solidFill>
              <a:srgbClr val="CFE1EA"/>
            </a:solidFill>
            <a:prstDash val="solid"/>
          </a:ln>
        </p:spPr>
      </p:sp>
      <p:sp>
        <p:nvSpPr>
          <p:cNvPr id="9" name="Shape 6"/>
          <p:cNvSpPr/>
          <p:nvPr/>
        </p:nvSpPr>
        <p:spPr>
          <a:xfrm>
            <a:off x="704088" y="4361688"/>
            <a:ext cx="420624" cy="420624"/>
          </a:xfrm>
          <a:prstGeom prst="ellipse">
            <a:avLst/>
          </a:prstGeom>
          <a:solidFill>
            <a:srgbClr val="1C7293"/>
          </a:solidFill>
          <a:ln/>
        </p:spPr>
      </p:sp>
      <p:pic>
        <p:nvPicPr>
          <p:cNvPr id="10" name="Image 0" descr="/root/work/harness_slide/icons/l2_route.png">    </p:cNvPr>
          <p:cNvPicPr>
            <a:picLocks noChangeAspect="1"/>
          </p:cNvPicPr>
          <p:nvPr/>
        </p:nvPicPr>
        <p:blipFill>
          <a:blip r:embed="rId1"/>
          <a:stretch>
            <a:fillRect/>
          </a:stretch>
        </p:blipFill>
        <p:spPr>
          <a:xfrm>
            <a:off x="832104" y="4489704"/>
            <a:ext cx="164592" cy="164592"/>
          </a:xfrm>
          <a:prstGeom prst="rect">
            <a:avLst/>
          </a:prstGeom>
        </p:spPr>
      </p:pic>
      <p:sp>
        <p:nvSpPr>
          <p:cNvPr id="11" name="Text 7"/>
          <p:cNvSpPr/>
          <p:nvPr/>
        </p:nvSpPr>
        <p:spPr>
          <a:xfrm>
            <a:off x="1234440" y="4361688"/>
            <a:ext cx="2677058" cy="420624"/>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Living navigation</a:t>
            </a:r>
            <a:endParaRPr lang="en-US" sz="1150" dirty="0"/>
          </a:p>
        </p:txBody>
      </p:sp>
      <p:sp>
        <p:nvSpPr>
          <p:cNvPr id="12" name="Text 8"/>
          <p:cNvSpPr/>
          <p:nvPr/>
        </p:nvSpPr>
        <p:spPr>
          <a:xfrm>
            <a:off x="722376" y="4873752"/>
            <a:ext cx="3106826" cy="91440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DeepWiki + code-graph.json kept current; a broad read without a recent context-pack is blocked, not just warned.</a:t>
            </a:r>
            <a:endParaRPr lang="en-US" sz="970" dirty="0"/>
          </a:p>
        </p:txBody>
      </p:sp>
      <p:sp>
        <p:nvSpPr>
          <p:cNvPr id="13" name="Shape 9"/>
          <p:cNvSpPr/>
          <p:nvPr/>
        </p:nvSpPr>
        <p:spPr>
          <a:xfrm>
            <a:off x="4322978" y="4160520"/>
            <a:ext cx="3545738" cy="1737360"/>
          </a:xfrm>
          <a:prstGeom prst="roundRect">
            <a:avLst>
              <a:gd name="adj" fmla="val 4737"/>
            </a:avLst>
          </a:prstGeom>
          <a:solidFill>
            <a:srgbClr val="E2EEF3"/>
          </a:solidFill>
          <a:ln w="12700">
            <a:solidFill>
              <a:srgbClr val="CFE1EA"/>
            </a:solidFill>
            <a:prstDash val="solid"/>
          </a:ln>
        </p:spPr>
      </p:sp>
      <p:sp>
        <p:nvSpPr>
          <p:cNvPr id="14" name="Shape 10"/>
          <p:cNvSpPr/>
          <p:nvPr/>
        </p:nvSpPr>
        <p:spPr>
          <a:xfrm>
            <a:off x="4524146" y="4361688"/>
            <a:ext cx="420624" cy="420624"/>
          </a:xfrm>
          <a:prstGeom prst="ellipse">
            <a:avLst/>
          </a:prstGeom>
          <a:solidFill>
            <a:srgbClr val="1C7293"/>
          </a:solidFill>
          <a:ln/>
        </p:spPr>
      </p:sp>
      <p:pic>
        <p:nvPicPr>
          <p:cNvPr id="15" name="Image 1" descr="/root/work/harness_slide/icons/l2_branch.png">    </p:cNvPr>
          <p:cNvPicPr>
            <a:picLocks noChangeAspect="1"/>
          </p:cNvPicPr>
          <p:nvPr/>
        </p:nvPicPr>
        <p:blipFill>
          <a:blip r:embed="rId2"/>
          <a:stretch>
            <a:fillRect/>
          </a:stretch>
        </p:blipFill>
        <p:spPr>
          <a:xfrm>
            <a:off x="4652162" y="4489704"/>
            <a:ext cx="164592" cy="164592"/>
          </a:xfrm>
          <a:prstGeom prst="rect">
            <a:avLst/>
          </a:prstGeom>
        </p:spPr>
      </p:pic>
      <p:sp>
        <p:nvSpPr>
          <p:cNvPr id="16" name="Text 11"/>
          <p:cNvSpPr/>
          <p:nvPr/>
        </p:nvSpPr>
        <p:spPr>
          <a:xfrm>
            <a:off x="5054498" y="4361688"/>
            <a:ext cx="2677058" cy="420624"/>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Compress-Cache-Retrieve</a:t>
            </a:r>
            <a:endParaRPr lang="en-US" sz="1150" dirty="0"/>
          </a:p>
        </p:txBody>
      </p:sp>
      <p:sp>
        <p:nvSpPr>
          <p:cNvPr id="17" name="Text 12"/>
          <p:cNvSpPr/>
          <p:nvPr/>
        </p:nvSpPr>
        <p:spPr>
          <a:xfrm>
            <a:off x="4542434" y="4873752"/>
            <a:ext cx="3106826" cy="91440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Raw command/search output is cached by hash locally; the agent first receives compact failure/search evidence.</a:t>
            </a:r>
            <a:endParaRPr lang="en-US" sz="970" dirty="0"/>
          </a:p>
        </p:txBody>
      </p:sp>
      <p:sp>
        <p:nvSpPr>
          <p:cNvPr id="18" name="Shape 13"/>
          <p:cNvSpPr/>
          <p:nvPr/>
        </p:nvSpPr>
        <p:spPr>
          <a:xfrm>
            <a:off x="8143037" y="4160520"/>
            <a:ext cx="3545738" cy="1737360"/>
          </a:xfrm>
          <a:prstGeom prst="roundRect">
            <a:avLst>
              <a:gd name="adj" fmla="val 4737"/>
            </a:avLst>
          </a:prstGeom>
          <a:solidFill>
            <a:srgbClr val="E2EEF3"/>
          </a:solidFill>
          <a:ln w="12700">
            <a:solidFill>
              <a:srgbClr val="CFE1EA"/>
            </a:solidFill>
            <a:prstDash val="solid"/>
          </a:ln>
        </p:spPr>
      </p:sp>
      <p:sp>
        <p:nvSpPr>
          <p:cNvPr id="19" name="Shape 14"/>
          <p:cNvSpPr/>
          <p:nvPr/>
        </p:nvSpPr>
        <p:spPr>
          <a:xfrm>
            <a:off x="8344205" y="4361688"/>
            <a:ext cx="420624" cy="420624"/>
          </a:xfrm>
          <a:prstGeom prst="ellipse">
            <a:avLst/>
          </a:prstGeom>
          <a:solidFill>
            <a:srgbClr val="1C7293"/>
          </a:solidFill>
          <a:ln/>
        </p:spPr>
      </p:sp>
      <p:pic>
        <p:nvPicPr>
          <p:cNvPr id="20" name="Image 2" descr="/root/work/harness_slide/icons/l5_chart.png">    </p:cNvPr>
          <p:cNvPicPr>
            <a:picLocks noChangeAspect="1"/>
          </p:cNvPicPr>
          <p:nvPr/>
        </p:nvPicPr>
        <p:blipFill>
          <a:blip r:embed="rId3"/>
          <a:stretch>
            <a:fillRect/>
          </a:stretch>
        </p:blipFill>
        <p:spPr>
          <a:xfrm>
            <a:off x="8472221" y="4489704"/>
            <a:ext cx="164592" cy="164592"/>
          </a:xfrm>
          <a:prstGeom prst="rect">
            <a:avLst/>
          </a:prstGeom>
        </p:spPr>
      </p:pic>
      <p:sp>
        <p:nvSpPr>
          <p:cNvPr id="21" name="Text 15"/>
          <p:cNvSpPr/>
          <p:nvPr/>
        </p:nvSpPr>
        <p:spPr>
          <a:xfrm>
            <a:off x="8874557" y="4361688"/>
            <a:ext cx="2677058" cy="420624"/>
          </a:xfrm>
          <a:prstGeom prst="rect">
            <a:avLst/>
          </a:prstGeom>
          <a:noFill/>
          <a:ln/>
        </p:spPr>
        <p:txBody>
          <a:bodyPr wrap="square" lIns="0" tIns="0" rIns="0" bIns="0" rtlCol="0" anchor="ctr"/>
          <a:lstStyle/>
          <a:p>
            <a:pPr indent="0" marL="0">
              <a:buNone/>
            </a:pPr>
            <a:r>
              <a:rPr lang="en-US" sz="1150" b="1" dirty="0">
                <a:solidFill>
                  <a:srgbClr val="1C7293"/>
                </a:solidFill>
                <a:latin typeface="Calibri" pitchFamily="34" charset="0"/>
                <a:ea typeface="Calibri" pitchFamily="34" charset="-122"/>
                <a:cs typeface="Calibri" pitchFamily="34" charset="-120"/>
              </a:rPr>
              <a:t>Cost-per-outcome A/B</a:t>
            </a:r>
            <a:endParaRPr lang="en-US" sz="1150" dirty="0"/>
          </a:p>
        </p:txBody>
      </p:sp>
      <p:sp>
        <p:nvSpPr>
          <p:cNvPr id="22" name="Text 16"/>
          <p:cNvSpPr/>
          <p:nvPr/>
        </p:nvSpPr>
        <p:spPr>
          <a:xfrm>
            <a:off x="8362493" y="4873752"/>
            <a:ext cx="3106826" cy="914400"/>
          </a:xfrm>
          <a:prstGeom prst="rect">
            <a:avLst/>
          </a:prstGeom>
          <a:noFill/>
          <a:ln/>
        </p:spPr>
        <p:txBody>
          <a:bodyPr wrap="square" lIns="0" tIns="0" rIns="0" bIns="0" rtlCol="0" anchor="t"/>
          <a:lstStyle/>
          <a:p>
            <a:pPr indent="0" marL="0">
              <a:lnSpc>
                <a:spcPct val="104000"/>
              </a:lnSpc>
              <a:buNone/>
            </a:pPr>
            <a:r>
              <a:rPr lang="en-US" sz="970" dirty="0">
                <a:solidFill>
                  <a:srgbClr val="22252A"/>
                </a:solidFill>
                <a:latin typeface="Calibri" pitchFamily="34" charset="0"/>
                <a:ea typeface="Calibri" pitchFamily="34" charset="-122"/>
                <a:cs typeface="Calibri" pitchFamily="34" charset="-120"/>
              </a:rPr>
              <a:t>cost-per-outcome.js and ab-run.js prove a cheaper arm only wins if its pass-rate holds equal-or-better.</a:t>
            </a:r>
            <a:endParaRPr lang="en-US" sz="970" dirty="0"/>
          </a:p>
        </p:txBody>
      </p:sp>
      <p:sp>
        <p:nvSpPr>
          <p:cNvPr id="23" name="Text 1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Cost &amp; tokens</a:t>
            </a:r>
            <a:endParaRPr lang="en-US" sz="850" dirty="0"/>
          </a:p>
        </p:txBody>
      </p:sp>
      <p:sp>
        <p:nvSpPr>
          <p:cNvPr id="24" name="Text 1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19 / 21</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C15F3C"/>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20</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C15F3C"/>
                </a:solidFill>
                <a:latin typeface="Calibri" pitchFamily="34" charset="0"/>
                <a:ea typeface="Calibri" pitchFamily="34" charset="-122"/>
                <a:cs typeface="Calibri" pitchFamily="34" charset="-120"/>
              </a:rPr>
              <a:t>THE THESIS, MADE CONCRETE</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How it behaves like a senior MIT engineer</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Seniority isn't a bigger model — it's disciplined habits applied consistently. The harness encodes each habit as a mechanism, so the behaviour is predictable across every repo and every run.</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11185855" cy="914400"/>
        </p:xfrm>
        <a:graphic>
          <a:graphicData uri="http://schemas.openxmlformats.org/drawingml/2006/table">
            <a:tbl>
              <a:tblPr/>
              <a:tblGrid>
                <a:gridCol w="4480560"/>
                <a:gridCol w="6702552"/>
              </a:tblGrid>
              <a:tr h="45720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A senior engineer's habit</a:t>
                      </a:r>
                      <a:endParaRPr lang="en-US" sz="105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C15F3C"/>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mechanism that guarantees it</a:t>
                      </a:r>
                      <a:endParaRPr lang="en-US" sz="105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C15F3C"/>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Plans before writing code</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planner agent → BRD → spec → design, behind human approval gates</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Writes the test first (TDD)</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deterministic pre-write test-first gate + acceptance-test-first proof</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Never marks their own homework</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GAN generator ≠ evaluator; the evaluator only runs the app</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Won't let quality regress</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monotonic ratchet: coverage floor, cycles, coupling, perf p95</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Reviews every change</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fresh-context dual code review + security review before any PR</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Keeps the system legible</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layered-architecture gates, living DeepWiki, change walkthrough</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Learns from every mistake</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learned-rules + process-rules (monotonic, injected forever)</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Respects cost &amp; deadlines</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model tiering, budget caps, token governor, resumable sessions</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7E8E0"/>
                    </a:solidFill>
                  </a:tcPr>
                </a:tc>
              </a:tr>
              <a:tr h="457200">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Leaves an audit trail</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c>
                  <a:txBody>
                    <a:bodyPr/>
                    <a:lstStyle/>
                    <a:p>
                      <a:pPr algn="l" indent="0" marL="0">
                        <a:buNone/>
                      </a:pPr>
                      <a:r>
                        <a:rPr lang="en-US" sz="1020" dirty="0">
                          <a:solidFill>
                            <a:srgbClr val="22252A"/>
                          </a:solidFill>
                          <a:latin typeface="Calibri" pitchFamily="34" charset="0"/>
                          <a:ea typeface="Calibri" pitchFamily="34" charset="-122"/>
                          <a:cs typeface="Calibri" pitchFamily="34" charset="-120"/>
                        </a:rPr>
                        <a:t>FRD→BRD→spec→test traceability, quality card, verification matrix</a:t>
                      </a:r>
                      <a:endParaRPr lang="en-US" sz="1020" dirty="0">
                        <a:latin typeface="Calibri" charset="0"/>
                        <a:ea typeface="Calibri" charset="0"/>
                        <a:cs typeface="Calibri" charset="0"/>
                      </a:endParaRPr>
                    </a:p>
                  </a:txBody>
                  <a:tcPr marL="63500" marR="50800" marT="25400" marB="25400" anchor="ctr">
                    <a:lnL w="6350" cap="flat" cmpd="sng" algn="ctr">
                      <a:solidFill>
                        <a:srgbClr val="EACFC2"/>
                      </a:solidFill>
                      <a:prstDash val="solid"/>
                      <a:round/>
                      <a:headEnd type="none" w="med" len="med"/>
                      <a:tailEnd type="none" w="med" len="med"/>
                    </a:lnL>
                    <a:lnR w="6350" cap="flat" cmpd="sng" algn="ctr">
                      <a:solidFill>
                        <a:srgbClr val="EACFC2"/>
                      </a:solidFill>
                      <a:prstDash val="solid"/>
                      <a:round/>
                      <a:headEnd type="none" w="med" len="med"/>
                      <a:tailEnd type="none" w="med" len="med"/>
                    </a:lnR>
                    <a:lnT w="6350" cap="flat" cmpd="sng" algn="ctr">
                      <a:solidFill>
                        <a:srgbClr val="EACFC2"/>
                      </a:solidFill>
                      <a:prstDash val="solid"/>
                      <a:round/>
                      <a:headEnd type="none" w="med" len="med"/>
                      <a:tailEnd type="none" w="med" len="med"/>
                    </a:lnT>
                    <a:lnB w="6350" cap="flat" cmpd="sng" algn="ctr">
                      <a:solidFill>
                        <a:srgbClr val="EACFC2"/>
                      </a:solidFill>
                      <a:prstDash val="solid"/>
                      <a:round/>
                      <a:headEnd type="none" w="med" len="med"/>
                      <a:tailEnd type="none" w="med" len="med"/>
                    </a:lnB>
                    <a:solidFill>
                      <a:srgbClr val="FFFFFF"/>
                    </a:solidFill>
                  </a:tcPr>
                </a:tc>
              </a:tr>
            </a:tbl>
          </a:graphicData>
        </a:graphic>
      </p:graphicFrame>
      <p:sp>
        <p:nvSpPr>
          <p:cNvPr id="8" name="Text 5"/>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Senior-engineer behaviour</a:t>
            </a:r>
            <a:endParaRPr lang="en-US" sz="850" dirty="0"/>
          </a:p>
        </p:txBody>
      </p:sp>
      <p:sp>
        <p:nvSpPr>
          <p:cNvPr id="9" name="Text 6"/>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20 / 21</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BF7EF"/>
        </a:solidFill>
      </p:bgPr>
    </p:bg>
    <p:spTree>
      <p:nvGrpSpPr>
        <p:cNvPr id="1" name=""/>
        <p:cNvGrpSpPr/>
        <p:nvPr/>
      </p:nvGrpSpPr>
      <p:grpSpPr>
        <a:xfrm>
          <a:off x="0" y="0"/>
          <a:ext cx="0" cy="0"/>
          <a:chOff x="0" y="0"/>
          <a:chExt cx="0" cy="0"/>
        </a:xfrm>
      </p:grpSpPr>
      <p:sp>
        <p:nvSpPr>
          <p:cNvPr id="2" name="Shape 0"/>
          <p:cNvSpPr/>
          <p:nvPr/>
        </p:nvSpPr>
        <p:spPr>
          <a:xfrm>
            <a:off x="502920" y="457200"/>
            <a:ext cx="457200" cy="457200"/>
          </a:xfrm>
          <a:prstGeom prst="roundRect">
            <a:avLst>
              <a:gd name="adj" fmla="val 20000"/>
            </a:avLst>
          </a:prstGeom>
          <a:solidFill>
            <a:srgbClr val="2C6E49"/>
          </a:solidFill>
          <a:ln/>
        </p:spPr>
      </p:sp>
      <p:sp>
        <p:nvSpPr>
          <p:cNvPr id="3" name="Text 1"/>
          <p:cNvSpPr/>
          <p:nvPr/>
        </p:nvSpPr>
        <p:spPr>
          <a:xfrm>
            <a:off x="502920" y="457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21</a:t>
            </a:r>
            <a:endParaRPr lang="en-US" sz="1800" dirty="0"/>
          </a:p>
        </p:txBody>
      </p:sp>
      <p:sp>
        <p:nvSpPr>
          <p:cNvPr id="4" name="Text 2"/>
          <p:cNvSpPr/>
          <p:nvPr/>
        </p:nvSpPr>
        <p:spPr>
          <a:xfrm>
            <a:off x="1143000" y="420624"/>
            <a:ext cx="10545775" cy="219456"/>
          </a:xfrm>
          <a:prstGeom prst="rect">
            <a:avLst/>
          </a:prstGeom>
          <a:noFill/>
          <a:ln/>
        </p:spPr>
        <p:txBody>
          <a:bodyPr wrap="square" lIns="0" tIns="0" rIns="0" bIns="0" rtlCol="0" anchor="ctr"/>
          <a:lstStyle/>
          <a:p>
            <a:pPr indent="0" marL="0">
              <a:buNone/>
            </a:pPr>
            <a:r>
              <a:rPr lang="en-US" sz="1050" b="1" spc="200" kern="0" dirty="0">
                <a:solidFill>
                  <a:srgbClr val="2C6E49"/>
                </a:solidFill>
                <a:latin typeface="Calibri" pitchFamily="34" charset="0"/>
                <a:ea typeface="Calibri" pitchFamily="34" charset="-122"/>
                <a:cs typeface="Calibri" pitchFamily="34" charset="-120"/>
              </a:rPr>
              <a:t>SUMMARY</a:t>
            </a:r>
            <a:endParaRPr lang="en-US" sz="1050" dirty="0"/>
          </a:p>
        </p:txBody>
      </p:sp>
      <p:sp>
        <p:nvSpPr>
          <p:cNvPr id="5" name="Text 3"/>
          <p:cNvSpPr/>
          <p:nvPr/>
        </p:nvSpPr>
        <p:spPr>
          <a:xfrm>
            <a:off x="1143000" y="621792"/>
            <a:ext cx="10545775" cy="402336"/>
          </a:xfrm>
          <a:prstGeom prst="rect">
            <a:avLst/>
          </a:prstGeom>
          <a:noFill/>
          <a:ln/>
        </p:spPr>
        <p:txBody>
          <a:bodyPr wrap="square" lIns="0" tIns="0" rIns="0" bIns="0" rtlCol="0" anchor="ctr"/>
          <a:lstStyle/>
          <a:p>
            <a:pPr indent="0" marL="0">
              <a:buNone/>
            </a:pPr>
            <a:r>
              <a:rPr lang="en-US" sz="2300" b="1" dirty="0">
                <a:solidFill>
                  <a:srgbClr val="22252A"/>
                </a:solidFill>
                <a:latin typeface="Cambria" pitchFamily="34" charset="0"/>
                <a:ea typeface="Cambria" pitchFamily="34" charset="-122"/>
                <a:cs typeface="Cambria" pitchFamily="34" charset="-120"/>
              </a:rPr>
              <a:t>A predictable factory, with a human at the gate</a:t>
            </a:r>
            <a:endParaRPr lang="en-US" sz="2300" dirty="0"/>
          </a:p>
        </p:txBody>
      </p:sp>
      <p:sp>
        <p:nvSpPr>
          <p:cNvPr id="6" name="Text 4"/>
          <p:cNvSpPr/>
          <p:nvPr/>
        </p:nvSpPr>
        <p:spPr>
          <a:xfrm>
            <a:off x="502920" y="1170432"/>
            <a:ext cx="11185855" cy="457200"/>
          </a:xfrm>
          <a:prstGeom prst="rect">
            <a:avLst/>
          </a:prstGeom>
          <a:noFill/>
          <a:ln/>
        </p:spPr>
        <p:txBody>
          <a:bodyPr wrap="square" lIns="0" tIns="0" rIns="0" bIns="0" rtlCol="0" anchor="ctr"/>
          <a:lstStyle/>
          <a:p>
            <a:pPr indent="0" marL="0">
              <a:lnSpc>
                <a:spcPct val="102000"/>
              </a:lnSpc>
              <a:buNone/>
            </a:pPr>
            <a:r>
              <a:rPr lang="en-US" sz="1150" i="1" dirty="0">
                <a:solidFill>
                  <a:srgbClr val="6C7078"/>
                </a:solidFill>
                <a:latin typeface="Calibri" pitchFamily="34" charset="0"/>
                <a:ea typeface="Calibri" pitchFamily="34" charset="-122"/>
                <a:cs typeface="Calibri" pitchFamily="34" charset="-120"/>
              </a:rPr>
              <a:t>The platform doesn't make the model smarter — it makes the output trustworthy and repeatable. What it protects, how to start, and the loop it runs, in one view.</a:t>
            </a:r>
            <a:endParaRPr lang="en-US" sz="1150" dirty="0"/>
          </a:p>
        </p:txBody>
      </p:sp>
      <p:sp>
        <p:nvSpPr>
          <p:cNvPr id="7" name="Shape 5"/>
          <p:cNvSpPr/>
          <p:nvPr/>
        </p:nvSpPr>
        <p:spPr>
          <a:xfrm>
            <a:off x="502920" y="1828800"/>
            <a:ext cx="7040880" cy="2788920"/>
          </a:xfrm>
          <a:prstGeom prst="roundRect">
            <a:avLst>
              <a:gd name="adj" fmla="val 2951"/>
            </a:avLst>
          </a:prstGeom>
          <a:solidFill>
            <a:srgbClr val="FFFFFF"/>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8" name="Text 6"/>
          <p:cNvSpPr/>
          <p:nvPr/>
        </p:nvSpPr>
        <p:spPr>
          <a:xfrm>
            <a:off x="731520" y="1975104"/>
            <a:ext cx="6583680" cy="274320"/>
          </a:xfrm>
          <a:prstGeom prst="rect">
            <a:avLst/>
          </a:prstGeom>
          <a:noFill/>
          <a:ln/>
        </p:spPr>
        <p:txBody>
          <a:bodyPr wrap="square" lIns="0" tIns="0" rIns="0" bIns="0" rtlCol="0" anchor="ctr"/>
          <a:lstStyle/>
          <a:p>
            <a:pPr indent="0" marL="0">
              <a:buNone/>
            </a:pPr>
            <a:r>
              <a:rPr lang="en-US" sz="1250" b="1" dirty="0">
                <a:solidFill>
                  <a:srgbClr val="2C6E49"/>
                </a:solidFill>
                <a:latin typeface="Calibri" pitchFamily="34" charset="0"/>
                <a:ea typeface="Calibri" pitchFamily="34" charset="-122"/>
                <a:cs typeface="Calibri" pitchFamily="34" charset="-120"/>
              </a:rPr>
              <a:t>What the harness protects</a:t>
            </a:r>
            <a:endParaRPr lang="en-US" sz="1250" dirty="0"/>
          </a:p>
        </p:txBody>
      </p:sp>
      <p:pic>
        <p:nvPicPr>
          <p:cNvPr id="9" name="Image 0" descr="/root/work/harness_slide/icons/l1_file.png">    </p:cNvPr>
          <p:cNvPicPr>
            <a:picLocks noChangeAspect="1"/>
          </p:cNvPicPr>
          <p:nvPr/>
        </p:nvPicPr>
        <p:blipFill>
          <a:blip r:embed="rId1"/>
          <a:stretch>
            <a:fillRect/>
          </a:stretch>
        </p:blipFill>
        <p:spPr>
          <a:xfrm>
            <a:off x="822960" y="2386584"/>
            <a:ext cx="146304" cy="146304"/>
          </a:xfrm>
          <a:prstGeom prst="rect">
            <a:avLst/>
          </a:prstGeom>
        </p:spPr>
      </p:pic>
      <p:sp>
        <p:nvSpPr>
          <p:cNvPr id="10" name="Text 7"/>
          <p:cNvSpPr/>
          <p:nvPr/>
        </p:nvSpPr>
        <p:spPr>
          <a:xfrm>
            <a:off x="1078992" y="2313432"/>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TDD before production edits</a:t>
            </a:r>
            <a:endParaRPr lang="en-US" sz="970" dirty="0"/>
          </a:p>
        </p:txBody>
      </p:sp>
      <p:pic>
        <p:nvPicPr>
          <p:cNvPr id="11" name="Image 1" descr="/root/work/harness_slide/icons/l1_file.png">    </p:cNvPr>
          <p:cNvPicPr>
            <a:picLocks noChangeAspect="1"/>
          </p:cNvPicPr>
          <p:nvPr/>
        </p:nvPicPr>
        <p:blipFill>
          <a:blip r:embed="rId2"/>
          <a:stretch>
            <a:fillRect/>
          </a:stretch>
        </p:blipFill>
        <p:spPr>
          <a:xfrm>
            <a:off x="4114800" y="2386584"/>
            <a:ext cx="146304" cy="146304"/>
          </a:xfrm>
          <a:prstGeom prst="rect">
            <a:avLst/>
          </a:prstGeom>
        </p:spPr>
      </p:pic>
      <p:sp>
        <p:nvSpPr>
          <p:cNvPr id="12" name="Text 8"/>
          <p:cNvSpPr/>
          <p:nvPr/>
        </p:nvSpPr>
        <p:spPr>
          <a:xfrm>
            <a:off x="4370832" y="2313432"/>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Coverage ratchet + per-diff coverage</a:t>
            </a:r>
            <a:endParaRPr lang="en-US" sz="970" dirty="0"/>
          </a:p>
        </p:txBody>
      </p:sp>
      <p:pic>
        <p:nvPicPr>
          <p:cNvPr id="13" name="Image 2" descr="/root/work/harness_slide/icons/l1_file.png">    </p:cNvPr>
          <p:cNvPicPr>
            <a:picLocks noChangeAspect="1"/>
          </p:cNvPicPr>
          <p:nvPr/>
        </p:nvPicPr>
        <p:blipFill>
          <a:blip r:embed="rId3"/>
          <a:stretch>
            <a:fillRect/>
          </a:stretch>
        </p:blipFill>
        <p:spPr>
          <a:xfrm>
            <a:off x="822960" y="2916936"/>
            <a:ext cx="146304" cy="146304"/>
          </a:xfrm>
          <a:prstGeom prst="rect">
            <a:avLst/>
          </a:prstGeom>
        </p:spPr>
      </p:pic>
      <p:sp>
        <p:nvSpPr>
          <p:cNvPr id="14" name="Text 9"/>
          <p:cNvSpPr/>
          <p:nvPr/>
        </p:nvSpPr>
        <p:spPr>
          <a:xfrm>
            <a:off x="1078992" y="2843784"/>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One-way architecture layering</a:t>
            </a:r>
            <a:endParaRPr lang="en-US" sz="970" dirty="0"/>
          </a:p>
        </p:txBody>
      </p:sp>
      <p:pic>
        <p:nvPicPr>
          <p:cNvPr id="15" name="Image 3" descr="/root/work/harness_slide/icons/l1_file.png">    </p:cNvPr>
          <p:cNvPicPr>
            <a:picLocks noChangeAspect="1"/>
          </p:cNvPicPr>
          <p:nvPr/>
        </p:nvPicPr>
        <p:blipFill>
          <a:blip r:embed="rId4"/>
          <a:stretch>
            <a:fillRect/>
          </a:stretch>
        </p:blipFill>
        <p:spPr>
          <a:xfrm>
            <a:off x="4114800" y="2916936"/>
            <a:ext cx="146304" cy="146304"/>
          </a:xfrm>
          <a:prstGeom prst="rect">
            <a:avLst/>
          </a:prstGeom>
        </p:spPr>
      </p:pic>
      <p:sp>
        <p:nvSpPr>
          <p:cNvPr id="16" name="Text 10"/>
          <p:cNvSpPr/>
          <p:nvPr/>
        </p:nvSpPr>
        <p:spPr>
          <a:xfrm>
            <a:off x="4370832" y="2843784"/>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Security review before PR on risky diffs</a:t>
            </a:r>
            <a:endParaRPr lang="en-US" sz="970" dirty="0"/>
          </a:p>
        </p:txBody>
      </p:sp>
      <p:pic>
        <p:nvPicPr>
          <p:cNvPr id="17" name="Image 4" descr="/root/work/harness_slide/icons/l1_file.png">    </p:cNvPr>
          <p:cNvPicPr>
            <a:picLocks noChangeAspect="1"/>
          </p:cNvPicPr>
          <p:nvPr/>
        </p:nvPicPr>
        <p:blipFill>
          <a:blip r:embed="rId5"/>
          <a:stretch>
            <a:fillRect/>
          </a:stretch>
        </p:blipFill>
        <p:spPr>
          <a:xfrm>
            <a:off x="822960" y="3447288"/>
            <a:ext cx="146304" cy="146304"/>
          </a:xfrm>
          <a:prstGeom prst="rect">
            <a:avLst/>
          </a:prstGeom>
        </p:spPr>
      </p:pic>
      <p:sp>
        <p:nvSpPr>
          <p:cNvPr id="18" name="Text 11"/>
          <p:cNvSpPr/>
          <p:nvPr/>
        </p:nvSpPr>
        <p:spPr>
          <a:xfrm>
            <a:off x="1078992" y="3374136"/>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Fresh-context dual review; no self-review</a:t>
            </a:r>
            <a:endParaRPr lang="en-US" sz="970" dirty="0"/>
          </a:p>
        </p:txBody>
      </p:sp>
      <p:pic>
        <p:nvPicPr>
          <p:cNvPr id="19" name="Image 5" descr="/root/work/harness_slide/icons/l1_file.png">    </p:cNvPr>
          <p:cNvPicPr>
            <a:picLocks noChangeAspect="1"/>
          </p:cNvPicPr>
          <p:nvPr/>
        </p:nvPicPr>
        <p:blipFill>
          <a:blip r:embed="rId6"/>
          <a:stretch>
            <a:fillRect/>
          </a:stretch>
        </p:blipFill>
        <p:spPr>
          <a:xfrm>
            <a:off x="4114800" y="3447288"/>
            <a:ext cx="146304" cy="146304"/>
          </a:xfrm>
          <a:prstGeom prst="rect">
            <a:avLst/>
          </a:prstGeom>
        </p:spPr>
      </p:pic>
      <p:sp>
        <p:nvSpPr>
          <p:cNvPr id="20" name="Text 12"/>
          <p:cNvSpPr/>
          <p:nvPr/>
        </p:nvSpPr>
        <p:spPr>
          <a:xfrm>
            <a:off x="4370832" y="3374136"/>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No stub-to-green, no deleted tests</a:t>
            </a:r>
            <a:endParaRPr lang="en-US" sz="970" dirty="0"/>
          </a:p>
        </p:txBody>
      </p:sp>
      <p:pic>
        <p:nvPicPr>
          <p:cNvPr id="21" name="Image 6" descr="/root/work/harness_slide/icons/l1_file.png">    </p:cNvPr>
          <p:cNvPicPr>
            <a:picLocks noChangeAspect="1"/>
          </p:cNvPicPr>
          <p:nvPr/>
        </p:nvPicPr>
        <p:blipFill>
          <a:blip r:embed="rId7"/>
          <a:stretch>
            <a:fillRect/>
          </a:stretch>
        </p:blipFill>
        <p:spPr>
          <a:xfrm>
            <a:off x="822960" y="3977640"/>
            <a:ext cx="146304" cy="146304"/>
          </a:xfrm>
          <a:prstGeom prst="rect">
            <a:avLst/>
          </a:prstGeom>
        </p:spPr>
      </p:pic>
      <p:sp>
        <p:nvSpPr>
          <p:cNvPr id="22" name="Text 13"/>
          <p:cNvSpPr/>
          <p:nvPr/>
        </p:nvSpPr>
        <p:spPr>
          <a:xfrm>
            <a:off x="1078992" y="3904488"/>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Multi-agent git safety</a:t>
            </a:r>
            <a:endParaRPr lang="en-US" sz="970" dirty="0"/>
          </a:p>
        </p:txBody>
      </p:sp>
      <p:pic>
        <p:nvPicPr>
          <p:cNvPr id="23" name="Image 7" descr="/root/work/harness_slide/icons/l1_file.png">    </p:cNvPr>
          <p:cNvPicPr>
            <a:picLocks noChangeAspect="1"/>
          </p:cNvPicPr>
          <p:nvPr/>
        </p:nvPicPr>
        <p:blipFill>
          <a:blip r:embed="rId8"/>
          <a:stretch>
            <a:fillRect/>
          </a:stretch>
        </p:blipFill>
        <p:spPr>
          <a:xfrm>
            <a:off x="4114800" y="3977640"/>
            <a:ext cx="146304" cy="146304"/>
          </a:xfrm>
          <a:prstGeom prst="rect">
            <a:avLst/>
          </a:prstGeom>
        </p:spPr>
      </p:pic>
      <p:sp>
        <p:nvSpPr>
          <p:cNvPr id="24" name="Text 14"/>
          <p:cNvSpPr/>
          <p:nvPr/>
        </p:nvSpPr>
        <p:spPr>
          <a:xfrm>
            <a:off x="4370832" y="3904488"/>
            <a:ext cx="3017520" cy="384048"/>
          </a:xfrm>
          <a:prstGeom prst="rect">
            <a:avLst/>
          </a:prstGeom>
          <a:noFill/>
          <a:ln/>
        </p:spPr>
        <p:txBody>
          <a:bodyPr wrap="square" lIns="0" tIns="0" rIns="0" bIns="0" rtlCol="0" anchor="ctr"/>
          <a:lstStyle/>
          <a:p>
            <a:pPr indent="0" marL="0">
              <a:buNone/>
            </a:pPr>
            <a:r>
              <a:rPr lang="en-US" sz="970" dirty="0">
                <a:solidFill>
                  <a:srgbClr val="22252A"/>
                </a:solidFill>
                <a:latin typeface="Calibri" pitchFamily="34" charset="0"/>
                <a:ea typeface="Calibri" pitchFamily="34" charset="-122"/>
                <a:cs typeface="Calibri" pitchFamily="34" charset="-120"/>
              </a:rPr>
              <a:t>Human review before every merge</a:t>
            </a:r>
            <a:endParaRPr lang="en-US" sz="970" dirty="0"/>
          </a:p>
        </p:txBody>
      </p:sp>
      <p:sp>
        <p:nvSpPr>
          <p:cNvPr id="25" name="Shape 15"/>
          <p:cNvSpPr/>
          <p:nvPr/>
        </p:nvSpPr>
        <p:spPr>
          <a:xfrm>
            <a:off x="7772400" y="1828800"/>
            <a:ext cx="3916375" cy="2788920"/>
          </a:xfrm>
          <a:prstGeom prst="roundRect">
            <a:avLst>
              <a:gd name="adj" fmla="val 2951"/>
            </a:avLst>
          </a:prstGeom>
          <a:solidFill>
            <a:srgbClr val="E7F1E9"/>
          </a:solidFill>
          <a:ln w="12700">
            <a:solidFill>
              <a:srgbClr val="D6E7DB"/>
            </a:solidFill>
            <a:prstDash val="solid"/>
          </a:ln>
          <a:effectLst>
            <a:outerShdw sx="100000" sy="100000" kx="0" ky="0" algn="bl" rotWithShape="0" blurRad="50800" dist="12700" dir="5400000">
              <a:srgbClr val="8A8168">
                <a:alpha val="25000"/>
              </a:srgbClr>
            </a:outerShdw>
          </a:effectLst>
        </p:spPr>
      </p:sp>
      <p:sp>
        <p:nvSpPr>
          <p:cNvPr id="26" name="Text 16"/>
          <p:cNvSpPr/>
          <p:nvPr/>
        </p:nvSpPr>
        <p:spPr>
          <a:xfrm>
            <a:off x="8001000" y="1975104"/>
            <a:ext cx="3459175" cy="274320"/>
          </a:xfrm>
          <a:prstGeom prst="rect">
            <a:avLst/>
          </a:prstGeom>
          <a:noFill/>
          <a:ln/>
        </p:spPr>
        <p:txBody>
          <a:bodyPr wrap="square" lIns="0" tIns="0" rIns="0" bIns="0" rtlCol="0" anchor="ctr"/>
          <a:lstStyle/>
          <a:p>
            <a:pPr indent="0" marL="0">
              <a:buNone/>
            </a:pPr>
            <a:r>
              <a:rPr lang="en-US" sz="1250" b="1" dirty="0">
                <a:solidFill>
                  <a:srgbClr val="2C6E49"/>
                </a:solidFill>
                <a:latin typeface="Calibri" pitchFamily="34" charset="0"/>
                <a:ea typeface="Calibri" pitchFamily="34" charset="-122"/>
                <a:cs typeface="Calibri" pitchFamily="34" charset="-120"/>
              </a:rPr>
              <a:t>How to start</a:t>
            </a:r>
            <a:endParaRPr lang="en-US" sz="1250" dirty="0"/>
          </a:p>
        </p:txBody>
      </p:sp>
      <p:sp>
        <p:nvSpPr>
          <p:cNvPr id="27" name="Shape 17"/>
          <p:cNvSpPr/>
          <p:nvPr/>
        </p:nvSpPr>
        <p:spPr>
          <a:xfrm>
            <a:off x="8001000" y="2377440"/>
            <a:ext cx="310896" cy="310896"/>
          </a:xfrm>
          <a:prstGeom prst="ellipse">
            <a:avLst/>
          </a:prstGeom>
          <a:solidFill>
            <a:srgbClr val="2C6E49"/>
          </a:solidFill>
          <a:ln/>
        </p:spPr>
      </p:sp>
      <p:sp>
        <p:nvSpPr>
          <p:cNvPr id="28" name="Text 18"/>
          <p:cNvSpPr/>
          <p:nvPr/>
        </p:nvSpPr>
        <p:spPr>
          <a:xfrm>
            <a:off x="8001000" y="23774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19"/>
          <p:cNvSpPr/>
          <p:nvPr/>
        </p:nvSpPr>
        <p:spPr>
          <a:xfrm>
            <a:off x="8412480" y="2322576"/>
            <a:ext cx="3047695" cy="420624"/>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Load a SKU  </a:t>
            </a:r>
            <a:pPr indent="0" marL="0">
              <a:buNone/>
            </a:pPr>
            <a:r>
              <a:rPr lang="en-US" sz="860" i="1" dirty="0">
                <a:solidFill>
                  <a:srgbClr val="6C7078"/>
                </a:solidFill>
                <a:latin typeface="Calibri" pitchFamily="34" charset="0"/>
                <a:ea typeface="Calibri" pitchFamily="34" charset="-122"/>
                <a:cs typeface="Calibri" pitchFamily="34" charset="-120"/>
              </a:rPr>
              <a:t>claude --plugin-dir …/harness-core</a:t>
            </a:r>
            <a:endParaRPr lang="en-US" sz="1000" dirty="0"/>
          </a:p>
        </p:txBody>
      </p:sp>
      <p:sp>
        <p:nvSpPr>
          <p:cNvPr id="30" name="Shape 20"/>
          <p:cNvSpPr/>
          <p:nvPr/>
        </p:nvSpPr>
        <p:spPr>
          <a:xfrm>
            <a:off x="8001000" y="2907792"/>
            <a:ext cx="310896" cy="310896"/>
          </a:xfrm>
          <a:prstGeom prst="ellipse">
            <a:avLst/>
          </a:prstGeom>
          <a:solidFill>
            <a:srgbClr val="2C6E49"/>
          </a:solidFill>
          <a:ln/>
        </p:spPr>
      </p:sp>
      <p:sp>
        <p:nvSpPr>
          <p:cNvPr id="31" name="Text 21"/>
          <p:cNvSpPr/>
          <p:nvPr/>
        </p:nvSpPr>
        <p:spPr>
          <a:xfrm>
            <a:off x="8001000" y="29077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2"/>
          <p:cNvSpPr/>
          <p:nvPr/>
        </p:nvSpPr>
        <p:spPr>
          <a:xfrm>
            <a:off x="8412480" y="2852928"/>
            <a:ext cx="3047695" cy="420624"/>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Scaffold  </a:t>
            </a:r>
            <a:pPr indent="0" marL="0">
              <a:buNone/>
            </a:pPr>
            <a:r>
              <a:rPr lang="en-US" sz="860" i="1" dirty="0">
                <a:solidFill>
                  <a:srgbClr val="6C7078"/>
                </a:solidFill>
                <a:latin typeface="Calibri" pitchFamily="34" charset="0"/>
                <a:ea typeface="Calibri" pitchFamily="34" charset="-122"/>
                <a:cs typeface="Calibri" pitchFamily="34" charset="-120"/>
              </a:rPr>
              <a:t>/scaffold — one description, confirm, apply</a:t>
            </a:r>
            <a:endParaRPr lang="en-US" sz="1000" dirty="0"/>
          </a:p>
        </p:txBody>
      </p:sp>
      <p:sp>
        <p:nvSpPr>
          <p:cNvPr id="33" name="Shape 23"/>
          <p:cNvSpPr/>
          <p:nvPr/>
        </p:nvSpPr>
        <p:spPr>
          <a:xfrm>
            <a:off x="8001000" y="3438144"/>
            <a:ext cx="310896" cy="310896"/>
          </a:xfrm>
          <a:prstGeom prst="ellipse">
            <a:avLst/>
          </a:prstGeom>
          <a:solidFill>
            <a:srgbClr val="2C6E49"/>
          </a:solidFill>
          <a:ln/>
        </p:spPr>
      </p:sp>
      <p:sp>
        <p:nvSpPr>
          <p:cNvPr id="34" name="Text 24"/>
          <p:cNvSpPr/>
          <p:nvPr/>
        </p:nvSpPr>
        <p:spPr>
          <a:xfrm>
            <a:off x="8001000" y="3438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25"/>
          <p:cNvSpPr/>
          <p:nvPr/>
        </p:nvSpPr>
        <p:spPr>
          <a:xfrm>
            <a:off x="8412480" y="3383280"/>
            <a:ext cx="3047695" cy="420624"/>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Build or extend  </a:t>
            </a:r>
            <a:pPr indent="0" marL="0">
              <a:buNone/>
            </a:pPr>
            <a:r>
              <a:rPr lang="en-US" sz="860" i="1" dirty="0">
                <a:solidFill>
                  <a:srgbClr val="6C7078"/>
                </a:solidFill>
                <a:latin typeface="Calibri" pitchFamily="34" charset="0"/>
                <a:ea typeface="Calibri" pitchFamily="34" charset="-122"/>
                <a:cs typeface="Calibri" pitchFamily="34" charset="-120"/>
              </a:rPr>
              <a:t>/build &lt;prd&gt;  ·  /feature “&lt;request&gt;”</a:t>
            </a:r>
            <a:endParaRPr lang="en-US" sz="1000" dirty="0"/>
          </a:p>
        </p:txBody>
      </p:sp>
      <p:sp>
        <p:nvSpPr>
          <p:cNvPr id="36" name="Shape 26"/>
          <p:cNvSpPr/>
          <p:nvPr/>
        </p:nvSpPr>
        <p:spPr>
          <a:xfrm>
            <a:off x="8001000" y="3968496"/>
            <a:ext cx="310896" cy="310896"/>
          </a:xfrm>
          <a:prstGeom prst="ellipse">
            <a:avLst/>
          </a:prstGeom>
          <a:solidFill>
            <a:srgbClr val="2C6E49"/>
          </a:solidFill>
          <a:ln/>
        </p:spPr>
      </p:sp>
      <p:sp>
        <p:nvSpPr>
          <p:cNvPr id="37" name="Text 27"/>
          <p:cNvSpPr/>
          <p:nvPr/>
        </p:nvSpPr>
        <p:spPr>
          <a:xfrm>
            <a:off x="8001000" y="396849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8" name="Text 28"/>
          <p:cNvSpPr/>
          <p:nvPr/>
        </p:nvSpPr>
        <p:spPr>
          <a:xfrm>
            <a:off x="8412480" y="3913632"/>
            <a:ext cx="3047695" cy="420624"/>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Verify &amp; merge  </a:t>
            </a:r>
            <a:pPr indent="0" marL="0">
              <a:buNone/>
            </a:pPr>
            <a:r>
              <a:rPr lang="en-US" sz="860" i="1" dirty="0">
                <a:solidFill>
                  <a:srgbClr val="6C7078"/>
                </a:solidFill>
                <a:latin typeface="Calibri" pitchFamily="34" charset="0"/>
                <a:ea typeface="Calibri" pitchFamily="34" charset="-122"/>
                <a:cs typeface="Calibri" pitchFamily="34" charset="-120"/>
              </a:rPr>
              <a:t>/gate → quality card → human merges</a:t>
            </a:r>
            <a:endParaRPr lang="en-US" sz="1000" dirty="0"/>
          </a:p>
        </p:txBody>
      </p:sp>
      <p:sp>
        <p:nvSpPr>
          <p:cNvPr id="39" name="Shape 29"/>
          <p:cNvSpPr/>
          <p:nvPr/>
        </p:nvSpPr>
        <p:spPr>
          <a:xfrm>
            <a:off x="502920" y="4892040"/>
            <a:ext cx="11185855" cy="1051560"/>
          </a:xfrm>
          <a:prstGeom prst="roundRect">
            <a:avLst>
              <a:gd name="adj" fmla="val 7826"/>
            </a:avLst>
          </a:prstGeom>
          <a:solidFill>
            <a:srgbClr val="ECEDEF"/>
          </a:solidFill>
          <a:ln w="12700">
            <a:solidFill>
              <a:srgbClr val="D6D9DD"/>
            </a:solidFill>
            <a:prstDash val="solid"/>
          </a:ln>
        </p:spPr>
      </p:sp>
      <p:sp>
        <p:nvSpPr>
          <p:cNvPr id="40" name="Shape 30"/>
          <p:cNvSpPr/>
          <p:nvPr/>
        </p:nvSpPr>
        <p:spPr>
          <a:xfrm>
            <a:off x="795528" y="5189220"/>
            <a:ext cx="457200" cy="457200"/>
          </a:xfrm>
          <a:prstGeom prst="ellipse">
            <a:avLst/>
          </a:prstGeom>
          <a:solidFill>
            <a:srgbClr val="2C6E49"/>
          </a:solidFill>
          <a:ln/>
        </p:spPr>
      </p:sp>
      <p:pic>
        <p:nvPicPr>
          <p:cNvPr id="41" name="Image 8" descr="/root/work/harness_slide/icons/w_file.png">    </p:cNvPr>
          <p:cNvPicPr>
            <a:picLocks noChangeAspect="1"/>
          </p:cNvPicPr>
          <p:nvPr/>
        </p:nvPicPr>
        <p:blipFill>
          <a:blip r:embed="rId9"/>
          <a:stretch>
            <a:fillRect/>
          </a:stretch>
        </p:blipFill>
        <p:spPr>
          <a:xfrm>
            <a:off x="923544" y="5317236"/>
            <a:ext cx="201168" cy="201168"/>
          </a:xfrm>
          <a:prstGeom prst="rect">
            <a:avLst/>
          </a:prstGeom>
        </p:spPr>
      </p:pic>
      <p:sp>
        <p:nvSpPr>
          <p:cNvPr id="42" name="Text 31"/>
          <p:cNvSpPr/>
          <p:nvPr/>
        </p:nvSpPr>
        <p:spPr>
          <a:xfrm>
            <a:off x="1298448"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Scaffold</a:t>
            </a:r>
            <a:endParaRPr lang="en-US" sz="1000" dirty="0"/>
          </a:p>
        </p:txBody>
      </p:sp>
      <p:sp>
        <p:nvSpPr>
          <p:cNvPr id="43" name="Text 32"/>
          <p:cNvSpPr/>
          <p:nvPr/>
        </p:nvSpPr>
        <p:spPr>
          <a:xfrm>
            <a:off x="2275789" y="4892040"/>
            <a:ext cx="274320" cy="1051560"/>
          </a:xfrm>
          <a:prstGeom prst="rect">
            <a:avLst/>
          </a:prstGeom>
          <a:noFill/>
          <a:ln/>
        </p:spPr>
        <p:txBody>
          <a:bodyPr wrap="square" lIns="0" tIns="0" rIns="0" bIns="0" rtlCol="0" anchor="ctr"/>
          <a:lstStyle/>
          <a:p>
            <a:pPr algn="ctr" indent="0" marL="0">
              <a:buNone/>
            </a:pPr>
            <a:r>
              <a:rPr lang="en-US" sz="1300" b="1" dirty="0">
                <a:solidFill>
                  <a:srgbClr val="9A9EA6"/>
                </a:solidFill>
                <a:latin typeface="Calibri" pitchFamily="34" charset="0"/>
                <a:ea typeface="Calibri" pitchFamily="34" charset="-122"/>
                <a:cs typeface="Calibri" pitchFamily="34" charset="-120"/>
              </a:rPr>
              <a:t>→</a:t>
            </a:r>
            <a:endParaRPr lang="en-US" sz="1300" dirty="0"/>
          </a:p>
        </p:txBody>
      </p:sp>
      <p:sp>
        <p:nvSpPr>
          <p:cNvPr id="44" name="Shape 33"/>
          <p:cNvSpPr/>
          <p:nvPr/>
        </p:nvSpPr>
        <p:spPr>
          <a:xfrm>
            <a:off x="2568397" y="5189220"/>
            <a:ext cx="457200" cy="457200"/>
          </a:xfrm>
          <a:prstGeom prst="ellipse">
            <a:avLst/>
          </a:prstGeom>
          <a:solidFill>
            <a:srgbClr val="1C7293"/>
          </a:solidFill>
          <a:ln/>
        </p:spPr>
      </p:sp>
      <p:pic>
        <p:nvPicPr>
          <p:cNvPr id="45" name="Image 9" descr="/root/work/harness_slide/icons/w_route.png">    </p:cNvPr>
          <p:cNvPicPr>
            <a:picLocks noChangeAspect="1"/>
          </p:cNvPicPr>
          <p:nvPr/>
        </p:nvPicPr>
        <p:blipFill>
          <a:blip r:embed="rId10"/>
          <a:stretch>
            <a:fillRect/>
          </a:stretch>
        </p:blipFill>
        <p:spPr>
          <a:xfrm>
            <a:off x="2696413" y="5317236"/>
            <a:ext cx="201168" cy="201168"/>
          </a:xfrm>
          <a:prstGeom prst="rect">
            <a:avLst/>
          </a:prstGeom>
        </p:spPr>
      </p:pic>
      <p:sp>
        <p:nvSpPr>
          <p:cNvPr id="46" name="Text 34"/>
          <p:cNvSpPr/>
          <p:nvPr/>
        </p:nvSpPr>
        <p:spPr>
          <a:xfrm>
            <a:off x="3071317"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Route lane</a:t>
            </a:r>
            <a:endParaRPr lang="en-US" sz="1000" dirty="0"/>
          </a:p>
        </p:txBody>
      </p:sp>
      <p:sp>
        <p:nvSpPr>
          <p:cNvPr id="47" name="Text 35"/>
          <p:cNvSpPr/>
          <p:nvPr/>
        </p:nvSpPr>
        <p:spPr>
          <a:xfrm>
            <a:off x="4048658" y="4892040"/>
            <a:ext cx="274320" cy="1051560"/>
          </a:xfrm>
          <a:prstGeom prst="rect">
            <a:avLst/>
          </a:prstGeom>
          <a:noFill/>
          <a:ln/>
        </p:spPr>
        <p:txBody>
          <a:bodyPr wrap="square" lIns="0" tIns="0" rIns="0" bIns="0" rtlCol="0" anchor="ctr"/>
          <a:lstStyle/>
          <a:p>
            <a:pPr algn="ctr" indent="0" marL="0">
              <a:buNone/>
            </a:pPr>
            <a:r>
              <a:rPr lang="en-US" sz="1300" b="1" dirty="0">
                <a:solidFill>
                  <a:srgbClr val="9A9EA6"/>
                </a:solidFill>
                <a:latin typeface="Calibri" pitchFamily="34" charset="0"/>
                <a:ea typeface="Calibri" pitchFamily="34" charset="-122"/>
                <a:cs typeface="Calibri" pitchFamily="34" charset="-120"/>
              </a:rPr>
              <a:t>→</a:t>
            </a:r>
            <a:endParaRPr lang="en-US" sz="1300" dirty="0"/>
          </a:p>
        </p:txBody>
      </p:sp>
      <p:sp>
        <p:nvSpPr>
          <p:cNvPr id="48" name="Shape 36"/>
          <p:cNvSpPr/>
          <p:nvPr/>
        </p:nvSpPr>
        <p:spPr>
          <a:xfrm>
            <a:off x="4341266" y="5189220"/>
            <a:ext cx="457200" cy="457200"/>
          </a:xfrm>
          <a:prstGeom prst="ellipse">
            <a:avLst/>
          </a:prstGeom>
          <a:solidFill>
            <a:srgbClr val="B07414"/>
          </a:solidFill>
          <a:ln/>
        </p:spPr>
      </p:sp>
      <p:pic>
        <p:nvPicPr>
          <p:cNvPr id="49" name="Image 10" descr="/root/work/harness_slide/icons/w_shield.png">    </p:cNvPr>
          <p:cNvPicPr>
            <a:picLocks noChangeAspect="1"/>
          </p:cNvPicPr>
          <p:nvPr/>
        </p:nvPicPr>
        <p:blipFill>
          <a:blip r:embed="rId11"/>
          <a:stretch>
            <a:fillRect/>
          </a:stretch>
        </p:blipFill>
        <p:spPr>
          <a:xfrm>
            <a:off x="4469282" y="5317236"/>
            <a:ext cx="201168" cy="201168"/>
          </a:xfrm>
          <a:prstGeom prst="rect">
            <a:avLst/>
          </a:prstGeom>
        </p:spPr>
      </p:pic>
      <p:sp>
        <p:nvSpPr>
          <p:cNvPr id="50" name="Text 37"/>
          <p:cNvSpPr/>
          <p:nvPr/>
        </p:nvSpPr>
        <p:spPr>
          <a:xfrm>
            <a:off x="4844186"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Enforce gates</a:t>
            </a:r>
            <a:endParaRPr lang="en-US" sz="1000" dirty="0"/>
          </a:p>
        </p:txBody>
      </p:sp>
      <p:sp>
        <p:nvSpPr>
          <p:cNvPr id="51" name="Text 38"/>
          <p:cNvSpPr/>
          <p:nvPr/>
        </p:nvSpPr>
        <p:spPr>
          <a:xfrm>
            <a:off x="5821528" y="4892040"/>
            <a:ext cx="274320" cy="1051560"/>
          </a:xfrm>
          <a:prstGeom prst="rect">
            <a:avLst/>
          </a:prstGeom>
          <a:noFill/>
          <a:ln/>
        </p:spPr>
        <p:txBody>
          <a:bodyPr wrap="square" lIns="0" tIns="0" rIns="0" bIns="0" rtlCol="0" anchor="ctr"/>
          <a:lstStyle/>
          <a:p>
            <a:pPr algn="ctr" indent="0" marL="0">
              <a:buNone/>
            </a:pPr>
            <a:r>
              <a:rPr lang="en-US" sz="1300" b="1" dirty="0">
                <a:solidFill>
                  <a:srgbClr val="9A9EA6"/>
                </a:solidFill>
                <a:latin typeface="Calibri" pitchFamily="34" charset="0"/>
                <a:ea typeface="Calibri" pitchFamily="34" charset="-122"/>
                <a:cs typeface="Calibri" pitchFamily="34" charset="-120"/>
              </a:rPr>
              <a:t>→</a:t>
            </a:r>
            <a:endParaRPr lang="en-US" sz="1300" dirty="0"/>
          </a:p>
        </p:txBody>
      </p:sp>
      <p:sp>
        <p:nvSpPr>
          <p:cNvPr id="52" name="Shape 39"/>
          <p:cNvSpPr/>
          <p:nvPr/>
        </p:nvSpPr>
        <p:spPr>
          <a:xfrm>
            <a:off x="6114136" y="5189220"/>
            <a:ext cx="457200" cy="457200"/>
          </a:xfrm>
          <a:prstGeom prst="ellipse">
            <a:avLst/>
          </a:prstGeom>
          <a:solidFill>
            <a:srgbClr val="6B4E9E"/>
          </a:solidFill>
          <a:ln/>
        </p:spPr>
      </p:sp>
      <p:pic>
        <p:nvPicPr>
          <p:cNvPr id="53" name="Image 11" descr="/root/work/harness_slide/icons/w_users.png">    </p:cNvPr>
          <p:cNvPicPr>
            <a:picLocks noChangeAspect="1"/>
          </p:cNvPicPr>
          <p:nvPr/>
        </p:nvPicPr>
        <p:blipFill>
          <a:blip r:embed="rId12"/>
          <a:stretch>
            <a:fillRect/>
          </a:stretch>
        </p:blipFill>
        <p:spPr>
          <a:xfrm>
            <a:off x="6242152" y="5317236"/>
            <a:ext cx="201168" cy="201168"/>
          </a:xfrm>
          <a:prstGeom prst="rect">
            <a:avLst/>
          </a:prstGeom>
        </p:spPr>
      </p:pic>
      <p:sp>
        <p:nvSpPr>
          <p:cNvPr id="54" name="Text 40"/>
          <p:cNvSpPr/>
          <p:nvPr/>
        </p:nvSpPr>
        <p:spPr>
          <a:xfrm>
            <a:off x="6617056"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Build &amp; judge</a:t>
            </a:r>
            <a:endParaRPr lang="en-US" sz="1000" dirty="0"/>
          </a:p>
        </p:txBody>
      </p:sp>
      <p:sp>
        <p:nvSpPr>
          <p:cNvPr id="55" name="Text 41"/>
          <p:cNvSpPr/>
          <p:nvPr/>
        </p:nvSpPr>
        <p:spPr>
          <a:xfrm>
            <a:off x="7594397" y="4892040"/>
            <a:ext cx="274320" cy="1051560"/>
          </a:xfrm>
          <a:prstGeom prst="rect">
            <a:avLst/>
          </a:prstGeom>
          <a:noFill/>
          <a:ln/>
        </p:spPr>
        <p:txBody>
          <a:bodyPr wrap="square" lIns="0" tIns="0" rIns="0" bIns="0" rtlCol="0" anchor="ctr"/>
          <a:lstStyle/>
          <a:p>
            <a:pPr algn="ctr" indent="0" marL="0">
              <a:buNone/>
            </a:pPr>
            <a:r>
              <a:rPr lang="en-US" sz="1300" b="1" dirty="0">
                <a:solidFill>
                  <a:srgbClr val="9A9EA6"/>
                </a:solidFill>
                <a:latin typeface="Calibri" pitchFamily="34" charset="0"/>
                <a:ea typeface="Calibri" pitchFamily="34" charset="-122"/>
                <a:cs typeface="Calibri" pitchFamily="34" charset="-120"/>
              </a:rPr>
              <a:t>→</a:t>
            </a:r>
            <a:endParaRPr lang="en-US" sz="1300" dirty="0"/>
          </a:p>
        </p:txBody>
      </p:sp>
      <p:sp>
        <p:nvSpPr>
          <p:cNvPr id="56" name="Shape 42"/>
          <p:cNvSpPr/>
          <p:nvPr/>
        </p:nvSpPr>
        <p:spPr>
          <a:xfrm>
            <a:off x="7887005" y="5189220"/>
            <a:ext cx="457200" cy="457200"/>
          </a:xfrm>
          <a:prstGeom prst="ellipse">
            <a:avLst/>
          </a:prstGeom>
          <a:solidFill>
            <a:srgbClr val="1F5132"/>
          </a:solidFill>
          <a:ln/>
        </p:spPr>
      </p:sp>
      <p:pic>
        <p:nvPicPr>
          <p:cNvPr id="57" name="Image 12" descr="/root/work/harness_slide/icons/w_gauge.png">    </p:cNvPr>
          <p:cNvPicPr>
            <a:picLocks noChangeAspect="1"/>
          </p:cNvPicPr>
          <p:nvPr/>
        </p:nvPicPr>
        <p:blipFill>
          <a:blip r:embed="rId13"/>
          <a:stretch>
            <a:fillRect/>
          </a:stretch>
        </p:blipFill>
        <p:spPr>
          <a:xfrm>
            <a:off x="8015021" y="5317236"/>
            <a:ext cx="201168" cy="201168"/>
          </a:xfrm>
          <a:prstGeom prst="rect">
            <a:avLst/>
          </a:prstGeom>
        </p:spPr>
      </p:pic>
      <p:sp>
        <p:nvSpPr>
          <p:cNvPr id="58" name="Text 43"/>
          <p:cNvSpPr/>
          <p:nvPr/>
        </p:nvSpPr>
        <p:spPr>
          <a:xfrm>
            <a:off x="8389925"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Ratchet quality</a:t>
            </a:r>
            <a:endParaRPr lang="en-US" sz="1000" dirty="0"/>
          </a:p>
        </p:txBody>
      </p:sp>
      <p:sp>
        <p:nvSpPr>
          <p:cNvPr id="59" name="Text 44"/>
          <p:cNvSpPr/>
          <p:nvPr/>
        </p:nvSpPr>
        <p:spPr>
          <a:xfrm>
            <a:off x="9367266" y="4892040"/>
            <a:ext cx="274320" cy="1051560"/>
          </a:xfrm>
          <a:prstGeom prst="rect">
            <a:avLst/>
          </a:prstGeom>
          <a:noFill/>
          <a:ln/>
        </p:spPr>
        <p:txBody>
          <a:bodyPr wrap="square" lIns="0" tIns="0" rIns="0" bIns="0" rtlCol="0" anchor="ctr"/>
          <a:lstStyle/>
          <a:p>
            <a:pPr algn="ctr" indent="0" marL="0">
              <a:buNone/>
            </a:pPr>
            <a:r>
              <a:rPr lang="en-US" sz="1300" b="1" dirty="0">
                <a:solidFill>
                  <a:srgbClr val="9A9EA6"/>
                </a:solidFill>
                <a:latin typeface="Calibri" pitchFamily="34" charset="0"/>
                <a:ea typeface="Calibri" pitchFamily="34" charset="-122"/>
                <a:cs typeface="Calibri" pitchFamily="34" charset="-120"/>
              </a:rPr>
              <a:t>→</a:t>
            </a:r>
            <a:endParaRPr lang="en-US" sz="1300" dirty="0"/>
          </a:p>
        </p:txBody>
      </p:sp>
      <p:sp>
        <p:nvSpPr>
          <p:cNvPr id="60" name="Shape 45"/>
          <p:cNvSpPr/>
          <p:nvPr/>
        </p:nvSpPr>
        <p:spPr>
          <a:xfrm>
            <a:off x="9659874" y="5189220"/>
            <a:ext cx="457200" cy="457200"/>
          </a:xfrm>
          <a:prstGeom prst="ellipse">
            <a:avLst/>
          </a:prstGeom>
          <a:solidFill>
            <a:srgbClr val="22252A"/>
          </a:solidFill>
          <a:ln/>
        </p:spPr>
      </p:sp>
      <p:pic>
        <p:nvPicPr>
          <p:cNvPr id="61" name="Image 13" descr="/root/work/harness_slide/icons/w_usercheck.png">    </p:cNvPr>
          <p:cNvPicPr>
            <a:picLocks noChangeAspect="1"/>
          </p:cNvPicPr>
          <p:nvPr/>
        </p:nvPicPr>
        <p:blipFill>
          <a:blip r:embed="rId14"/>
          <a:stretch>
            <a:fillRect/>
          </a:stretch>
        </p:blipFill>
        <p:spPr>
          <a:xfrm>
            <a:off x="9787890" y="5317236"/>
            <a:ext cx="201168" cy="201168"/>
          </a:xfrm>
          <a:prstGeom prst="rect">
            <a:avLst/>
          </a:prstGeom>
        </p:spPr>
      </p:pic>
      <p:sp>
        <p:nvSpPr>
          <p:cNvPr id="62" name="Text 46"/>
          <p:cNvSpPr/>
          <p:nvPr/>
        </p:nvSpPr>
        <p:spPr>
          <a:xfrm>
            <a:off x="10162794" y="4892040"/>
            <a:ext cx="1041349" cy="1051560"/>
          </a:xfrm>
          <a:prstGeom prst="rect">
            <a:avLst/>
          </a:prstGeom>
          <a:noFill/>
          <a:ln/>
        </p:spPr>
        <p:txBody>
          <a:bodyPr wrap="square" lIns="0" tIns="0" rIns="0" bIns="0" rtlCol="0" anchor="ctr"/>
          <a:lstStyle/>
          <a:p>
            <a:pPr indent="0" marL="0">
              <a:buNone/>
            </a:pPr>
            <a:r>
              <a:rPr lang="en-US" sz="1000" b="1" dirty="0">
                <a:solidFill>
                  <a:srgbClr val="22252A"/>
                </a:solidFill>
                <a:latin typeface="Calibri" pitchFamily="34" charset="0"/>
                <a:ea typeface="Calibri" pitchFamily="34" charset="-122"/>
                <a:cs typeface="Calibri" pitchFamily="34" charset="-120"/>
              </a:rPr>
              <a:t>Human merges</a:t>
            </a:r>
            <a:endParaRPr lang="en-US" sz="1000" dirty="0"/>
          </a:p>
        </p:txBody>
      </p:sp>
      <p:sp>
        <p:nvSpPr>
          <p:cNvPr id="63" name="Text 47"/>
          <p:cNvSpPr/>
          <p:nvPr/>
        </p:nvSpPr>
        <p:spPr>
          <a:xfrm>
            <a:off x="502920" y="6455664"/>
            <a:ext cx="8229600" cy="274320"/>
          </a:xfrm>
          <a:prstGeom prst="rect">
            <a:avLst/>
          </a:prstGeom>
          <a:noFill/>
          <a:ln/>
        </p:spPr>
        <p:txBody>
          <a:bodyPr wrap="square" lIns="0" tIns="0" rIns="0" bIns="0" rtlCol="0" anchor="ctr"/>
          <a:lstStyle/>
          <a:p>
            <a:pPr indent="0" marL="0">
              <a:buNone/>
            </a:pPr>
            <a:r>
              <a:rPr lang="en-US" sz="850" b="1" dirty="0">
                <a:solidFill>
                  <a:srgbClr val="6C7078"/>
                </a:solidFill>
                <a:latin typeface="Calibri" pitchFamily="34" charset="0"/>
                <a:ea typeface="Calibri" pitchFamily="34" charset="-122"/>
                <a:cs typeface="Calibri" pitchFamily="34" charset="-120"/>
              </a:rPr>
              <a:t>Claude Harness Engine v5</a:t>
            </a:r>
            <a:pPr indent="0" marL="0">
              <a:buNone/>
            </a:pPr>
            <a:r>
              <a:rPr lang="en-US" sz="850" dirty="0">
                <a:solidFill>
                  <a:srgbClr val="9A9EA6"/>
                </a:solidFill>
                <a:latin typeface="Calibri" pitchFamily="34" charset="0"/>
                <a:ea typeface="Calibri" pitchFamily="34" charset="-122"/>
                <a:cs typeface="Calibri" pitchFamily="34" charset="-120"/>
              </a:rPr>
              <a:t>  ·  Summary &amp; adoption</a:t>
            </a:r>
            <a:endParaRPr lang="en-US" sz="850" dirty="0"/>
          </a:p>
        </p:txBody>
      </p:sp>
      <p:sp>
        <p:nvSpPr>
          <p:cNvPr id="64" name="Text 48"/>
          <p:cNvSpPr/>
          <p:nvPr/>
        </p:nvSpPr>
        <p:spPr>
          <a:xfrm>
            <a:off x="9859975" y="6455664"/>
            <a:ext cx="1828800" cy="274320"/>
          </a:xfrm>
          <a:prstGeom prst="rect">
            <a:avLst/>
          </a:prstGeom>
          <a:noFill/>
          <a:ln/>
        </p:spPr>
        <p:txBody>
          <a:bodyPr wrap="square" lIns="0" tIns="0" rIns="0" bIns="0" rtlCol="0" anchor="ctr"/>
          <a:lstStyle/>
          <a:p>
            <a:pPr algn="r" indent="0" marL="0">
              <a:buNone/>
            </a:pPr>
            <a:r>
              <a:rPr lang="en-US" sz="850" dirty="0">
                <a:solidFill>
                  <a:srgbClr val="9A9EA6"/>
                </a:solidFill>
                <a:latin typeface="Calibri" pitchFamily="34" charset="0"/>
                <a:ea typeface="Calibri" pitchFamily="34" charset="-122"/>
                <a:cs typeface="Calibri" pitchFamily="34" charset="-120"/>
              </a:rPr>
              <a:t>21 / 21</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2026-07-18T05:59:06Z</dcterms:created>
  <dcterms:modified xsi:type="dcterms:W3CDTF">2026-07-18T05:59:06Z</dcterms:modified>
</cp:coreProperties>
</file>