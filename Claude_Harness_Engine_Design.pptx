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5"/>
    <p:restoredTop sz="94641"/>
  </p:normalViewPr>
  <p:slideViewPr>
    <p:cSldViewPr snapToGrid="0" snapToObjects="1">
      <p:cViewPr varScale="1">
        <p:scale>
          <a:sx n="175" d="100"/>
          <a:sy n="175" d="100"/>
        </p:scale>
        <p:origin x="168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91440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Calibri"/>
              </a:rPr>
              <a:t>Claude Harness Engine v1.1.4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78638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Calibri"/>
              </a:rPr>
              <a:t>Autonomous SDLC Scaffolding for Agentic Software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7863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8BDF8"/>
                </a:solidFill>
                <a:latin typeface="Calibri"/>
              </a:rPr>
              <a:t>GAN Architecture · Karpathy Ratchet · Agent Teams · Session Chaining · Superpowers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25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7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15 HOOKS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1 BOOT CMD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3108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0F172A"/>
                </a:solidFill>
                <a:latin typeface="Calibri"/>
              </a:rPr>
              <a:t>8 PLUGINS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Designed for engineering teams shipping long-running, agentic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What's New in v1.1.4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Updates since the original deck — codebase now spans scaffold, graph-grounded brownfield, plugins, hooks, and tracker orchestration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Brownfield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/brownfield maps existing codebases (codebase-map, architecture, tests, risks, change strategy) before any planning or refactor.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Vibe 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/vibe — controlled small-change lane with micro-contract, narrow scope, targeted verification, reviewer enforcement.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Superpowers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systematic-debugging · verification-before-completion are invoked at named pipeline stages.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Lint-Drift Entropy 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/lint-drift sweeps agent-generated code for pattern drift and ships targeted cleanup PRs.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499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Hardened Runtime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15 hooks: pre-tool length gate, tracker-safe env protection, track-writes ledger, require-review Stop hook, sprint-contract-gate on commits.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3912" y="28803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Plugin-First Posture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72968"/>
            <a:ext cx="236829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8 official Claude Code plugins enabled via settings.json (superpowers, code-review, frontend-design, context7, ...).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Net effect: full SDLC + adapts to existing codebases + lets humans steer mid-flight.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Traditional Agent Pods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four failure modes the harness was built to neutralize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32588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Self-Evaluation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61848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Agents grade their own work, miss critical failures, and declare success prematurely.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23444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82312" y="132588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No Monotonic 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161848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Each iteration can regress prior work. Coverage drops, bugs reappear, features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78892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Context Window Amnesia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08152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Long builds lose early decisions. No state survives across sessions.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697480"/>
            <a:ext cx="41148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82312" y="2788920"/>
            <a:ext cx="378561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Flat Team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3081528"/>
            <a:ext cx="37856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All agents share equal authority. No structural separation between creation and verification.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251960"/>
            <a:ext cx="8321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The harness answers each with structural separation, ratchet gates, append-only state, and explicit role hierarchy.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orthogonal commitments — each subsequent slide traces back to one of these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Generator writes code. Evaluator verifies independently. Neither can do the other's job. No self-grading.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499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Every metric moves forward, never backward. Monotonic quality improvement enforced by 6 gates.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53912" y="128016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Institutional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157276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Failures become learned-rules.md. Knowledge compounds across sessions and is injected into all future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278892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Phased Agent Teams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08152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DAG-driven parallel execution with dependency handshakes between phases. Up to 5 teammates per phase.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64992" y="2788920"/>
            <a:ext cx="23682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Skills + Agents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3081528"/>
            <a:ext cx="2368296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Claude Code's three primitives composed into a runtime: skills give procedure, agents give specialized models, hooks enforce invariants.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69748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53912" y="278892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Why this matters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3108960"/>
            <a:ext cx="2377440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These five commitments are non-negotiable. Every command, agent, and hook in the codebase is an instance of one of them. If a change would weaken one, it doesn't ship.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Repository Layout — Anatomy of `.claude/`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What gets copied into every scaffolded project. This is the entire harness on disk.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2336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onsolas"/>
              </a:rPr>
              <a:t>.claude/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749039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.claude-plugin/</a:t>
            </a:r>
            <a:r>
              <a:rPr sz="1000">
                <a:solidFill>
                  <a:srgbClr val="94A3B8"/>
                </a:solidFill>
                <a:latin typeface="Calibri"/>
              </a:rPr>
              <a:t>plugin.json — name, version, description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commands/      </a:t>
            </a:r>
            <a:r>
              <a:rPr sz="1000">
                <a:solidFill>
                  <a:srgbClr val="94A3B8"/>
                </a:solidFill>
                <a:latin typeface="Calibri"/>
              </a:rPr>
              <a:t>scaffold.md — only true slash command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skills/  (25)  </a:t>
            </a:r>
            <a:r>
              <a:rPr sz="1000">
                <a:solidFill>
                  <a:srgbClr val="94A3B8"/>
                </a:solidFill>
                <a:latin typeface="Calibri"/>
              </a:rPr>
              <a:t>SKILL.md per skill, fork context, optional refs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agents/   (7)  </a:t>
            </a:r>
            <a:r>
              <a:rPr sz="1000">
                <a:solidFill>
                  <a:srgbClr val="94A3B8"/>
                </a:solidFill>
                <a:latin typeface="Calibri"/>
              </a:rPr>
              <a:t>.md per agent, frontmatter declares tools+model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hooks/   (15)  </a:t>
            </a:r>
            <a:r>
              <a:rPr sz="1000">
                <a:solidFill>
                  <a:srgbClr val="94A3B8"/>
                </a:solidFill>
                <a:latin typeface="Calibri"/>
              </a:rPr>
              <a:t>Node scripts wired in settings.json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templates/     </a:t>
            </a:r>
            <a:r>
              <a:rPr sz="1000">
                <a:solidFill>
                  <a:srgbClr val="94A3B8"/>
                </a:solidFill>
                <a:latin typeface="Calibri"/>
              </a:rPr>
              <a:t>sprint-contract.json, story.template.md, ...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state/         </a:t>
            </a:r>
            <a:r>
              <a:rPr sz="1000">
                <a:solidFill>
                  <a:srgbClr val="94A3B8"/>
                </a:solidFill>
                <a:latin typeface="Calibri"/>
              </a:rPr>
              <a:t>learned-rules, failures, vibe-log, pending-reviews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architecture.md</a:t>
            </a:r>
            <a:r>
              <a:rPr sz="1000">
                <a:solidFill>
                  <a:srgbClr val="94A3B8"/>
                </a:solidFill>
                <a:latin typeface="Calibri"/>
              </a:rPr>
              <a:t>Layer hierarchy + import rules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├─ program.md     </a:t>
            </a:r>
            <a:r>
              <a:rPr sz="1000">
                <a:solidFill>
                  <a:srgbClr val="94A3B8"/>
                </a:solidFill>
                <a:latin typeface="Calibri"/>
              </a:rPr>
              <a:t>Karpathy human-agent bridge — edit to steer /auto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8FAFC"/>
                </a:solidFill>
                <a:latin typeface="Consolas"/>
              </a:rPr>
              <a:t>└─ settings.json  </a:t>
            </a:r>
            <a:r>
              <a:rPr sz="1000">
                <a:solidFill>
                  <a:srgbClr val="94A3B8"/>
                </a:solidFill>
                <a:latin typeface="Calibri"/>
              </a:rPr>
              <a:t>Hook config, permissions, enabled plugins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Two parallel state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508760"/>
            <a:ext cx="384048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Project-side  →  specs/  (BRD, stories, design, reviews, brownfield)
                features.json, claude-progress.txt, sprint-contracts/
Harness-side  →  .claude/state/  (learned-rules, failures, vibe-log,
                pending-reviews.jsonl, iteration-log, coverage-baseline)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971800"/>
            <a:ext cx="4114800" cy="1645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3035808"/>
            <a:ext cx="38404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Crucial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337560"/>
            <a:ext cx="384048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specs/  is mutated only by agents (planner, generator, evaluator).
.claude/state/  is mutated by hooks AND agents — it is the durable
ratchet memory across context windows.
program.md  is the only file humans edit during /auto.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Runtime Mechanics — How Claude Code Loads the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Five Claude Code primitives — composed into one autonomous SDLC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commands/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True slash commands.
Claude Code reads frontmatter
and executes the file as a
turn-by-turn instruction.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30552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295144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skills/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Skill files surfaced to the
model via the Skill tool.
Claude invokes them on intent
match — they look like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9624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14216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agents/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4216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Subagents with their own tool
allowlist + model tier.
Spawned via the Agent tool
from skills or other agents.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68696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33288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hooks/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Node scripts run by Claude
Code at lifecycle events:
PreTool, PostTool, Stop,
TaskCompleted, TeammateIdle.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1143000"/>
            <a:ext cx="1682496" cy="2286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353312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527048"/>
            <a:ext cx="13533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Static files (.json, .md)
read by skills and agents
as authoritative scaffolds
(e.g. sprint-contract.json).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6118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Lifecycle on a typical 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User /command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01368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Claude resolves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91256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Skill body runs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81144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Spawns Agent(s)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1032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Hooks fire on Edit/Bash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20" y="393192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0F172A"/>
                </a:solidFill>
                <a:latin typeface="Calibri"/>
              </a:rPr>
              <a:t>Templates / state updated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Why `/scaffold` Is the Only File in `commands/`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Bootloader vs runtime — the key distinction in the harness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07008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onsolas"/>
              </a:rPr>
              <a:t>.claude/commands/scaffold.md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bootloader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3749039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Asks 5 setup questions (stack, project type, verification, plugins...)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Writes project-manifest.json + calibration-profile.json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Copies the entire `.claude/` tree into the target project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Generates CLAUDE.md, design.md, init.sh, .gitignore, features.json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Creates specs/, sprint-contracts/, e2e/ output directories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Initializes claude-progress.txt session 0 block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143000"/>
            <a:ext cx="40690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0" y="1207008"/>
            <a:ext cx="3703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onsolas"/>
              </a:rPr>
              <a:t>.claude/skills/*/SKILL.md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554480"/>
            <a:ext cx="3703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The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1920240"/>
            <a:ext cx="37033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Once `/scaffold` has run once, all subsequent work happens through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skills surfaced as virtual slash commands.</a:t>
            </a:r>
          </a:p>
          <a:p>
            <a:pPr>
              <a:spcAft>
                <a:spcPts val="200"/>
              </a:spcAft>
            </a:pPr>
            <a:endParaRPr sz="10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Why it works: Claude Code ships with a Skill tool. Any file matching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`.claude/skills/&lt;name&gt;/SKILL.md` with a frontmatter `name:` and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`description:` becomes invocable. Users type `/&lt;name&gt;` and the harness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responds with the skill body — indistinguishable from a real command.</a:t>
            </a:r>
          </a:p>
          <a:p>
            <a:pPr>
              <a:spcAft>
                <a:spcPts val="200"/>
              </a:spcAft>
            </a:pPr>
            <a:endParaRPr sz="10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Benefit: skills get progressive disclosure (loaded only when matched),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context: fork (isolated sub-context), and `argument-hint` autocomplete.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Real `commands/` files would all be loaded into every turn's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Skills as Virtual Commands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`name:` becomes the slash command — Claude routes intent automatically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8321040" cy="77724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81381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onsolas"/>
              </a:rPr>
              <a:t>---
name: brownfield
description: Discover and map an existing codebase before planning or changing it.
argument-hint: "[optional-focus-path-or-goal]"
context: fork
agent: planner
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13258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INVOKE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210312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11680"/>
            <a:ext cx="13258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6771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/scaffold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26771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commands/scaffold.md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6771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Real command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26771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Bootstrap a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40944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40944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skills/brd/SKILL.md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40944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0944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Socratic BRD interview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55117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55117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skills/spec/SKILL.md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255117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255117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→ stories + dep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269290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9290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skills/design/SKILL.md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269290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9290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Architecture + mockups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283464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83464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skills/build/SKILL.md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83464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283464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9-phase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97637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/auto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297637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skills/auto/SKILL.md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297637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297637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Autonomous ratchet 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311810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/implement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311810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skills/implement/SKILL.md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311810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311810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Spawn agent team for group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325983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/evaluate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25983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skills/evaluate/SKILL.md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325983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325983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 app, verify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340156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340156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skills/review/SKILL.md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40156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66360" y="340156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Evaluator + security 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54330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/test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354330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skills/test/SKILL.md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40480" y="354330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354330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+ Playwright E2E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68503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/deploy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368503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skills/deploy/SKILL.md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368503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66360" y="368503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Docker Compose + init.sh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382676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/brownfield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382676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skills/brownfield/SKILL.md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0" y="382676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360" y="382676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Map an existing codebase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96849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/vibe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37360" y="396849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skills/vibe/SKILL.md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0" y="396849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66360" y="396849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Controlled small-change lane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" y="411022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/clarify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37360" y="4110228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skills/clarify/SKILL.md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0" y="4110228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66360" y="4110228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Bounded clarification gate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425196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/fix-issue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37360" y="4251960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skills/fix-issue/SKILL.md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0" y="4251960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66360" y="4251960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GitHub issue workflow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439369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/refactor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37360" y="4393692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skills/refactor/SKILL.md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4393692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66360" y="4393692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Quality-driven refactor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453542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/improve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37360" y="4535424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skills/improve/SKILL.md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535424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166360" y="4535424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Story-driven enhancement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7715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/lint-drift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37360" y="4677156"/>
            <a:ext cx="210312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skills/lint-drift/SKILL.md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40480" y="4677156"/>
            <a:ext cx="132588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Skill (virtual)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66360" y="4677156"/>
            <a:ext cx="3566160" cy="1417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Pattern-drift entropy scan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25 Skills, Grouped by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Lifecycle skills + reference skills — /build and /auto orchestrate; /implement, /evaluate, /review, /test are per-phase handles invoked by /auto.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Pipeline (full SDLC)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 dirty="0">
                <a:solidFill>
                  <a:srgbClr val="38BDF8"/>
                </a:solidFill>
                <a:latin typeface="Calibri"/>
              </a:rPr>
              <a:t>Greenfield SDLC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</a:t>
            </a:r>
            <a:r>
              <a:rPr sz="1000" b="0" dirty="0" err="1">
                <a:solidFill>
                  <a:srgbClr val="F8FAFC"/>
                </a:solidFill>
                <a:latin typeface="Consolas"/>
              </a:rPr>
              <a:t>brd</a:t>
            </a:r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/spec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/design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/auto</a:t>
            </a:r>
          </a:p>
          <a:p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1" dirty="0">
                <a:solidFill>
                  <a:srgbClr val="38BDF8"/>
                </a:solidFill>
                <a:latin typeface="Calibri"/>
              </a:rPr>
              <a:t>Per-phase handles</a:t>
            </a:r>
          </a:p>
          <a:p>
            <a:r>
              <a:rPr sz="800" i="1" dirty="0">
                <a:solidFill>
                  <a:srgbClr val="94A3B8"/>
                </a:solidFill>
                <a:latin typeface="Calibri"/>
              </a:rPr>
              <a:t>invoked by /auto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/implement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/evaluate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/review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/test</a:t>
            </a:r>
          </a:p>
          <a:p>
            <a:endParaRPr sz="1000" b="0" dirty="0">
              <a:solidFill>
                <a:srgbClr val="F8FAFC"/>
              </a:solidFill>
              <a:latin typeface="Consolas"/>
            </a:endParaRP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/build  wrapper</a:t>
            </a:r>
          </a:p>
          <a:p>
            <a:r>
              <a:rPr sz="1000" b="0" dirty="0">
                <a:solidFill>
                  <a:srgbClr val="F8FAFC"/>
                </a:solidFill>
                <a:latin typeface="Consolas"/>
              </a:rPr>
              <a:t>▸ /deploy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5176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Discovery &amp; Lanes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600200"/>
            <a:ext cx="1737360" cy="769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/brownfield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/code-map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/seam-finder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/vibe</a:t>
            </a:r>
          </a:p>
          <a:p>
            <a:r>
              <a:rPr sz="10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▸ /clarify</a:t>
            </a:r>
          </a:p>
          <a:p>
            <a:r>
              <a:rPr sz="1000" b="0">
                <a:solidFill>
                  <a:srgbClr val="F8FAFC"/>
                </a:solidFill>
                <a:latin typeface="Consolas"/>
              </a:rPr>
              <a:t>▸ /lite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/fix-issue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/refactor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/improve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/lint-drift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0" y="1234440"/>
            <a:ext cx="17373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Reference (no slash)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600200"/>
            <a:ext cx="1737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/architecture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/code-gen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/evaluation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F8FAFC"/>
                </a:solidFill>
                <a:latin typeface="Consolas"/>
              </a:rPr>
              <a:t>▸ /testing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Reference skills (architecture, code-gen, evaluation, testing) carry no `/slash` — they are read by agents inline.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9 / 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5074920"/>
            <a:ext cx="2743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3558"/>
                </a:solidFill>
              </a:defRPr>
            </a:pPr>
            <a:r>
              <a:t>Tracker add-on</a:t>
            </a:r>
            <a:br/>
            <a:r>
              <a:t>▸ /tracker</a:t>
            </a:r>
            <a:br/>
            <a:r>
              <a:t>▸ /tracker-publish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Agent Activation — How a Skill Spawns an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From slash command to a constrained subagent with its own tool allowlist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1. User types
/auto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98448"/>
            <a:ext cx="109728" cy="10972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792224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37944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2. Skill tool resolves
skills/auto/SKILL.md</a:t>
            </a:r>
          </a:p>
        </p:txBody>
      </p:sp>
      <p:sp>
        <p:nvSpPr>
          <p:cNvPr id="11" name="Oval 10"/>
          <p:cNvSpPr/>
          <p:nvPr/>
        </p:nvSpPr>
        <p:spPr>
          <a:xfrm>
            <a:off x="1883664" y="1298448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72968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18688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3. Skill body executes
(reads program.md,
learned-rules)</a:t>
            </a:r>
          </a:p>
        </p:txBody>
      </p:sp>
      <p:sp>
        <p:nvSpPr>
          <p:cNvPr id="14" name="Oval 13"/>
          <p:cNvSpPr/>
          <p:nvPr/>
        </p:nvSpPr>
        <p:spPr>
          <a:xfrm>
            <a:off x="3264408" y="1298448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53712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9432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4. Skill calls Agent tool
subagent_type='generator'</a:t>
            </a:r>
          </a:p>
        </p:txBody>
      </p:sp>
      <p:sp>
        <p:nvSpPr>
          <p:cNvPr id="17" name="Oval 16"/>
          <p:cNvSpPr/>
          <p:nvPr/>
        </p:nvSpPr>
        <p:spPr>
          <a:xfrm>
            <a:off x="4645152" y="1298448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934456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80176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5. Generator runs in
fork context with its
own tool allowlist</a:t>
            </a:r>
          </a:p>
        </p:txBody>
      </p:sp>
      <p:sp>
        <p:nvSpPr>
          <p:cNvPr id="20" name="Oval 19"/>
          <p:cNvSpPr/>
          <p:nvPr/>
        </p:nvSpPr>
        <p:spPr>
          <a:xfrm>
            <a:off x="6025896" y="1298448"/>
            <a:ext cx="109728" cy="10972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315200" y="1188720"/>
            <a:ext cx="132588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1280160"/>
            <a:ext cx="1234440" cy="868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CBD5E1"/>
                </a:solidFill>
                <a:latin typeface="Calibri"/>
              </a:rPr>
              <a:t>6. Agent emits result
back to /auto</a:t>
            </a:r>
          </a:p>
        </p:txBody>
      </p:sp>
      <p:sp>
        <p:nvSpPr>
          <p:cNvPr id="23" name="Oval 22"/>
          <p:cNvSpPr/>
          <p:nvPr/>
        </p:nvSpPr>
        <p:spPr>
          <a:xfrm>
            <a:off x="7406640" y="1298448"/>
            <a:ext cx="109728" cy="109728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11480" y="2423160"/>
            <a:ext cx="4114800" cy="21945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2487168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Agent frontmatter is the contract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88920"/>
            <a:ext cx="384048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---
name: evaluator
description: Skeptical verifier that runs the
  application and checks sprint contract criteria...
tools:
  - Read
  - Bash
  - mcp__plugin_playwright_playwright__browser_navigate
  - mcp__plugin_playwright_playwright__browser_click
  - mcp__plugin_playwright_playwright__browser_snapshot
---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423160"/>
            <a:ext cx="4069080" cy="2194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2487168"/>
            <a:ext cx="37947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What the runtime guarantees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788920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Agents only see tools listed in their frontmatter — others raise.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`context: fork` skills run agents in a sub-context: parent is unaffected.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Model tier (Opus / Sonnet / Haiku) is set per-agent, not per-skill.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Skills inject `learned-rules.md` verbatim into every agent prompt.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Hooks still fire inside the subagent on Edit / Write / Bash.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CBD5E1"/>
                </a:solidFill>
                <a:latin typeface="Calibri"/>
              </a:rPr>
              <a:t>▸ Output returns to caller as a structured tool result — not free text.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The 7 Agents — Roles, Models, Tool Grants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Frontmatter declares both. Generator can spawn other agents via the Agent tool; others cannot.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141732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77724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88720"/>
            <a:ext cx="2834640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KEY TOOL GRANTS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188720"/>
            <a:ext cx="3749039" cy="25603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RESPONSIBILITY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44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813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4813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813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4813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BRD · stories · dep graph · architecture · schemas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901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" y="19385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19385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19385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Edit · Agent (spawns 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385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Implements code + tests · spawns agent team · TDD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23591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" y="23957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evaluator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3957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3957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(navigate, click, fill, snap)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3957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Runs app · 3-layer verification · structured failures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8163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28529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design-critic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8529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Opus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28529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+ Playwright MCP (resize, hover, screenshot)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28529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GAN scoring (DQ/O/C/F) · plateau pivot · 4 criteria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2735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33101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ui-designer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3101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3101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Glob · Grep · Bash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3101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React+Tailwind HTML mockups · aesthetic direction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7307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37673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test-engineer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37673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37673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Edit · Glob · Grep · Bash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0680" y="37673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Test plan · TC files · Playwright E2E · fixtures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187952"/>
            <a:ext cx="8412480" cy="402336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1480" y="4224528"/>
            <a:ext cx="14173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security-reviewer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224528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Sonnet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06040" y="4224528"/>
            <a:ext cx="2834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· Write · Grep · Glob · Bash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4224528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OWASP scan · BLOCK/WARN/INFO triage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Hooks — 15 Enforcement Layers Wired in `settings.json`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Hooks run automatically at lifecycle events. They cannot be skipped by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269748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EVENT MATCHER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97280"/>
            <a:ext cx="196596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HOOK 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097280"/>
            <a:ext cx="3657600" cy="2286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3502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35331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PreToolUse → Write|Edit|MultiEdit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35331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enforce-length-pre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35331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oversized files at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59562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159562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scope-directory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59562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Reject writes outside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81965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80" y="183794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83794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protect-env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83794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changes to .env 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08026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08026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detect-secrets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08026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Refuse hardcoded secrets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304288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2322576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2322576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lint-on-save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322576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ruff / eslint on every save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56489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256489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typecheck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56489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mypy / tsc on every save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788920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280720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280720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280720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One-way layer imports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304952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304952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check-function-length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304952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Functions ≤ 50 lines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3273552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11480" y="329184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08960" y="329184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check-file-length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29184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Files ≤ 300 lines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34156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Edit|Write|MultiEdit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3534156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923C"/>
                </a:solidFill>
                <a:latin typeface="Consolas"/>
              </a:rPr>
              <a:t>track-writes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3534156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Append to pending-reviews.jsonl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65760" y="3758184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" y="3776472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3776472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pre-commit-gate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74920" y="3776472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commit if gates fail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018788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PostToolUse → Bash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08960" y="4018788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onsolas"/>
              </a:rPr>
              <a:t>sprint-contract-gate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74920" y="4018788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Block /build until contract OK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4242816"/>
            <a:ext cx="8412480" cy="22402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1480" y="4261104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Stop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08960" y="4261104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A78BFA"/>
                </a:solidFill>
                <a:latin typeface="Consolas"/>
              </a:rPr>
              <a:t>require-review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74920" y="4261104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Force reviewer agent before turn ends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4503420"/>
            <a:ext cx="269748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onsolas"/>
              </a:rPr>
              <a:t>TaskCompleted / TeammateIdle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08960" y="4503420"/>
            <a:ext cx="196596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1">
                <a:solidFill>
                  <a:srgbClr val="FBBF24"/>
                </a:solidFill>
                <a:latin typeface="Consolas"/>
              </a:rPr>
              <a:t>task-completed · teammate-idle-check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74920" y="4503420"/>
            <a:ext cx="3657600" cy="24231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F8FAFC"/>
                </a:solidFill>
                <a:latin typeface="Calibri"/>
              </a:rPr>
              <a:t>Close + nudge stuck teammates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Templates — How Skills Use Templates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Static scaffolds in `.claude/templates/` are the authoritative shapes the harness writes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sprint-contract.json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35608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/auto, generator (proposes), evaluator (finalizes).
Defines api_checks, playwright_checks, design_checks, architecture_checks.
Becomes immutable after evaluator approves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197864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story.template.md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35608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/spec when planner expands BRD → stories.
Provides ID · layer · group · readiness · acceptance criteria · dependencies.
/improve and /fix-issue reuse the same shape.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984248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docker-compose.template.yml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21992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/deploy. Token-replaced for backend, frontend, db, evaluator network.
Health check endpoints + service ordering match verification.health_check.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929384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984248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init-sh.template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221992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/scaffold and /deploy. Placeholders {{BACKEND_INSTALL}} etc. are
filled from project-manifest presets (uv vs npm, Docker vs local).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770632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playwright.config.template.ts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008376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/test and test-engineer agent. baseURL · testDir · timeouts.
Becomes e2e/ root config the evaluator's Playwright MCP runs against.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715768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770632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features-template.json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008376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Schema for root features.json — every acceptance criterion becomes one entry
(passes, last_evaluated, failure_reason, failure_layer).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3502152"/>
            <a:ext cx="40690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51760" y="3557016"/>
            <a:ext cx="37947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Consolas"/>
              </a:rPr>
              <a:t>context.template.md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794760"/>
            <a:ext cx="37947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Read by /brownfield when a domain glossary is warranted. Keeps domain
terms close to code without bloating CLAUDE.md.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End-to-End SDLC Pipeline — 9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Phase 0 (brownfield) is new. /build orchestrates phases 1-8 with human gates on 1-3; /auto runs phases 4-7 as a self-healing per-group loop.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04088" y="137160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Map
Existing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if greenfield, skip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416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636776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36776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/brd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Socratic
Interview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7685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569464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9464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76856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2576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Stories +
Dep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856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954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502152" y="137160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02152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9544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923C"/>
                </a:solidFill>
                <a:latin typeface="Consolas"/>
              </a:rPr>
              <a:t>/design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55264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Architecture
&amp; Mockups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9544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human gate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42232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434840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34840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2232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/implement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2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Agent Team
Execution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42232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by dep group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74920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367528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67528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20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/evaluate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3-Layer
Verification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74920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API+UI+Vision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07608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300216" y="137160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0216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7608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4ADE80"/>
                </a:solidFill>
                <a:latin typeface="Consolas"/>
              </a:rPr>
              <a:t>/review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53328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Security
+ Sprint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07608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OWASP scan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940296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232904" y="137160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232904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0296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A78BFA"/>
                </a:solidFill>
                <a:latin typeface="Consolas"/>
              </a:rPr>
              <a:t>/test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86016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Plan +
E2E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0296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Playwright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72984" y="128016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165592" y="137160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165592" y="137160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4" y="1783080"/>
            <a:ext cx="9144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FBBF24"/>
                </a:solidFill>
                <a:latin typeface="Consolas"/>
              </a:rPr>
              <a:t>/deploy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18704" y="2103120"/>
            <a:ext cx="8229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900" b="0">
                <a:solidFill>
                  <a:srgbClr val="F8FAFC"/>
                </a:solidFill>
                <a:latin typeface="Calibri"/>
              </a:rPr>
              <a:t>Docker +
init.sh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72984" y="2880360"/>
            <a:ext cx="914400" cy="32918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compose stack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352044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  <a:latin typeface="Calibri"/>
              </a:rPr>
              <a:t>Greenfield path: /</a:t>
            </a:r>
            <a:r>
              <a:rPr sz="1100" b="0" dirty="0" err="1">
                <a:solidFill>
                  <a:srgbClr val="CBD5E1"/>
                </a:solidFill>
                <a:latin typeface="Calibri"/>
              </a:rPr>
              <a:t>brd</a:t>
            </a:r>
            <a:r>
              <a:rPr sz="1100" b="0" dirty="0">
                <a:solidFill>
                  <a:srgbClr val="CBD5E1"/>
                </a:solidFill>
                <a:latin typeface="Calibri"/>
              </a:rPr>
              <a:t> → /spec → /design → /auto. /auto loops phases 4-7 (implement → evaluate → review → test) per dependency group with self-healing (max 50 iterations). /implement, /evaluate, /review, /test are also available as manual per-phase handles.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3910511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 dirty="0">
                <a:solidFill>
                  <a:srgbClr val="CBD5E1"/>
                </a:solidFill>
                <a:latin typeface="Calibri"/>
              </a:rPr>
              <a:t>/lite is the compressed greenfield lane for small projects (CLI / library / single-script). /vibe is for tiny safe changes. /improve, /refactor, /fix-issue re-enter the pipeline at /spec or /implement.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Lane Selection — /lite, /brownfield, /vibe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Three pre-pipeline lanes to match ceremony to scope: small new builds, existing code maps, tiny safe edits.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3756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</a:rPr>
              <a:t>/brownfield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242316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Before substantial planning, refactor, or feature work in any existing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2402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Outputs (specs/brownfield/)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14600"/>
            <a:ext cx="242316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codebase-map.md   languages, entry points, services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architecture-map.md  modules, layers, data 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test-map.md  commands, coverage signals, gaps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risk-map.md  auth, billing, migrations, fragile zones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change-strategy.md  recommended lane for future work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CONTEXT.md  domain glossary (only if meaningful)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FB923C"/>
                </a:solidFill>
                <a:latin typeface="Consolas"/>
              </a:rPr>
              <a:t>/vibe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Eligibility (all must hold)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Change describable in one sentence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≤ 3 files, &lt; 150 lines diff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new product workflow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Doesn't alter auth, privacy, billing, migrations, public API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Verifiable with a targeted command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Rollback is simple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4612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520440"/>
            <a:ext cx="242316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Classify (CV0/CV1/CV2) → micro-contract → inspect → TDD if behavior → narrow edit → targeted verify → reviewer hook</a:t>
            </a:r>
          </a:p>
        </p:txBody>
      </p:sp>
      <p:sp>
        <p:nvSpPr>
          <p:cNvPr id="20" name="Rounded Rectangle 11"/>
          <p:cNvSpPr/>
          <p:nvPr/>
        </p:nvSpPr>
        <p:spPr>
          <a:xfrm>
            <a:off x="411480" y="114300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2"/>
          <p:cNvSpPr txBox="1"/>
          <p:nvPr/>
        </p:nvSpPr>
        <p:spPr>
          <a:xfrm>
            <a:off x="548640" y="1207008"/>
            <a:ext cx="24231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FB923C"/>
                </a:solidFill>
                <a:latin typeface="Consolas"/>
              </a:rPr>
              <a:t>/lite</a:t>
            </a:r>
          </a:p>
        </p:txBody>
      </p:sp>
      <p:sp>
        <p:nvSpPr>
          <p:cNvPr id="22" name="TextBox 13"/>
          <p:cNvSpPr txBox="1"/>
          <p:nvPr/>
        </p:nvSpPr>
        <p:spPr>
          <a:xfrm>
            <a:off x="548640" y="155448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Eligibility (all must hold)</a:t>
            </a:r>
          </a:p>
        </p:txBody>
      </p:sp>
      <p:sp>
        <p:nvSpPr>
          <p:cNvPr id="23" name="TextBox 14"/>
          <p:cNvSpPr txBox="1"/>
          <p:nvPr/>
        </p:nvSpPr>
        <p:spPr>
          <a:xfrm>
            <a:off x="548640" y="1828800"/>
            <a:ext cx="24231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≤ 5 stories, single group A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Single language/runtime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One module — no microservices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DB migrations, auth, billing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No real-time/streaming infra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CBD5E1"/>
                </a:solidFill>
                <a:latin typeface="Calibri"/>
              </a:rPr>
              <a:t>▸ CLI, library, or single-script</a:t>
            </a:r>
          </a:p>
        </p:txBody>
      </p:sp>
      <p:sp>
        <p:nvSpPr>
          <p:cNvPr id="24" name="TextBox 15"/>
          <p:cNvSpPr txBox="1"/>
          <p:nvPr/>
        </p:nvSpPr>
        <p:spPr>
          <a:xfrm>
            <a:off x="548640" y="3246120"/>
            <a:ext cx="2423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Workflow</a:t>
            </a:r>
          </a:p>
        </p:txBody>
      </p:sp>
      <p:sp>
        <p:nvSpPr>
          <p:cNvPr id="25" name="TextBox 16"/>
          <p:cNvSpPr txBox="1"/>
          <p:nvPr/>
        </p:nvSpPr>
        <p:spPr>
          <a:xfrm>
            <a:off x="548640" y="3520440"/>
            <a:ext cx="242316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5-question interview → BRD-lite (≤ 50 lines) → 3-5 stories (group A) → minimal design → /auto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Karpathy's Ratchet — Monotonic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Once a metric passes, it can never regress. Quality only moves forward.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Unit Tests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pytest / vitest exit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3756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Lint + Types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ruff / mypy / tsc exit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126480" y="123444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123444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Coverage ≥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64592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Floor 80%, never drops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210312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All modes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4864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Architecture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Layer imports + schema check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3756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1363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Evaluator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API + Playwright vs running 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/ Lean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2651760"/>
            <a:ext cx="26974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126480" y="2743200"/>
            <a:ext cx="502920" cy="292608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G6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2552" y="2743200"/>
            <a:ext cx="1828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Design Critic 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912" y="3154680"/>
            <a:ext cx="23682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Vision scoring (4 criteria)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36118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900" b="1">
                <a:solidFill>
                  <a:srgbClr val="38BDF8"/>
                </a:solidFill>
                <a:latin typeface="Calibri"/>
              </a:rPr>
              <a:t>Full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160520"/>
            <a:ext cx="8321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Turbo mode (Opus 4.6+) collapses gates 4-6 to a single end-of-build run; gates 1-3 still fire per commit.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Self-Healing on Gate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Max 3 attempts per gate. Each attempt uses a different fix strategy.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1560" y="1234440"/>
            <a:ext cx="329184" cy="32918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Calibri"/>
              </a:rPr>
              <a:t>Diagnose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Read structured
failure JSON +
superpowers:
systematic-debugging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15768" y="1234440"/>
            <a:ext cx="329184" cy="32918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15768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B923C"/>
                </a:solidFill>
                <a:latin typeface="Calibri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10 categories:
lint · type · import
key · timeout ·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9896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79976" y="1234440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79976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9896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4ADE80"/>
                </a:solidFill>
                <a:latin typeface="Calibri"/>
              </a:rPr>
              <a:t>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1336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Targeted strategy
(must differ from
prior attempts)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04104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44184" y="1234440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44184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4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A78BFA"/>
                </a:solidFill>
                <a:latin typeface="Calibri"/>
              </a:rPr>
              <a:t>Re-Run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4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Only the failed
gate re-executes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68312" y="1143000"/>
            <a:ext cx="16002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08392" y="123444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08392" y="1234440"/>
            <a:ext cx="329184" cy="32918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1645920"/>
            <a:ext cx="16002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BBF24"/>
                </a:solidFill>
                <a:latin typeface="Calibri"/>
              </a:rPr>
              <a:t>Pass / Escalate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1965960"/>
            <a:ext cx="141732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CBD5E1"/>
                </a:solidFill>
                <a:latin typeface="Calibri"/>
              </a:rPr>
              <a:t>3rd fail: revert,
log, extract rule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017520"/>
            <a:ext cx="8321040" cy="160020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108960"/>
            <a:ext cx="8138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10 Failure Categories — each maps to a distinct auto-fix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lint_format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6272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type_error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03904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import_error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31536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key_error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168" y="34564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timeout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connection_refused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76272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validation_error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03904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assertion_error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31536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api_transient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59168" y="39136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9144" rIns="36576" bIns="9144" rtlCol="0" anchor="ctr"/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api_permanent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Continuous Learning — Institutional 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Failures become learned rules. Knowledge compounds across sessions.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5720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Failure-Driven Learning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42976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1. Agent encounters failure during build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2. Failure logged to .claude/state/failures.md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3. Same error type appears 2+ times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4. Learned rule extracted automatically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5. Rule appended to learned-rules.md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6. Rule injected verbatim into ALL future agent prompts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CBD5E1"/>
                </a:solidFill>
                <a:latin typeface="Calibri"/>
              </a:rPr>
              <a:t>7. Prevents regression across sessions, agents,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1143000"/>
            <a:ext cx="3657600" cy="34747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207008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Learned Rule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60020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Source       </a:t>
            </a:r>
            <a:r>
              <a:rPr sz="1000">
                <a:solidFill>
                  <a:srgbClr val="CBD5E1"/>
                </a:solidFill>
                <a:latin typeface="Calibri"/>
              </a:rPr>
              <a:t>Group · Story · Iteration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Impact       </a:t>
            </a:r>
            <a:r>
              <a:rPr sz="1000">
                <a:solidFill>
                  <a:srgbClr val="CBD5E1"/>
                </a:solidFill>
                <a:latin typeface="Calibri"/>
              </a:rPr>
              <a:t>Quantified damage metric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Pattern      </a:t>
            </a:r>
            <a:r>
              <a:rPr sz="1000">
                <a:solidFill>
                  <a:srgbClr val="CBD5E1"/>
                </a:solidFill>
                <a:latin typeface="Calibri"/>
              </a:rPr>
              <a:t>Repeated error signature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Mistake      </a:t>
            </a:r>
            <a:r>
              <a:rPr sz="1000">
                <a:solidFill>
                  <a:srgbClr val="CBD5E1"/>
                </a:solidFill>
                <a:latin typeface="Calibri"/>
              </a:rPr>
              <a:t>What happened, why it failed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Anti-Pattern </a:t>
            </a:r>
            <a:r>
              <a:rPr sz="1000">
                <a:solidFill>
                  <a:srgbClr val="CBD5E1"/>
                </a:solidFill>
                <a:latin typeface="Calibri"/>
              </a:rPr>
              <a:t>Bad code example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Better       </a:t>
            </a:r>
            <a:r>
              <a:rPr sz="1000">
                <a:solidFill>
                  <a:srgbClr val="CBD5E1"/>
                </a:solidFill>
                <a:latin typeface="Calibri"/>
              </a:rPr>
              <a:t>Correct pattern (with code)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Rule         </a:t>
            </a:r>
            <a:r>
              <a:rPr sz="1000">
                <a:solidFill>
                  <a:srgbClr val="CBD5E1"/>
                </a:solidFill>
                <a:latin typeface="Calibri"/>
              </a:rPr>
              <a:t>Concrete instruction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8FAFC"/>
                </a:solidFill>
                <a:latin typeface="Consolas"/>
              </a:rPr>
              <a:t>Applied in   </a:t>
            </a:r>
            <a:r>
              <a:rPr sz="1000">
                <a:solidFill>
                  <a:srgbClr val="CBD5E1"/>
                </a:solidFill>
                <a:latin typeface="Calibri"/>
              </a:rPr>
              <a:t>Agents/skills required to follow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GAN-Inspired Generator vs Evaluator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Structural separation eliminates self-evaluation bias. Neither agent can do the other's job.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Generator (Sonnet)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Propose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TDD: write failing tests first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Implement code to pass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Spawn agent team (phased DAG)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Self-heal on failure (max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Hand off to evaluator — never 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06040"/>
            <a:ext cx="365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FB923C"/>
                </a:solidFill>
                <a:latin typeface="Calibri"/>
              </a:rPr>
              <a:t>VS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188720"/>
            <a:ext cx="393192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2801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Evaluator (Opus)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91640"/>
            <a:ext cx="36576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1. Finalize sprint contract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2. Start app (Docker / local / stub)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3. Layer 1: curl API endpoints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4. Layer 2: Playwright UI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5. Layer 3: design-critic vision scoring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BD5E1"/>
                </a:solidFill>
                <a:latin typeface="Calibri"/>
              </a:rPr>
              <a:t>6. Emit structured failures, never 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Three-Layer Evaluation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Evaluator never reads source code — only runs the app and checks observable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38BDF8"/>
                </a:solidFill>
                <a:latin typeface="Calibri"/>
              </a:rPr>
              <a:t>Layer 1 ·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curl + jsonschema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backend logic, schema mismatches, error handling, status codes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6499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FB923C"/>
                </a:solidFill>
                <a:latin typeface="Calibri"/>
              </a:rPr>
              <a:t>Layer 2 · Playwright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Semantic selectors
(role, label, text, testid)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frontend bugs, broken forms, dead buttons, missing flows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143000"/>
            <a:ext cx="26974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53912" y="1280160"/>
            <a:ext cx="23682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A78BFA"/>
                </a:solidFill>
                <a:latin typeface="Calibri"/>
              </a:rPr>
              <a:t>Layer 3 · 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737360"/>
            <a:ext cx="2368296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F8FAFC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3912" y="1984248"/>
            <a:ext cx="2368296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design-critic agent
(Opus + screenshots)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912" y="2834640"/>
            <a:ext cx="2368296" cy="1508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Catches:
generic templates, poor spacing, weak typography, low originality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Design-Critic GAN Scoring (Full Mode)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Score = (DQ × 1.5  +  O × 1.5  +  C × 0.75  +  F × 0.75)  /  4.5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307592"/>
            <a:ext cx="502920" cy="50292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1.5×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Design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Visual coherence, color palette, layout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97480" y="1307592"/>
            <a:ext cx="502920" cy="50292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1.5×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Originality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919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Custom vs template defaults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800600" y="1307592"/>
            <a:ext cx="502920" cy="50292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0060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0.75×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Craft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Typography, spacing, alignment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1143000"/>
            <a:ext cx="201168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903720" y="1307592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1307592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132588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0.75×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1600200"/>
            <a:ext cx="1097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Functionality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2011680"/>
            <a:ext cx="1682496" cy="9601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User can understand and complete tasks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3337560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Pass conditions (BOTH required)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611880"/>
            <a:ext cx="3840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1. Weighted average ≥ 7.0  (calibration-profile.json)
2. ALL four individual scores ≥ 5.0 minimum
A high weighted average cannot mask a weak criterion.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32461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0" y="3337560"/>
            <a:ext cx="384048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Plateau 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80"/>
            <a:ext cx="384048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If scores plateau across N iterations, the system forces a fundamental design pivot — new palette, layout, and typography pairing. Max 10 iterations (configurable).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Session Chaining — Multi-Context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Long builds survive context window limits through append-only state 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48640" y="1280160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30759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program.md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0759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Constraints, steering directives — humans edit mid-run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73736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48640" y="1828800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82880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85623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learned-rules.md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185623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Institutional memory — injected verbatim into all agent prompts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28600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237744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40487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claude-progress.txt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40487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Current group, completed groups, next action, coverage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3464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48640" y="2926080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95351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features.json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295351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Pass/fail state for all features with failure layer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38328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48640" y="347472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47472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50215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dependency-graph.md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50215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Pick next unfinished group in sequence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31920"/>
            <a:ext cx="8321040" cy="50292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48640" y="4023360"/>
            <a:ext cx="310896" cy="310896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02336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050792"/>
            <a:ext cx="242316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87171"/>
                </a:solidFill>
                <a:latin typeface="Consolas"/>
              </a:rPr>
              <a:t>iteration-log.md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4050792"/>
            <a:ext cx="521208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Append-only history of evaluator verdicts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Recovery cost: ~700-1000 tokens. Negligible vs context window.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Four Execution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Pick the mode that matches stakes and budget. /auto and /build accept --mode.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Calibri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$100-300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All 6 gates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Complex, high-stakes apps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1460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FB923C"/>
                </a:solidFill>
                <a:latin typeface="Calibri"/>
              </a:rPr>
              <a:t>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1-5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Backend-heavy, internal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4ADE80"/>
                </a:solidFill>
                <a:latin typeface="Calibri"/>
              </a:rPr>
              <a:t>Solo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$5-15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Gates 1-3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None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Bug fixes, small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1143000"/>
            <a:ext cx="2011680" cy="3246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0840" y="128016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1">
                <a:solidFill>
                  <a:srgbClr val="A78BFA"/>
                </a:solidFill>
                <a:latin typeface="Calibri"/>
              </a:rPr>
              <a:t>Turbo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73736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  <a:latin typeface="Calibri"/>
              </a:rPr>
              <a:t>$30-50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2" y="2148840"/>
            <a:ext cx="1682496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Gates
</a:t>
            </a:r>
            <a:r>
              <a:rPr sz="1100">
                <a:solidFill>
                  <a:srgbClr val="F8FAFC"/>
                </a:solidFill>
                <a:latin typeface="Calibri"/>
              </a:rPr>
              <a:t>1-3 per cmt + 4-6 once at end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Teams
</a:t>
            </a:r>
            <a:r>
              <a:rPr sz="1100">
                <a:solidFill>
                  <a:srgbClr val="F8FAFC"/>
                </a:solidFill>
                <a:latin typeface="Calibri"/>
              </a:rPr>
              <a:t>Phased (single contract)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Calibri"/>
              </a:rPr>
              <a:t>Use
</a:t>
            </a:r>
            <a:r>
              <a:rPr sz="1100">
                <a:solidFill>
                  <a:srgbClr val="F8FAFC"/>
                </a:solidFill>
                <a:latin typeface="Calibri"/>
              </a:rPr>
              <a:t>Highly capable model + well-spec'd build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Superpowers Integration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harness invokes superpowers:* skills at five named pipeline stages.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606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HARNESS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1887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SUPERPOWER 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188720"/>
            <a:ext cx="33832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PURPOSE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609344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onsolas"/>
              </a:rPr>
              <a:t>/brd · /design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9344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brainstorming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09344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Explore alternatives before committing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48256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176272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onsolas"/>
              </a:rPr>
              <a:t>/implement · /refactor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176272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writing-plans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176272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Structured plans before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615184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743200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onsolas"/>
              </a:rPr>
              <a:t>/implement (teammates)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743200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test-driven-development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743200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Red-green-refactor in every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182112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310128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onsolas"/>
              </a:rPr>
              <a:t>/fix-issue · /auto heal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310128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systematic-debugging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310128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Root cause analysis before fixing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40"/>
            <a:ext cx="8412480" cy="53035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877056"/>
            <a:ext cx="260604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onsolas"/>
              </a:rPr>
              <a:t>/auto (done) · evaluator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877056"/>
            <a:ext cx="233172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onsolas"/>
              </a:rPr>
              <a:t>verification-before-completion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3877056"/>
            <a:ext cx="3383280" cy="56692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Evidence before claiming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Plugin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8 official plugins enabled in settings.json — complementary, never conflicting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280160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superpowers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572768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brainstorming · writing-plans · TDD · debugging ·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188720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28032" y="1280160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1572768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Multi-agent PR review with confidence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112264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onsolas"/>
              </a:rPr>
              <a:t>commit-commands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404872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/commit · /commit-push-pr git workflows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020824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8032" y="2112264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onsolas"/>
              </a:rPr>
              <a:t>security-guidance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2404872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Edit-time security pattern checking (XSS, eval, raw HTML)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72" y="2944368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onsolas"/>
              </a:rPr>
              <a:t>pr-review-toolkit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236976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Specialized PR agents (comments, tests, errors, types)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852928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28032" y="2944368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87171"/>
                </a:solidFill>
                <a:latin typeface="Consolas"/>
              </a:rPr>
              <a:t>frontend-design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2" y="3236976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Aesthetic-direction skill used by ui-designer + frontend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6072" y="3776472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onsolas"/>
              </a:rPr>
              <a:t>context7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4069080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MCP for up-to-date library/docs lookup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3685032"/>
            <a:ext cx="406908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28032" y="3776472"/>
            <a:ext cx="3739896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onsolas"/>
              </a:rPr>
              <a:t>code-simplifier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4069080"/>
            <a:ext cx="3739896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/simplify skill used during /refactor for cleanup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526280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Excluded by design: feature-dev (overlaps SDLC pipeline), hookify (would interfere with purpose-built hooks).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Agile Pod vs Agentic Pod — Team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Same outcome, very different cast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Traditional Agile Pod  ·  6-10 people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System design, tech decisions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Frontend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UI/UX implementation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Backend Developer  </a:t>
            </a:r>
            <a:r>
              <a:rPr sz="1100">
                <a:solidFill>
                  <a:srgbClr val="CBD5E1"/>
                </a:solidFill>
                <a:latin typeface="Calibri"/>
              </a:rPr>
              <a:t>(2-3) — APIs, services, data layer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100">
                <a:solidFill>
                  <a:srgbClr val="CBD5E1"/>
                </a:solidFill>
                <a:latin typeface="Calibri"/>
              </a:rPr>
              <a:t>(1) — Requirements, acceptance criteria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QA Engineer  </a:t>
            </a:r>
            <a:r>
              <a:rPr sz="1100">
                <a:solidFill>
                  <a:srgbClr val="CBD5E1"/>
                </a:solidFill>
                <a:latin typeface="Calibri"/>
              </a:rPr>
              <a:t>(1-2) — Test plans, manual + automated testing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Scrum Master  </a:t>
            </a:r>
            <a:r>
              <a:rPr sz="1100">
                <a:solidFill>
                  <a:srgbClr val="CBD5E1"/>
                </a:solidFill>
                <a:latin typeface="Calibri"/>
              </a:rPr>
              <a:t>(1) — Sprint ceremonies, impediment removal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43000"/>
            <a:ext cx="4114800" cy="34747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07008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Agentic Pod  ·  3-4 people + 7 AI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27632"/>
            <a:ext cx="3840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Engineer (Full-Stack)  </a:t>
            </a:r>
            <a:r>
              <a:rPr sz="1000">
                <a:solidFill>
                  <a:srgbClr val="CBD5E1"/>
                </a:solidFill>
                <a:latin typeface="Calibri"/>
              </a:rPr>
              <a:t>Reviews + steers /auto via program.md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Business Analyst  </a:t>
            </a:r>
            <a:r>
              <a:rPr sz="1000">
                <a:solidFill>
                  <a:srgbClr val="CBD5E1"/>
                </a:solidFill>
                <a:latin typeface="Calibri"/>
              </a:rPr>
              <a:t>Owns BRD — the highest-leverage role now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38BDF8"/>
                </a:solidFill>
                <a:latin typeface="Consolas"/>
              </a:rPr>
              <a:t>[HUMAN] </a:t>
            </a:r>
            <a:r>
              <a:rPr sz="1100" b="1">
                <a:solidFill>
                  <a:srgbClr val="F8FAFC"/>
                </a:solidFill>
                <a:latin typeface="Calibri"/>
              </a:rPr>
              <a:t>Solutions Architect  </a:t>
            </a:r>
            <a:r>
              <a:rPr sz="1000">
                <a:solidFill>
                  <a:srgbClr val="CBD5E1"/>
                </a:solidFill>
                <a:latin typeface="Calibri"/>
              </a:rPr>
              <a:t>Design phase + lane selection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planner / generator  </a:t>
            </a:r>
            <a:r>
              <a:rPr sz="1000">
                <a:solidFill>
                  <a:srgbClr val="CBD5E1"/>
                </a:solidFill>
                <a:latin typeface="Calibri"/>
              </a:rPr>
              <a:t>BRD/specs · code + tests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evaluator / design-critic  </a:t>
            </a:r>
            <a:r>
              <a:rPr sz="1000">
                <a:solidFill>
                  <a:srgbClr val="CBD5E1"/>
                </a:solidFill>
                <a:latin typeface="Calibri"/>
              </a:rPr>
              <a:t>Verification (3-layer + vision)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FB923C"/>
                </a:solidFill>
                <a:latin typeface="Consolas"/>
              </a:rPr>
              <a:t>[AGENT] </a:t>
            </a:r>
            <a:r>
              <a:rPr sz="1100" b="1">
                <a:solidFill>
                  <a:srgbClr val="F8FAFC"/>
                </a:solidFill>
                <a:latin typeface="Calibri"/>
              </a:rPr>
              <a:t>test-engineer / security-reviewer / ui-designer  </a:t>
            </a:r>
            <a:r>
              <a:rPr sz="1000">
                <a:solidFill>
                  <a:srgbClr val="CBD5E1"/>
                </a:solidFill>
                <a:latin typeface="Calibri"/>
              </a:rPr>
              <a:t>Specialist subagents on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How the Agentic Pod Changes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Side-by-side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20116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188720"/>
            <a:ext cx="3108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TRADITIONAL AGILE POD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188720"/>
            <a:ext cx="3200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Calibri"/>
              </a:rPr>
              <a:t>AGENTIC POD + HARNESS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8132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Team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72768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6-10 people (dedicated)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32120" y="1572768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3-4 people + 7 AI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0195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1993392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Frontend/Backend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1993392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Separate devs, handoff overhead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993392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One agent generates both, TDD-first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22576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414016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QA 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414016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Manual + automated by QA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414016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3-layer eval: API + Playwright + Vision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2743200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2834640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Code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2834640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Peer review, async, delays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834640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GAN evaluator + security reviewer (real-time)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163824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3255264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Requirements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255264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Important but recoverable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3255264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Critical — drives entire autonomous pipeline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584448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3675888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Sprint Velocity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3675888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Story points per sprint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675888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Stories per ratchet iteration (10-50×)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05072"/>
            <a:ext cx="8412480" cy="38404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4096512"/>
            <a:ext cx="201168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Quality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096512"/>
            <a:ext cx="310896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PR reviews, CI checks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096512"/>
            <a:ext cx="3200400" cy="420624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F8FAFC"/>
                </a:solidFill>
                <a:latin typeface="Calibri"/>
              </a:rPr>
              <a:t>15 hooks + 6 ratchet gates on every edit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Case Study — PE Document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Built with Claude Harness Engine — Private Equity LPA / Subscription Document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38BDF8"/>
                </a:solidFill>
                <a:latin typeface="Calibri"/>
              </a:rPr>
              <a:t>128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Features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1460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FB923C"/>
                </a:solidFill>
                <a:latin typeface="Calibri"/>
              </a:rPr>
              <a:t>511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Automated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4ADE80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Code Coverage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143000"/>
            <a:ext cx="201168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20840" y="1280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400" b="1">
                <a:solidFill>
                  <a:srgbClr val="A78BFA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0116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8FAFC"/>
                </a:solidFill>
                <a:latin typeface="Calibri"/>
              </a:rPr>
              <a:t>Epics across 6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743200"/>
            <a:ext cx="8321040" cy="1874519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81381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54680"/>
            <a:ext cx="8138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Frontend   </a:t>
            </a:r>
            <a:r>
              <a:rPr sz="1100">
                <a:solidFill>
                  <a:srgbClr val="CBD5E1"/>
                </a:solidFill>
                <a:latin typeface="Calibri"/>
              </a:rPr>
              <a:t>React 19 · Vite · TypeScript · Tailwind CSS 4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Backend    </a:t>
            </a:r>
            <a:r>
              <a:rPr sz="1100">
                <a:solidFill>
                  <a:srgbClr val="CBD5E1"/>
                </a:solidFill>
                <a:latin typeface="Calibri"/>
              </a:rPr>
              <a:t>Python 3.13 · FastAPI · SQLAlchemy 2.0 (async)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Agents     </a:t>
            </a:r>
            <a:r>
              <a:rPr sz="1100">
                <a:solidFill>
                  <a:srgbClr val="CBD5E1"/>
                </a:solidFill>
                <a:latin typeface="Calibri"/>
              </a:rPr>
              <a:t>DeepAgents 0.4.12 (LangGraph) + 5 subagents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LLM        </a:t>
            </a:r>
            <a:r>
              <a:rPr sz="1100">
                <a:solidFill>
                  <a:srgbClr val="CBD5E1"/>
                </a:solidFill>
                <a:latin typeface="Calibri"/>
              </a:rPr>
              <a:t>OpenAI GPT-5.4-mini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onsolas"/>
              </a:rPr>
              <a:t>Database   </a:t>
            </a:r>
            <a:r>
              <a:rPr sz="1100">
                <a:solidFill>
                  <a:srgbClr val="CBD5E1"/>
                </a:solidFill>
                <a:latin typeface="Calibri"/>
              </a:rPr>
              <a:t>PostgreSQL 16 + Weaviate (hybrid vector search)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Lesson Learned — Requirements Are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The scaffolding is only as good as the inputs it receives.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Well-Written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Clear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Comprehensive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Detailed Stories + Dep Graph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Autonomous /auto Build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4ADE80"/>
                </a:solidFill>
                <a:latin typeface="Calibri"/>
              </a:rPr>
              <a:t>→ 128 features  ·  97%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4114800" cy="3108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Vague or Incomplete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69164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Vague Requirements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Shallow BRD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Incomplete Spec + Stories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F8FAFC"/>
                </a:solidFill>
                <a:latin typeface="Calibri"/>
              </a:rPr>
              <a:t>▸ /auto stalls or misbuilds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87171"/>
                </a:solidFill>
                <a:latin typeface="Calibri"/>
              </a:rPr>
              <a:t>→ Fallback to /vibe coding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343400"/>
            <a:ext cx="8321040" cy="384048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4370832"/>
            <a:ext cx="81381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Takeaway: Invest in the BRD. The BA / Architect role becomes the highest-leverage position in an agentic pod.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1261872"/>
            <a:ext cx="310896" cy="31089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88720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GAN separation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26464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Eliminates self-evaluation bias — the single biggest failure mode in agentic builds.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810512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48640" y="1975104"/>
            <a:ext cx="310896" cy="31089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975104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01952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Karpathy ratchet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39696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Guarantees monotonic progress — every commit makes the system strictly better.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523744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48640" y="26883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688336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615184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Skills-as-commands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52928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One real `/scaffold` command bootstraps a runtime where 25 skills act as virtual commands. Keeps context cheap and discovery progressive.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36976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8640" y="3401568"/>
            <a:ext cx="310896" cy="31089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3401568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328416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Brownfield + Vibe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566160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Two new lanes in v1.1.4 make the harness adaptable to real codebases and tiny safe edits, without bypassing the ratchet.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950208"/>
            <a:ext cx="8321040" cy="640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48640" y="4114800"/>
            <a:ext cx="310896" cy="310896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4114800"/>
            <a:ext cx="310896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041648"/>
            <a:ext cx="7589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BBF24"/>
                </a:solidFill>
                <a:latin typeface="Calibri"/>
              </a:rPr>
              <a:t>Requirements quality is the bottleneck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279392"/>
            <a:ext cx="7589520" cy="31089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An agentic pod of 3-4 people + 7 AI agents can outpace a 10-person agile team — but only if the BRD is rigorous.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4736592"/>
            <a:ext cx="83210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Calibri"/>
              </a:rPr>
              <a:t>Claude Harness Engine v1.1.4  —  Autonomous SDLC for the Age of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v1.1.4   ·   Autonomous SDLC for Agentic Software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Agent Factory: Tracker-Orchestrated Claude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The optional flow keeps the scaffold local-first while letting Linear/Jira schedule independent story clusters.</a:t>
            </a:r>
          </a:p>
        </p:txBody>
      </p:sp>
      <p:pic>
        <p:nvPicPr>
          <p:cNvPr id="4" name="Picture 3" descr="symphony_c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492" y="1097280"/>
            <a:ext cx="5999016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11480" y="4434840"/>
            <a:ext cx="8321040" cy="320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00" b="1">
                <a:solidFill>
                  <a:srgbClr val="0F172A"/>
                </a:solidFill>
              </a:defRPr>
            </a:pPr>
            <a:r>
              <a:t>Default path remains local-only. Tracker mode mirrors approved harness groups to Linear/Jira, then symphony_clone schedules eligible groups.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How symphony_clone Spins Up Claude Code Workspaces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One orchestrator process creates isolated agent runs from tracker-ready dependency groups.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062990"/>
            <a:ext cx="1179576" cy="2057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1. Read config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.env supplies Linear, GitHub, repo, labels, states, retry policy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5676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817370" y="1062990"/>
            <a:ext cx="1179576" cy="20574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2. Monitor tracker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Poll Linear project for Ready + label and running states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9694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57550" y="1062990"/>
            <a:ext cx="1179576" cy="2057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3. Pick cluster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Filter blockers using dependency links and terminal states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712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697730" y="1062990"/>
            <a:ext cx="1179576" cy="20574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4. Claim work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Move issue to In Progress and add claim comment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77306" y="2057400"/>
            <a:ext cx="260603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37909" y="1062990"/>
            <a:ext cx="1179576" cy="2057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5. Launch Claude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Clone repo, create agent/&lt;key&gt;, run claude --print prompt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7486" y="2057400"/>
            <a:ext cx="260604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78090" y="1062990"/>
            <a:ext cx="1179576" cy="205740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6. Deliver proof</a:t>
            </a:r>
          </a:p>
          <a:p>
            <a:pPr>
              <a:spcBef>
                <a:spcPts val="200"/>
              </a:spcBef>
              <a:defRPr sz="689">
                <a:solidFill>
                  <a:srgbClr val="334155"/>
                </a:solidFill>
              </a:defRPr>
            </a:pPr>
            <a:r>
              <a:t>Read result.json, push branch, open PR, comment, move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00450"/>
            <a:ext cx="2331720" cy="58293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Instance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t>Each Linear issue maps to one workspace under WORKSPACE_ROOT/&lt;issue-key&gt;.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4710" y="3600450"/>
            <a:ext cx="2331720" cy="58293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Agent team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t>Inside the workspace, /auto --group A creates story-level teammates and verifier loops.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3620" y="3600450"/>
            <a:ext cx="2331720" cy="58293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Delivery boundary</a:t>
            </a:r>
          </a:p>
          <a:p>
            <a:pPr>
              <a:spcBef>
                <a:spcPts val="200"/>
              </a:spcBef>
              <a:defRPr sz="750">
                <a:solidFill>
                  <a:srgbClr val="334155"/>
                </a:solidFill>
              </a:defRPr>
            </a:pPr>
            <a:r>
              <a:t>The orchestrator can create PRs, but humans still review, merge, and mark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Packaging Contract: What Gets Copied vs What Runs Outside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The scaffold defines the work contract; symphony_clone consumes it as infrastructure.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062990"/>
            <a:ext cx="1885950" cy="32232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Scaffolded target repo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.claude/ skills, agents, hooks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CLAUDE.md + design.md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specs/stories + dependency graph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features.json + component-map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tracker-config only if enabled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7460" y="1062990"/>
            <a:ext cx="1885950" cy="32232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Tracker system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Linear/Jira group issues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ready label + workflow state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blocker relationships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proof comments + PR links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Human Review visible queue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97730" y="1062990"/>
            <a:ext cx="1885950" cy="32232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symphony_clone runtime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Docker or local Node process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StateStore + JSONL logs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Linear state alias mapping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retry/backoff scheduler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ClaudeRunner + WorkspaceManager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062990"/>
            <a:ext cx="1885950" cy="32232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Delivery repo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agent/&lt;issue-key&gt; branch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GitHub pull request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result.json proof contract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review reports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human merge decision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60270" y="2688336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20540" y="2688336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80810" y="2688336"/>
            <a:ext cx="308609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20090" y="4423410"/>
            <a:ext cx="7715250" cy="24003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Key rule: symphony_clone/ is versioned with the harness repo, but /scaffold does not copy it into applications.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Agent Factory Hardening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The orchestrator is deliberately boring infrastructure: deterministic state, visible logs, safe retries, explicit review gates.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5770" y="994410"/>
            <a:ext cx="2571750" cy="312039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Retry policy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MAX_RETRY_ATTEMPTS controls final block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Exponential backoff: base * 2^(attempt-1)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Failures stay retry_wait until due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Tracker is moved to blocked only after exhaustion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994410"/>
            <a:ext cx="2571750" cy="312039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Workspace state mapping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READY_STATE + READY_LABEL gate dispatch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REVIEW_STATE_CANDIDATES handles Linear variants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BLOCKED_STATE_CANDIDATES avoids brittle workflows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Terminal blocker states prevent premature clusters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7909" y="994410"/>
            <a:ext cx="2571750" cy="312039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Visibility + security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STATE_DIR/state.json records every run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LOG_ROOT/orchestrator.jsonl gives event history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STATUS_PORT exposes /, /health, /state</a:t>
            </a:r>
          </a:p>
          <a:p>
            <a:pPr>
              <a:spcBef>
                <a:spcPts val="400"/>
              </a:spcBef>
              <a:defRPr sz="787">
                <a:solidFill>
                  <a:srgbClr val="334155"/>
                </a:solidFill>
              </a:defRPr>
            </a:pPr>
            <a:r>
              <a:t>.env is runtime-only; secrets are never scaffolded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354830"/>
            <a:ext cx="7749540" cy="30861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Result: a repeatable SDLC agent factory: tracker chooses the cluster, symphony_clone creates the workspace, Claude Harness forms the team, GitHub receives the reviewable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Agent Factory + Tracker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Graph-Grounded Brownfield Discovery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v4 ports the enriched v3 brownfield flow: code graph first, narrative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7190" y="1131570"/>
            <a:ext cx="1405889" cy="2434590"/>
          </a:xfrm>
          <a:prstGeom prst="roundRect">
            <a:avLst/>
          </a:prstGeom>
          <a:solidFill>
            <a:srgbClr val="EFF6FF"/>
          </a:solidFill>
          <a:ln w="1397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/brownfield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Entry point for existing-codebase work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Read-only except brownfield docs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83079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91690" y="1131570"/>
            <a:ext cx="1405889" cy="2434590"/>
          </a:xfrm>
          <a:prstGeom prst="roundRect">
            <a:avLst/>
          </a:prstGeom>
          <a:solidFill>
            <a:srgbClr val="FFFBEB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/code-map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Producer chain: graphify, hex-graph, vendored Node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Writes deterministic graph artifacts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75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806190" y="1131570"/>
            <a:ext cx="1405889" cy="2434590"/>
          </a:xfrm>
          <a:prstGeom prst="roundRect">
            <a:avLst/>
          </a:prstGeom>
          <a:solidFill>
            <a:srgbClr val="F0FDF4"/>
          </a:solidFill>
          <a:ln w="1397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Graph artifacts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code-graph.json + meta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dependency-graph.md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coupling-report.md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120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20690" y="1131570"/>
            <a:ext cx="1405889" cy="2434590"/>
          </a:xfrm>
          <a:prstGeom prst="roundRect">
            <a:avLst/>
          </a:prstGeom>
          <a:solidFill>
            <a:srgbClr val="F5F3FF"/>
          </a:solidFill>
          <a:ln w="1397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Evidence maps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architecture-map.md cites edges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risk-map.md cites hubs/cycles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change-strategy.md chooses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6580" y="2297430"/>
            <a:ext cx="308610" cy="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35190" y="1131570"/>
            <a:ext cx="1405889" cy="243459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/seam-finder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Ranks safe cut-points for a goal</a:t>
            </a:r>
          </a:p>
          <a:p>
            <a:pPr>
              <a:spcBef>
                <a:spcPts val="300"/>
              </a:spcBef>
              <a:defRPr sz="697">
                <a:solidFill>
                  <a:srgbClr val="334155"/>
                </a:solidFill>
              </a:defRPr>
            </a:pPr>
            <a:r>
              <a:t>Writes seams-&lt;goal&gt;.md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510" y="3943350"/>
            <a:ext cx="7783830" cy="44577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Agent contract</a:t>
            </a:r>
          </a:p>
          <a:p>
            <a:pPr>
              <a:spcBef>
                <a:spcPts val="300"/>
              </a:spcBef>
              <a:defRPr sz="750">
                <a:solidFill>
                  <a:srgbClr val="334155"/>
                </a:solidFill>
              </a:defRPr>
            </a:pPr>
            <a:r>
              <a:t>Any brownfield claim such as "module X depends on Y" must cite code-graph.json edge evidence. Refactor targets read coupling-report.md and seams-&lt;goal&gt;.md.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Graph-Grounded Brownfield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Brownfield Seam Scoring: Where Should the Agent Cut?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85800"/>
            <a:ext cx="8321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B5563"/>
                </a:solidFill>
              </a:defRPr>
            </a:pPr>
            <a:r>
              <a:t>/seam-finder turns graph structure plus a goal into ranked extension/refactor candidates.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5770" y="994410"/>
            <a:ext cx="2057400" cy="3086100"/>
          </a:xfrm>
          <a:prstGeom prst="roundRect">
            <a:avLst/>
          </a:prstGeom>
          <a:solidFill>
            <a:srgbClr val="EFF6FF"/>
          </a:solidFill>
          <a:ln w="1397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Inputs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code-graph.json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coupling-report.md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goal phrase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optional graphify / hex-graph fidelity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994410"/>
            <a:ext cx="3154680" cy="3086100"/>
          </a:xfrm>
          <a:prstGeom prst="roundRect">
            <a:avLst/>
          </a:prstGeom>
          <a:solidFill>
            <a:srgbClr val="FFFBEB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Score model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Observable boundary 0.4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Funnel score 0.4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Read/write asymmetry 0.2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Goal keyword bump x1.5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Tests/fixtures excluded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37909" y="994410"/>
            <a:ext cx="2503170" cy="3086100"/>
          </a:xfrm>
          <a:prstGeom prst="roundRect">
            <a:avLst/>
          </a:prstGeom>
          <a:solidFill>
            <a:srgbClr val="F0FDF4"/>
          </a:solidFill>
          <a:ln w="1397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Recommended action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extend existing seam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wrap a boundary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introduce adapter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split read/write path</a:t>
            </a:r>
          </a:p>
          <a:p>
            <a:pPr>
              <a:spcBef>
                <a:spcPts val="300"/>
              </a:spcBef>
              <a:defRPr sz="764">
                <a:solidFill>
                  <a:srgbClr val="334155"/>
                </a:solidFill>
              </a:defRPr>
            </a:pPr>
            <a:r>
              <a:t>avoid poor seam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286250"/>
            <a:ext cx="7749540" cy="329184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rtlCol="0" anchor="t"/>
          <a:lstStyle/>
          <a:p>
            <a:pPr algn="ctr">
              <a:defRPr sz="975" b="1">
                <a:solidFill>
                  <a:srgbClr val="0F172A"/>
                </a:solidFill>
              </a:defRPr>
            </a:pPr>
            <a:r>
              <a:t>Result: brownfield work lands in existing architecture instead of creating parallel implementations.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66070"/>
                </a:solidFill>
              </a:defRPr>
            </a:pPr>
            <a:r>
              <a:t>Claude Harness Engine v1.1.4   ·   Graph-Grounded Brownfield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66070"/>
                </a:solidFill>
              </a:defRPr>
            </a:pPr>
            <a: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5971</Words>
  <Application>Microsoft Macintosh PowerPoint</Application>
  <PresentationFormat>On-screen Show (16:9)</PresentationFormat>
  <Paragraphs>888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Chaminda Wijayasundara</cp:lastModifiedBy>
  <cp:revision>3</cp:revision>
  <dcterms:created xsi:type="dcterms:W3CDTF">2013-01-27T09:14:16Z</dcterms:created>
  <dcterms:modified xsi:type="dcterms:W3CDTF">2026-05-12T20:52:49Z</dcterms:modified>
  <cp:category/>
</cp:coreProperties>
</file>