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91440" cy="1828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>
                <a:solidFill>
                  <a:srgbClr val="F8FAFC"/>
                </a:solidFill>
                <a:latin typeface="Calibri"/>
              </a:rPr>
              <a:t>Claude Harness Engine v1.1.4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78638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>
                <a:solidFill>
                  <a:srgbClr val="CBD5E1"/>
                </a:solidFill>
                <a:latin typeface="Calibri"/>
              </a:rPr>
              <a:t>Autonomous SDLC Scaffolding for Agentic Software 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7863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8BDF8"/>
                </a:solidFill>
                <a:latin typeface="Calibri"/>
              </a:rPr>
              <a:t>GAN Architecture · Karpathy Ratchet · Agent Teams · Session Chaining · Superpowers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25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7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15 HOOKS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1 BOOT CMD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8 PLUGINS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Designed for engineering teams shipping long-running, agentic applications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What's New in v1.1.4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Updates since the original deck — codebase now spans scaffold, graph-grounded brownfield, plugins, hooks, and tracker orchestration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280160"/>
            <a:ext cx="23682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Brownfield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572768"/>
            <a:ext cx="2368296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/brownfield maps existing codebases (codebase-map, architecture, tests, risks, change strategy) before any planning or refactor.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4992" y="1280160"/>
            <a:ext cx="23682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Vibe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572768"/>
            <a:ext cx="2368296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/vibe — controlled small-change lane with micro-contract, narrow scope, targeted verification, reviewer enforcement.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53912" y="1280160"/>
            <a:ext cx="23682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Superpowers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1572768"/>
            <a:ext cx="2368296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brainstorming · writing-plans · TDD · systematic-debugging · verification-before-completion are invoked at named pipeline stages.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880360"/>
            <a:ext cx="23682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Lint-Drift Entropy Scanner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3172968"/>
            <a:ext cx="2368296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/lint-drift sweeps agent-generated code for pattern drift and ships targeted cleanup PRs.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64992" y="2880360"/>
            <a:ext cx="23682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Hardened Runtime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3172968"/>
            <a:ext cx="2368296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15 hooks: pre-tool length gate, tracker-safe env protection, track-writes ledger, require-review Stop hook, sprint-contract-gate on commits.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53912" y="2880360"/>
            <a:ext cx="23682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Calibri"/>
              </a:rPr>
              <a:t>Plugin-First Posture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3172968"/>
            <a:ext cx="2368296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8 official Claude Code plugins enabled via settings.json (superpowers, code-review, frontend-design, context7, ...).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434840"/>
            <a:ext cx="8321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Net effect: full SDLC + adapts to existing codebases + lets humans steer mid-flight.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Why Traditional Agent Pods Fall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The four failure modes the harness was built to neutralize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3444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325880"/>
            <a:ext cx="378561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Self-Evaluation Bias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618488"/>
            <a:ext cx="378561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Agents grade their own work, miss critical failures, and declare success prematurely.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23444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82312" y="1325880"/>
            <a:ext cx="378561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No Monotonic 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1618488"/>
            <a:ext cx="378561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Each iteration can regress prior work. Coverage drops, bugs reappear, features break.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9748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" y="2788920"/>
            <a:ext cx="378561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Context Window Amnesia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3081528"/>
            <a:ext cx="378561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Long builds lose early decisions. No state survives across sessions.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269748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82312" y="2788920"/>
            <a:ext cx="378561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Flat Team 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3081528"/>
            <a:ext cx="378561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All agents share equal authority. No structural separation between creation and verification.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251960"/>
            <a:ext cx="8321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The harness answers each with structural separation, ratchet gates, append-only state, and explicit role hierarchy.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Design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Five orthogonal commitments — each subsequent slide traces back to one of these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280160"/>
            <a:ext cx="23682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GAN Separation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572768"/>
            <a:ext cx="236829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Generator writes code. Evaluator verifies independently. Neither can do the other's job. No self-grading.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18872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4992" y="1280160"/>
            <a:ext cx="23682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Karpathy Ratchet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572768"/>
            <a:ext cx="236829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Every metric moves forward, never backward. Monotonic quality improvement enforced by 6 gates.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18872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53912" y="1280160"/>
            <a:ext cx="23682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Institutional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1572768"/>
            <a:ext cx="236829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Failures become learned-rules.md. Knowledge compounds across sessions and is injected into all future agents.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69748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788920"/>
            <a:ext cx="23682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Phased Agent Teams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3081528"/>
            <a:ext cx="236829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DAG-driven parallel execution with dependency handshakes between phases. Up to 5 teammates per phase.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269748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64992" y="2788920"/>
            <a:ext cx="23682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Skills + Agents + 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3081528"/>
            <a:ext cx="236829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Claude Code's three primitives composed into a runtime: skills give procedure, agents give specialized models, hooks enforce invariants.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69748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53912" y="278892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Why this matters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3108960"/>
            <a:ext cx="237744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These five commitments are non-negotiable. Every command, agent, and hook in the codebase is an instance of one of them. If a change would weaken one, it doesn't ship.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Repository Layout — Anatomy of `.claude/`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What gets copied into every scaffolded project. This is the entire harness on disk.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402336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7490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Consolas"/>
              </a:rPr>
              <a:t>.claude/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3749039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.claude-plugin/</a:t>
            </a:r>
            <a:r>
              <a:rPr sz="1000">
                <a:solidFill>
                  <a:srgbClr val="94A3B8"/>
                </a:solidFill>
                <a:latin typeface="Calibri"/>
              </a:rPr>
              <a:t>plugin.json — name, version, description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commands/      </a:t>
            </a:r>
            <a:r>
              <a:rPr sz="1000">
                <a:solidFill>
                  <a:srgbClr val="94A3B8"/>
                </a:solidFill>
                <a:latin typeface="Calibri"/>
              </a:rPr>
              <a:t>scaffold.md — only true slash command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skills/  (25)  </a:t>
            </a:r>
            <a:r>
              <a:rPr sz="1000">
                <a:solidFill>
                  <a:srgbClr val="94A3B8"/>
                </a:solidFill>
                <a:latin typeface="Calibri"/>
              </a:rPr>
              <a:t>SKILL.md per skill, fork context, optional refs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agents/   (7)  </a:t>
            </a:r>
            <a:r>
              <a:rPr sz="1000">
                <a:solidFill>
                  <a:srgbClr val="94A3B8"/>
                </a:solidFill>
                <a:latin typeface="Calibri"/>
              </a:rPr>
              <a:t>.md per agent, frontmatter declares tools+model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hooks/   (15)  </a:t>
            </a:r>
            <a:r>
              <a:rPr sz="1000">
                <a:solidFill>
                  <a:srgbClr val="94A3B8"/>
                </a:solidFill>
                <a:latin typeface="Calibri"/>
              </a:rPr>
              <a:t>Node scripts wired in settings.json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templates/     </a:t>
            </a:r>
            <a:r>
              <a:rPr sz="1000">
                <a:solidFill>
                  <a:srgbClr val="94A3B8"/>
                </a:solidFill>
                <a:latin typeface="Calibri"/>
              </a:rPr>
              <a:t>sprint-contract.json, story.template.md, ...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state/         </a:t>
            </a:r>
            <a:r>
              <a:rPr sz="1000">
                <a:solidFill>
                  <a:srgbClr val="94A3B8"/>
                </a:solidFill>
                <a:latin typeface="Calibri"/>
              </a:rPr>
              <a:t>learned-rules, failures, vibe-log, pending-reviews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architecture.md</a:t>
            </a:r>
            <a:r>
              <a:rPr sz="1000">
                <a:solidFill>
                  <a:srgbClr val="94A3B8"/>
                </a:solidFill>
                <a:latin typeface="Calibri"/>
              </a:rPr>
              <a:t>Layer hierarchy + import rules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program.md     </a:t>
            </a:r>
            <a:r>
              <a:rPr sz="1000">
                <a:solidFill>
                  <a:srgbClr val="94A3B8"/>
                </a:solidFill>
                <a:latin typeface="Calibri"/>
              </a:rPr>
              <a:t>Karpathy human-agent bridge — edit to steer /auto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└─ settings.json  </a:t>
            </a:r>
            <a:r>
              <a:rPr sz="1000">
                <a:solidFill>
                  <a:srgbClr val="94A3B8"/>
                </a:solidFill>
                <a:latin typeface="Calibri"/>
              </a:rPr>
              <a:t>Hook config, permissions, enabled plugins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143000"/>
            <a:ext cx="41148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207008"/>
            <a:ext cx="3840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Two parallel state systems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508760"/>
            <a:ext cx="384048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onsolas"/>
              </a:rPr>
              <a:t>Project-side  →  specs/  (BRD, stories, design, reviews, brownfield)
                features.json, claude-progress.txt, sprint-contracts/
Harness-side  →  .claude/state/  (learned-rules, failures, vibe-log,
                pending-reviews.jsonl, iteration-log, coverage-baseline)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2971800"/>
            <a:ext cx="4114800" cy="16459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3035808"/>
            <a:ext cx="3840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alibri"/>
              </a:rPr>
              <a:t>Crucial detail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337560"/>
            <a:ext cx="3840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specs/  is mutated only by agents (planner, generator, evaluator).
.claude/state/  is mutated by hooks AND agents — it is the durable
ratchet memory across context windows.
program.md  is the only file humans edit during /auto.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5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Runtime Mechanics — How Claude Code Loads the 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Five Claude Code primitives — composed into one autonomous SDLC runtime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1682496" cy="2286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234440"/>
            <a:ext cx="1353312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commands/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527048"/>
            <a:ext cx="135331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True slash commands.
Claude Code reads frontmatter
and executes the file as a
turn-by-turn instruction.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30552" y="1143000"/>
            <a:ext cx="1682496" cy="2286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95144" y="1234440"/>
            <a:ext cx="1353312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skills/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95144" y="1527048"/>
            <a:ext cx="135331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Skill files surfaced to the
model via the Skill tool.
Claude invokes them on intent
match — they look like commands.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9624" y="1143000"/>
            <a:ext cx="1682496" cy="2286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14216" y="1234440"/>
            <a:ext cx="1353312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alibri"/>
              </a:rPr>
              <a:t>agents/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4216" y="1527048"/>
            <a:ext cx="135331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Subagents with their own tool
allowlist + model tier.
Spawned via the Agent tool
from skills or other agents.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68696" y="1143000"/>
            <a:ext cx="1682496" cy="2286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33288" y="1234440"/>
            <a:ext cx="1353312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alibri"/>
              </a:rPr>
              <a:t>hooks/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1527048"/>
            <a:ext cx="135331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Node scripts run by Claude
Code at lifecycle events:
PreTool, PostTool, Stop,
TaskCompleted, TeammateIdle.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7768" y="1143000"/>
            <a:ext cx="1682496" cy="2286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1234440"/>
            <a:ext cx="1353312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alibri"/>
              </a:rPr>
              <a:t>templates/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1527048"/>
            <a:ext cx="135331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Static files (.json, .md)
read by skills and agents
as authoritative scaffolds
(e.g. sprint-contract.json).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611880"/>
            <a:ext cx="8321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Lifecycle on a typical turn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User /command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01368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Claude resolves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91256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Skill body runs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81144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Spawns Agent(s)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71032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Hooks fire on Edit/Bash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0920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Templates / state updated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Why `/scaffold` Is the Only File in `commands/`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Bootloader vs runtime — the key distinction in the harness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411480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07008"/>
            <a:ext cx="37490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onsolas"/>
              </a:rPr>
              <a:t>.claude/commands/scaffold.md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54480"/>
            <a:ext cx="37490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The bootloader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20240"/>
            <a:ext cx="3749039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Asks 5 setup questions (stack, project type, verification, plugins...)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Writes project-manifest.json + calibration-profile.json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Copies the entire `.claude/` tree into the target project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Generates CLAUDE.md, design.md, init.sh, .gitignore, features.json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Creates specs/, sprint-contracts/, e2e/ output directories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Initializes claude-progress.txt session 0 block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143000"/>
            <a:ext cx="406908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207008"/>
            <a:ext cx="3703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onsolas"/>
              </a:rPr>
              <a:t>.claude/skills/*/SKILL.md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554480"/>
            <a:ext cx="3703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The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920240"/>
            <a:ext cx="370332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Once `/scaffold` has run once, all subsequent work happens through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skills surfaced as virtual slash commands.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Why it works: Claude Code ships with a Skill tool. Any file matching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`.claude/skills/&lt;name&gt;/SKILL.md` with a frontmatter `name:` and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`description:` becomes invocable. Users type `/&lt;name&gt;` and the harness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responds with the skill body — indistinguishable from a real command.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Benefit: skills get progressive disclosure (loaded only when matched),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context: fork (isolated sub-context), and `argument-hint` autocomplete.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Real `commands/` files would all be loaded into every turn's context.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7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Skills as Virtual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Frontmatter `name:` becomes the slash command — Claude routes intent automatically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8321040" cy="77724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813816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onsolas"/>
              </a:rPr>
              <a:t>---
name: brownfield
description: Discover and map an existing codebase before planning or changing it.
argument-hint: "[optional-focus-path-or-goal]"
context: fork
agent: planner
---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11680"/>
            <a:ext cx="132588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INVOKE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011680"/>
            <a:ext cx="21031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011680"/>
            <a:ext cx="132588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011680"/>
            <a:ext cx="356616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267712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/scaffold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267712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commands/scaffold.md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267712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Real command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267712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Bootstrap a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409444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/brd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409444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skills/brd/SKILL.md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409444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2409444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Socratic BRD interview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551176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/spec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2551176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skills/spec/SKILL.md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2551176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2551176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BRD → stories + dep graph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2692908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692908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skills/design/SKILL.md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2692908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2692908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Architecture + mockups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2834640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/build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2834640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skills/build/SKILL.md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2834640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60" y="2834640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9-phase pipeline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2976372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/auto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2976372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skills/auto/SKILL.md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2976372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60" y="2976372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Autonomous ratchet loop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3118104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/implement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37360" y="3118104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skills/implement/SKILL.md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3118104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6360" y="3118104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Spawn agent team for group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" y="3259836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/evaluate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37360" y="3259836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skills/evaluate/SKILL.md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0480" y="3259836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66360" y="3259836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Run app, verify contract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3401568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/review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37360" y="3401568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skills/review/SKILL.md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401568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66360" y="3401568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Evaluator + security scan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3543300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/test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37360" y="3543300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skills/test/SKILL.md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40480" y="3543300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66360" y="3543300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Test plan + Playwright E2E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685032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/deploy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37360" y="3685032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skills/deploy/SKILL.md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0" y="3685032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66360" y="3685032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Docker Compose + init.sh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" y="3826764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onsolas"/>
              </a:rPr>
              <a:t>/brownfield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3826764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skills/brownfield/SKILL.md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3826764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66360" y="3826764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Map an existing codebase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3968496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onsolas"/>
              </a:rPr>
              <a:t>/vibe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37360" y="3968496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skills/vibe/SKILL.md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0480" y="3968496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66360" y="3968496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Controlled small-change lane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1480" y="4110228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onsolas"/>
              </a:rPr>
              <a:t>/clarify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37360" y="4110228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skills/clarify/SKILL.md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0" y="4110228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66360" y="4110228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Bounded clarification gate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" y="4251960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A78BFA"/>
                </a:solidFill>
                <a:latin typeface="Consolas"/>
              </a:rPr>
              <a:t>/fix-issue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37360" y="4251960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skills/fix-issue/SKILL.md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40480" y="4251960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66360" y="4251960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GitHub issue workflow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4393692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A78BFA"/>
                </a:solidFill>
                <a:latin typeface="Consolas"/>
              </a:rPr>
              <a:t>/refactor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37360" y="4393692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skills/refactor/SKILL.md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40480" y="4393692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66360" y="4393692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Quality-driven refactor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80" y="4535424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A78BFA"/>
                </a:solidFill>
                <a:latin typeface="Consolas"/>
              </a:rPr>
              <a:t>/improve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37360" y="4535424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skills/improve/SKILL.md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40480" y="4535424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166360" y="4535424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Story-driven enhancement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4677156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A78BFA"/>
                </a:solidFill>
                <a:latin typeface="Consolas"/>
              </a:rPr>
              <a:t>/lint-drift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37360" y="4677156"/>
            <a:ext cx="210312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skills/lint-drift/SKILL.md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0480" y="4677156"/>
            <a:ext cx="132588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66360" y="4677156"/>
            <a:ext cx="3566160" cy="1417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Pattern-drift entropy scan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The 25 Skills, Grouped by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Lifecycle skills + reference skills — only one file in `commands/` is required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Pipeline (full SDLC)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7373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/build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/brd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/spec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/design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/implement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/evaluate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/review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/test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/deploy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/auto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2344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alibri"/>
              </a:rPr>
              <a:t>Discovery &amp; Lanes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1600200"/>
            <a:ext cx="17373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t>▸ /brownfield</a:t>
            </a:r>
          </a:p>
          <a:p>
            <a:r>
              <a:t>▸ /code-map</a:t>
            </a:r>
          </a:p>
          <a:p>
            <a:r>
              <a:t>▸ /seam-finder</a:t>
            </a:r>
          </a:p>
          <a:p>
            <a:r>
              <a:t>▸ /vibe</a:t>
            </a:r>
          </a:p>
          <a:p>
            <a:r>
              <a:t>▸ /clarify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2344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alibri"/>
              </a:rPr>
              <a:t>Maintenance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00200"/>
            <a:ext cx="17373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/fix-issue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/refactor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/improve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/lint-drift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234440"/>
            <a:ext cx="17373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alibri"/>
              </a:rPr>
              <a:t>Reference (no slash)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600200"/>
            <a:ext cx="17373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/architecture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/code-gen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/evaluation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/testing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8321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Reference skills (architecture, code-gen, evaluation, testing) carry no `/slash` — they are read by agents inline.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9 / 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5074920"/>
            <a:ext cx="2743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3558"/>
                </a:solidFill>
              </a:defRPr>
            </a:pPr>
            <a:r>
              <a:t>Tracker add-on</a:t>
            </a:r>
            <a:br/>
            <a:r>
              <a:t>▸ /tracker</a:t>
            </a:r>
            <a:br/>
            <a:r>
              <a:t>▸ /tracker-publish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Agent Activation — How a Skill Spawns an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From slash command to a constrained subagent with its own tool allowlist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23444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1. User types
/auto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298448"/>
            <a:ext cx="109728" cy="10972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92224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7944" y="1280160"/>
            <a:ext cx="123444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2. Skill tool resolves
skills/auto/SKILL.md</a:t>
            </a:r>
          </a:p>
        </p:txBody>
      </p:sp>
      <p:sp>
        <p:nvSpPr>
          <p:cNvPr id="11" name="Oval 10"/>
          <p:cNvSpPr/>
          <p:nvPr/>
        </p:nvSpPr>
        <p:spPr>
          <a:xfrm>
            <a:off x="1883664" y="1298448"/>
            <a:ext cx="109728" cy="109728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72968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1280160"/>
            <a:ext cx="123444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3. Skill body executes
(reads program.md,
learned-rules)</a:t>
            </a:r>
          </a:p>
        </p:txBody>
      </p:sp>
      <p:sp>
        <p:nvSpPr>
          <p:cNvPr id="14" name="Oval 13"/>
          <p:cNvSpPr/>
          <p:nvPr/>
        </p:nvSpPr>
        <p:spPr>
          <a:xfrm>
            <a:off x="3264408" y="1298448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53712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2" y="1280160"/>
            <a:ext cx="123444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4. Skill calls Agent tool
subagent_type='generator'</a:t>
            </a:r>
          </a:p>
        </p:txBody>
      </p:sp>
      <p:sp>
        <p:nvSpPr>
          <p:cNvPr id="17" name="Oval 16"/>
          <p:cNvSpPr/>
          <p:nvPr/>
        </p:nvSpPr>
        <p:spPr>
          <a:xfrm>
            <a:off x="4645152" y="1298448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34456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0176" y="1280160"/>
            <a:ext cx="123444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5. Generator runs in
fork context with its
own tool allowlist</a:t>
            </a:r>
          </a:p>
        </p:txBody>
      </p:sp>
      <p:sp>
        <p:nvSpPr>
          <p:cNvPr id="20" name="Oval 19"/>
          <p:cNvSpPr/>
          <p:nvPr/>
        </p:nvSpPr>
        <p:spPr>
          <a:xfrm>
            <a:off x="6025896" y="1298448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0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280160"/>
            <a:ext cx="123444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6. Agent emits result
back to /auto</a:t>
            </a:r>
          </a:p>
        </p:txBody>
      </p:sp>
      <p:sp>
        <p:nvSpPr>
          <p:cNvPr id="23" name="Oval 22"/>
          <p:cNvSpPr/>
          <p:nvPr/>
        </p:nvSpPr>
        <p:spPr>
          <a:xfrm>
            <a:off x="7406640" y="1298448"/>
            <a:ext cx="109728" cy="109728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1480" y="2423160"/>
            <a:ext cx="4114800" cy="21945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487168"/>
            <a:ext cx="3840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Agent frontmatter is the contract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788920"/>
            <a:ext cx="38404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---
name: evaluator
description: Skeptical verifier that runs the
  application and checks sprint contract criteria...
tools:
  - Read
  - Bash
  - mcp__plugin_playwright_playwright__browser_navigate
  - mcp__plugin_playwright_playwright__browser_click
  - mcp__plugin_playwright_playwright__browser_snapshot
---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2423160"/>
            <a:ext cx="4069080" cy="2194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2487168"/>
            <a:ext cx="3794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What the runtime guarantees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2788920"/>
            <a:ext cx="3794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Agents only see tools listed in their frontmatter — others raise.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`context: fork` skills run agents in a sub-context: parent is unaffected.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Model tier (Opus / Sonnet / Haiku) is set per-agent, not per-skill.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Skills inject `learned-rules.md` verbatim into every agent prompt.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Hooks still fire inside the subagent on Edit / Write / Bash.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Output returns to caller as a structured tool result — not free text.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10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The 7 Agents — Roles, Models, Tool Grants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Frontmatter declares both. Generator can spawn other agents via the Agent tool; others cannot.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88720"/>
            <a:ext cx="141732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77724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88720"/>
            <a:ext cx="283464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KEY TOOL GRANTS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1188720"/>
            <a:ext cx="3749039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RESPONSIBILITY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447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81328"/>
            <a:ext cx="1417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onsolas"/>
              </a:rPr>
              <a:t>planner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481328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Opus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481328"/>
            <a:ext cx="2834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· Write · Glob · Grep · Bash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1481328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BRD · stories · dep graph · architecture · schemas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9019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1938528"/>
            <a:ext cx="1417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onsolas"/>
              </a:rPr>
              <a:t>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1938528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Sonnet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1938528"/>
            <a:ext cx="2834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+ Edit · Agent (spawns teammates)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1938528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Implements code + tests · spawns agent team · TDD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3591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395728"/>
            <a:ext cx="1417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onsolas"/>
              </a:rPr>
              <a:t>evaluator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2395728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Opus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2395728"/>
            <a:ext cx="2834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+ Playwright MCP (navigate, click, fill, snap)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2395728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Runs app · 3-layer verification · structured failures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28163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2852928"/>
            <a:ext cx="1417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Consolas"/>
              </a:rPr>
              <a:t>design-critic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2852928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Opus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2852928"/>
            <a:ext cx="2834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+ Playwright MCP (resize, hover, screenshot)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2852928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GAN scoring (DQ/O/C/F) · plateau pivot · 4 criteria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2735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310128"/>
            <a:ext cx="1417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onsolas"/>
              </a:rPr>
              <a:t>ui-designer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3310128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Sonnet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3310128"/>
            <a:ext cx="2834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· Write · Glob · Grep · Bash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3310128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React+Tailwind HTML mockups · aesthetic direction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7307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767328"/>
            <a:ext cx="1417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  <a:latin typeface="Consolas"/>
              </a:rPr>
              <a:t>test-engineer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3767328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Sonnet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06040" y="3767328"/>
            <a:ext cx="2834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· Write · Edit · Glob · Grep · Bash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40680" y="3767328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Test plan · TC files · Playwright E2E · fixtures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1879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4224528"/>
            <a:ext cx="1417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onsolas"/>
              </a:rPr>
              <a:t>security-reviewer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4224528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Sonnet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06040" y="4224528"/>
            <a:ext cx="2834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· Write · Grep · Glob · Bash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40680" y="4224528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OWASP scan · BLOCK/WARN/INFO triage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11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Hooks — 15 Enforcement Layers Wired in `settings.json`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Hooks run automatically at lifecycle events. They cannot be skipped by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97280"/>
            <a:ext cx="269748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EVENT MATCHER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097280"/>
            <a:ext cx="196596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HOOK 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097280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PURPOSE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35024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353312"/>
            <a:ext cx="269748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PreToolUse → Write|Edit|MultiEdit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353312"/>
            <a:ext cx="196596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enforce-length-pre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1353312"/>
            <a:ext cx="365760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Block oversized files at intent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595628"/>
            <a:ext cx="269748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1595628"/>
            <a:ext cx="196596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scope-directory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1595628"/>
            <a:ext cx="365760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Reject writes outside project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1819656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1837944"/>
            <a:ext cx="269748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1837944"/>
            <a:ext cx="196596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protect-env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837944"/>
            <a:ext cx="365760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Refuse changes to .env 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080260"/>
            <a:ext cx="269748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080260"/>
            <a:ext cx="196596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detect-secrets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080260"/>
            <a:ext cx="365760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Refuse hardcoded secrets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304288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322576"/>
            <a:ext cx="269748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2322576"/>
            <a:ext cx="196596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lint-on-save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2322576"/>
            <a:ext cx="365760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ruff / eslint on every save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2564892"/>
            <a:ext cx="269748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2564892"/>
            <a:ext cx="196596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typecheck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2564892"/>
            <a:ext cx="365760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mypy / tsc on every save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788920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2807208"/>
            <a:ext cx="269748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2807208"/>
            <a:ext cx="196596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check-architecture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20" y="2807208"/>
            <a:ext cx="365760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One-way layer imports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3049524"/>
            <a:ext cx="269748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3049524"/>
            <a:ext cx="196596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check-function-length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3049524"/>
            <a:ext cx="365760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Functions ≤ 50 lines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3273552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291840"/>
            <a:ext cx="269748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08960" y="3291840"/>
            <a:ext cx="196596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check-file-length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4920" y="3291840"/>
            <a:ext cx="365760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Files ≤ 300 lines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3534156"/>
            <a:ext cx="269748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3534156"/>
            <a:ext cx="196596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track-writes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74920" y="3534156"/>
            <a:ext cx="365760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Append to pending-reviews.jsonl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65760" y="3758184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3776472"/>
            <a:ext cx="269748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Bash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3776472"/>
            <a:ext cx="196596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onsolas"/>
              </a:rPr>
              <a:t>pre-commit-gate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74920" y="3776472"/>
            <a:ext cx="365760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Block commit if gates fail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4018788"/>
            <a:ext cx="269748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Bash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08960" y="4018788"/>
            <a:ext cx="196596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onsolas"/>
              </a:rPr>
              <a:t>sprint-contract-gate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74920" y="4018788"/>
            <a:ext cx="365760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Block /build until contract OK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5760" y="4242816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261104"/>
            <a:ext cx="269748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Stop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08960" y="4261104"/>
            <a:ext cx="196596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A78BFA"/>
                </a:solidFill>
                <a:latin typeface="Consolas"/>
              </a:rPr>
              <a:t>require-review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74920" y="4261104"/>
            <a:ext cx="365760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Force reviewer agent before turn ends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4503420"/>
            <a:ext cx="269748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TaskCompleted / TeammateIdle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08960" y="4503420"/>
            <a:ext cx="196596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1">
                <a:solidFill>
                  <a:srgbClr val="FBBF24"/>
                </a:solidFill>
                <a:latin typeface="Consolas"/>
              </a:rPr>
              <a:t>task-completed · teammate-idle-check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74920" y="4503420"/>
            <a:ext cx="3657600" cy="2423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Close + nudge stuck teammates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12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Templates — How Skills Use Templates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Static scaffolds in `.claude/templates/` are the authoritative shapes the harness writes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97864"/>
            <a:ext cx="3794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onsolas"/>
              </a:rPr>
              <a:t>sprint-contract.json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35608"/>
            <a:ext cx="379476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/auto, generator (proposes), evaluator (finalizes).
Defines api_checks, playwright_checks, design_checks, architecture_checks.
Becomes immutable after evaluator approves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143000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197864"/>
            <a:ext cx="3794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onsolas"/>
              </a:rPr>
              <a:t>story.template.md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35608"/>
            <a:ext cx="379476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/spec when planner expands BRD → stories.
Provides ID · layer · group · readiness · acceptance criteria · dependencies.
/improve and /fix-issue reuse the same shape.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929384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84248"/>
            <a:ext cx="3794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onsolas"/>
              </a:rPr>
              <a:t>docker-compose.template.yml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21992"/>
            <a:ext cx="379476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/deploy. Token-replaced for backend, frontend, db, evaluator network.
Health check endpoints + service ordering match verification.health_check.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1929384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984248"/>
            <a:ext cx="3794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Consolas"/>
              </a:rPr>
              <a:t>init-sh.template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221992"/>
            <a:ext cx="379476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/scaffold and /deploy. Placeholders {{BACKEND_INSTALL}} etc. are
filled from project-manifest presets (uv vs npm, Docker vs local).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715768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770632"/>
            <a:ext cx="3794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onsolas"/>
              </a:rPr>
              <a:t>playwright.config.template.ts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008376"/>
            <a:ext cx="379476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/test and test-engineer agent. baseURL · testDir · timeouts.
Becomes e2e/ root config the evaluator's Playwright MCP runs against.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2715768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2770632"/>
            <a:ext cx="3794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  <a:latin typeface="Consolas"/>
              </a:rPr>
              <a:t>features-template.json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008376"/>
            <a:ext cx="379476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Schema for root features.json — every acceptance criterion becomes one entry
(passes, last_evaluated, failure_reason, failure_layer).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14600" y="3502152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0" y="3557016"/>
            <a:ext cx="3794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Consolas"/>
              </a:rPr>
              <a:t>context.template.md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794760"/>
            <a:ext cx="379476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/brownfield when a domain glossary is warranted. Keeps domain
terms close to code without bloating CLAUDE.md.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13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End-to-End SDLC Pipeline — 9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Phase 0 (brownfield) is new. /build orchestrates phases 1-8; /auto handles phase 5-7 autonomously.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04088" y="1371600"/>
            <a:ext cx="329184" cy="32918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371600"/>
            <a:ext cx="32918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783080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38BDF8"/>
                </a:solidFill>
                <a:latin typeface="Consolas"/>
              </a:rPr>
              <a:t>/brownfield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Map
Existing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80360"/>
            <a:ext cx="91440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if greenfield, skip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44168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36776" y="1371600"/>
            <a:ext cx="329184" cy="32918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6776" y="1371600"/>
            <a:ext cx="32918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1783080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FB923C"/>
                </a:solidFill>
                <a:latin typeface="Consolas"/>
              </a:rPr>
              <a:t>/brd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10312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Socratic
Interview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4168" y="2880360"/>
            <a:ext cx="91440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human gate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76856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569464" y="1371600"/>
            <a:ext cx="329184" cy="32918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9464" y="1371600"/>
            <a:ext cx="32918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76856" y="1783080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FB923C"/>
                </a:solidFill>
                <a:latin typeface="Consolas"/>
              </a:rPr>
              <a:t>/spec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2576" y="210312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Stories +
Dep 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76856" y="2880360"/>
            <a:ext cx="91440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human gate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9544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02152" y="1371600"/>
            <a:ext cx="329184" cy="32918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02152" y="1371600"/>
            <a:ext cx="32918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9544" y="1783080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FB923C"/>
                </a:solidFill>
                <a:latin typeface="Consolas"/>
              </a:rPr>
              <a:t>/design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55264" y="210312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Architecture
&amp; Mockups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9544" y="2880360"/>
            <a:ext cx="91440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human gate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42232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434840" y="1371600"/>
            <a:ext cx="329184" cy="329184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34840" y="1371600"/>
            <a:ext cx="32918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2232" y="1783080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4ADE80"/>
                </a:solidFill>
                <a:latin typeface="Consolas"/>
              </a:rPr>
              <a:t>/implement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87952" y="210312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Agent Team
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42232" y="2880360"/>
            <a:ext cx="91440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phased DAG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74920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367528" y="1371600"/>
            <a:ext cx="329184" cy="329184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67528" y="1371600"/>
            <a:ext cx="32918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74920" y="1783080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4ADE80"/>
                </a:solidFill>
                <a:latin typeface="Consolas"/>
              </a:rPr>
              <a:t>/evaluate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0640" y="210312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3-Layer
Verification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2880360"/>
            <a:ext cx="91440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API+UI+Vision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07608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300216" y="1371600"/>
            <a:ext cx="329184" cy="329184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0216" y="1371600"/>
            <a:ext cx="32918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07608" y="1783080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4ADE80"/>
                </a:solidFill>
                <a:latin typeface="Consolas"/>
              </a:rPr>
              <a:t>/review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53328" y="210312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Security
+ Sprint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07608" y="2880360"/>
            <a:ext cx="91440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OWASP scan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940296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232904" y="1371600"/>
            <a:ext cx="329184" cy="329184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32904" y="1371600"/>
            <a:ext cx="32918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40296" y="1783080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A78BFA"/>
                </a:solidFill>
                <a:latin typeface="Consolas"/>
              </a:rPr>
              <a:t>/test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86016" y="210312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Plan +
E2E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40296" y="2880360"/>
            <a:ext cx="91440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Playwright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72984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165592" y="1371600"/>
            <a:ext cx="329184" cy="329184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65592" y="1371600"/>
            <a:ext cx="32918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72984" y="1783080"/>
            <a:ext cx="9144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FBBF24"/>
                </a:solidFill>
                <a:latin typeface="Consolas"/>
              </a:rPr>
              <a:t>/deploy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18704" y="210312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Docker +
init.sh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72984" y="2880360"/>
            <a:ext cx="91440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compose stack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352044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/auto runs phases 5-7 in a self-healing loop until features pass or stopping criteria are met (max 50 iterations).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0" y="384048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/vibe is an off-pipeline lane for tiny safe changes. /improve, /refactor, /fix-issue re-enter the pipeline at /spec or /implement.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14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Brownfield + Vibe — Lane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Two new lanes added in v1.1.4 to handle reality: existing code and tiny low-risk edits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411480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Consolas"/>
              </a:rPr>
              <a:t>/brownfield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840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3840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Before substantial planning, refactor, or feature work in any existing repository.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3840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Outputs (specs/brownfield/)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3840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codebase-map.md   languages, entry points, services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architecture-map.md  modules, layers, data flow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test-map.md  commands, coverage signals, gaps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risk-map.md  auth, billing, migrations, fragile zones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change-strategy.md  recommended lane for future work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CONTEXT.md  domain glossary (only if meaningful)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143000"/>
            <a:ext cx="406908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1207008"/>
            <a:ext cx="3794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FB923C"/>
                </a:solidFill>
                <a:latin typeface="Consolas"/>
              </a:rPr>
              <a:t>/vibe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554480"/>
            <a:ext cx="3794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Eligibility (all must hold)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828800"/>
            <a:ext cx="37947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Change describable in one sentence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≤ 3 files, &lt; 150 lines diff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No new product workflow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Doesn't alter auth, privacy, billing, migrations, public API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Verifiable with a targeted command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Rollback is simple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246120"/>
            <a:ext cx="3794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Workflow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3520440"/>
            <a:ext cx="37947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Classify (CV0/CV1/CV2) → micro-contract → inspect → TDD if behavior → narrow edit → targeted verify → reviewer hook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Karpathy's Ratchet — Monotonic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Once a metric passes, it can never regress. Quality only moves forward.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1234440"/>
            <a:ext cx="1828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Unit Tests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645920"/>
            <a:ext cx="2368296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pytest / vitest exit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210312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All modes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14300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7560" y="123444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2" y="1234440"/>
            <a:ext cx="1828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Lint + Types 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1645920"/>
            <a:ext cx="2368296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ruff / mypy / tsc exit 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4992" y="210312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All modes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14300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26480" y="123444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2552" y="1234440"/>
            <a:ext cx="1828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Coverage ≥ 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3912" y="1645920"/>
            <a:ext cx="2368296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Floor 80%, never drops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3912" y="210312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All modes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65176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74320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2743200"/>
            <a:ext cx="1828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Architecture Alignment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" y="3154680"/>
            <a:ext cx="2368296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Layer imports + schema check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" y="36118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Full / Lean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0" y="265176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37560" y="274320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13632" y="2743200"/>
            <a:ext cx="1828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Evaluator Verdict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4992" y="3154680"/>
            <a:ext cx="2368296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API + Playwright vs running app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36118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Full / Lean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265176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26480" y="274320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2552" y="2743200"/>
            <a:ext cx="18288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Design Critic Score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3912" y="3154680"/>
            <a:ext cx="2368296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Vision scoring (4 criteria)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53912" y="36118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Full only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4160520"/>
            <a:ext cx="8321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Turbo mode (Opus 4.6+) collapses gates 4-6 to a single end-of-build run; gates 1-3 still fire per commit.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16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Self-Healing on Gate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Max 3 attempts per gate. Each attempt uses a different fix strategy.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16002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234440"/>
            <a:ext cx="329184" cy="32918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234440"/>
            <a:ext cx="32918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45920"/>
            <a:ext cx="1600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Calibri"/>
              </a:rPr>
              <a:t>Diagnose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14173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Calibri"/>
              </a:rPr>
              <a:t>Read structured
failure JSON +
superpowers:
systematic-debugging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1143000"/>
            <a:ext cx="16002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15768" y="1234440"/>
            <a:ext cx="329184" cy="32918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5768" y="1234440"/>
            <a:ext cx="32918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5688" y="1645920"/>
            <a:ext cx="1600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B923C"/>
                </a:solidFill>
                <a:latin typeface="Calibri"/>
              </a:rPr>
              <a:t>Classify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7128" y="1965960"/>
            <a:ext cx="14173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Calibri"/>
              </a:rPr>
              <a:t>10 categories:
lint · type · import
key · timeout · 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39896" y="1143000"/>
            <a:ext cx="16002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79976" y="1234440"/>
            <a:ext cx="329184" cy="329184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9976" y="1234440"/>
            <a:ext cx="32918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39896" y="1645920"/>
            <a:ext cx="1600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4ADE80"/>
                </a:solidFill>
                <a:latin typeface="Calibri"/>
              </a:rPr>
              <a:t>Fix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31336" y="1965960"/>
            <a:ext cx="14173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Calibri"/>
              </a:rPr>
              <a:t>Targeted strategy
(must differ from
prior attempts)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04104" y="1143000"/>
            <a:ext cx="16002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44184" y="1234440"/>
            <a:ext cx="329184" cy="329184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44184" y="1234440"/>
            <a:ext cx="32918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4" y="1645920"/>
            <a:ext cx="1600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A78BFA"/>
                </a:solidFill>
                <a:latin typeface="Calibri"/>
              </a:rPr>
              <a:t>Re-Run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5544" y="1965960"/>
            <a:ext cx="14173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Calibri"/>
              </a:rPr>
              <a:t>Only the failed
gate re-executes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68312" y="1143000"/>
            <a:ext cx="16002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08392" y="1234440"/>
            <a:ext cx="329184" cy="329184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08392" y="1234440"/>
            <a:ext cx="329184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1645920"/>
            <a:ext cx="1600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  <a:latin typeface="Calibri"/>
              </a:rPr>
              <a:t>Pass / Escalate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1965960"/>
            <a:ext cx="14173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Calibri"/>
              </a:rPr>
              <a:t>3rd fail: revert,
log, extract rule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017520"/>
            <a:ext cx="8321040" cy="160020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08960"/>
            <a:ext cx="81381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10 Failure Categories — each maps to a distinct auto-fix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4564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lint_format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76272" y="34564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type_error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03904" y="34564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import_error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31536" y="34564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key_error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59168" y="34564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timeout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39136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connection_refused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176272" y="39136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validation_error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03904" y="39136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assertion_error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31536" y="39136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api_transient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059168" y="39136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api_permanent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17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Continuous Learning — Institutional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Failures become learned rules. Knowledge compounds across sessions.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457200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Failure-Driven Learning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42976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1. Agent encounters failure during build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2. Failure logged to .claude/state/failures.md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3. Same error type appears 2+ times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4. Learned rule extracted automatically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5. Rule appended to learned-rules.md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6. Rule injected verbatim into ALL future agent prompts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7. Prevents regression across sessions, agents,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143000"/>
            <a:ext cx="3657600" cy="34747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207008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Learned Rule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60020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Source       </a:t>
            </a:r>
            <a:r>
              <a:rPr sz="1000">
                <a:solidFill>
                  <a:srgbClr val="CBD5E1"/>
                </a:solidFill>
                <a:latin typeface="Calibri"/>
              </a:rPr>
              <a:t>Group · Story · Iteration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Impact       </a:t>
            </a:r>
            <a:r>
              <a:rPr sz="1000">
                <a:solidFill>
                  <a:srgbClr val="CBD5E1"/>
                </a:solidFill>
                <a:latin typeface="Calibri"/>
              </a:rPr>
              <a:t>Quantified damage metric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Pattern      </a:t>
            </a:r>
            <a:r>
              <a:rPr sz="1000">
                <a:solidFill>
                  <a:srgbClr val="CBD5E1"/>
                </a:solidFill>
                <a:latin typeface="Calibri"/>
              </a:rPr>
              <a:t>Repeated error signature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Mistake      </a:t>
            </a:r>
            <a:r>
              <a:rPr sz="1000">
                <a:solidFill>
                  <a:srgbClr val="CBD5E1"/>
                </a:solidFill>
                <a:latin typeface="Calibri"/>
              </a:rPr>
              <a:t>What happened, why it failed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Anti-Pattern </a:t>
            </a:r>
            <a:r>
              <a:rPr sz="1000">
                <a:solidFill>
                  <a:srgbClr val="CBD5E1"/>
                </a:solidFill>
                <a:latin typeface="Calibri"/>
              </a:rPr>
              <a:t>Bad code example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Better       </a:t>
            </a:r>
            <a:r>
              <a:rPr sz="1000">
                <a:solidFill>
                  <a:srgbClr val="CBD5E1"/>
                </a:solidFill>
                <a:latin typeface="Calibri"/>
              </a:rPr>
              <a:t>Correct pattern (with code)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Rule         </a:t>
            </a:r>
            <a:r>
              <a:rPr sz="1000">
                <a:solidFill>
                  <a:srgbClr val="CBD5E1"/>
                </a:solidFill>
                <a:latin typeface="Calibri"/>
              </a:rPr>
              <a:t>Concrete instruction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Applied in   </a:t>
            </a:r>
            <a:r>
              <a:rPr sz="1000">
                <a:solidFill>
                  <a:srgbClr val="CBD5E1"/>
                </a:solidFill>
                <a:latin typeface="Calibri"/>
              </a:rPr>
              <a:t>Agents/skills required to follow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18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GAN-Inspired Generator vs Evaluator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Structural separation eliminates self-evaluation bias. Neither agent can do the other's job.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393192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Calibri"/>
              </a:rPr>
              <a:t>Generator (Sonnet)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36576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1. Propose sprint contract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2. TDD: write failing tests first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3. Implement code to pass tests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4. Spawn agent team (phased DAG)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5. Self-heal on failure (max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6. Hand off to evaluator — never 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606040"/>
            <a:ext cx="365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00" b="1">
                <a:solidFill>
                  <a:srgbClr val="FB923C"/>
                </a:solidFill>
                <a:latin typeface="Calibri"/>
              </a:rPr>
              <a:t>VS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188720"/>
            <a:ext cx="393192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2801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FB923C"/>
                </a:solidFill>
                <a:latin typeface="Calibri"/>
              </a:rPr>
              <a:t>Evaluator (Opus)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691640"/>
            <a:ext cx="36576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1. Finalize sprint contract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2. Start app (Docker / local / stub)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3. Layer 1: curl API endpoints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4. Layer 2: Playwright UI tests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5. Layer 3: design-critic vision scoring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6. Emit structured failures, never patch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19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Three-Layer Evaluation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Evaluator never reads source code — only runs the app and checks observable behavior.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280160"/>
            <a:ext cx="2368296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Calibri"/>
              </a:rPr>
              <a:t>Layer 1 ·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737360"/>
            <a:ext cx="2368296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Calibri"/>
              </a:rPr>
              <a:t>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984248"/>
            <a:ext cx="2368296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curl + jsonschema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834640"/>
            <a:ext cx="2368296" cy="1508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Catches:
backend logic, schema mismatches, error handling, status codes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143000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1280160"/>
            <a:ext cx="2368296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FB923C"/>
                </a:solidFill>
                <a:latin typeface="Calibri"/>
              </a:rPr>
              <a:t>Layer 2 · Playwright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1737360"/>
            <a:ext cx="2368296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Calibri"/>
              </a:rPr>
              <a:t>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1984248"/>
            <a:ext cx="2368296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Semantic selectors
(role, label, text, testid)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834640"/>
            <a:ext cx="2368296" cy="1508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Catches:
frontend bugs, broken forms, dead buttons, missing flows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143000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3912" y="1280160"/>
            <a:ext cx="2368296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A78BFA"/>
                </a:solidFill>
                <a:latin typeface="Calibri"/>
              </a:rPr>
              <a:t>Layer 3 · 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1737360"/>
            <a:ext cx="2368296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Calibri"/>
              </a:rPr>
              <a:t>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3912" y="1984248"/>
            <a:ext cx="2368296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design-critic agent
(Opus + screenshots)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3912" y="2834640"/>
            <a:ext cx="2368296" cy="1508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Catches:
generic templates, poor spacing, weak typography, low originality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20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Design-Critic GAN Scoring (Full Mode)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Score = (DQ × 1.5  +  O × 1.5  +  C × 0.75  +  F × 0.75)  /  4.5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01168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307592"/>
            <a:ext cx="502920" cy="50292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07592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DQ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2588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1.5×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60020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Design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011680"/>
            <a:ext cx="1682496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Visual coherence, color palette, layout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1143000"/>
            <a:ext cx="201168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97480" y="1307592"/>
            <a:ext cx="502920" cy="50292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1307592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32588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1.5×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160020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Originality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9192" y="2011680"/>
            <a:ext cx="1682496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Custom vs template defaults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1143000"/>
            <a:ext cx="201168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00600" y="1307592"/>
            <a:ext cx="502920" cy="50292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1307592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32588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alibri"/>
              </a:rPr>
              <a:t>0.75×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160020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Craft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82312" y="2011680"/>
            <a:ext cx="1682496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Typography, spacing, alignment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1143000"/>
            <a:ext cx="201168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903720" y="1307592"/>
            <a:ext cx="502920" cy="50292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1307592"/>
            <a:ext cx="502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132588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alibri"/>
              </a:rPr>
              <a:t>0.75×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0" y="160020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Functionality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85432" y="2011680"/>
            <a:ext cx="1682496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User can understand and complete tasks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324612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337560"/>
            <a:ext cx="3840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alibri"/>
              </a:rPr>
              <a:t>Pass conditions (BOTH required)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611880"/>
            <a:ext cx="3840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1. Weighted average ≥ 7.0  (calibration-profile.json)
2. ALL four individual scores ≥ 5.0 minimum
A high weighted average cannot mask a weak criterion.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17720" y="324612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0" y="3337560"/>
            <a:ext cx="38404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Plateau detection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611880"/>
            <a:ext cx="3840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If scores plateau across N iterations, the system forces a fundamental design pivot — new palette, layout, and typography pairing. Max 10 iterations (configurable).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21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Session Chaining — Multi-Context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Long builds survive context window limits through append-only state files.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48640" y="1280160"/>
            <a:ext cx="310896" cy="31089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310896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307592"/>
            <a:ext cx="24231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onsolas"/>
              </a:rPr>
              <a:t>program.md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307592"/>
            <a:ext cx="5212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Constraints, steering directives — humans edit mid-run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73736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48640" y="1828800"/>
            <a:ext cx="310896" cy="31089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828800"/>
            <a:ext cx="310896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856232"/>
            <a:ext cx="24231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onsolas"/>
              </a:rPr>
              <a:t>learned-rules.md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1856232"/>
            <a:ext cx="5212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Institutional memory — injected verbatim into all agent prompts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28600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2377440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377440"/>
            <a:ext cx="310896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404872"/>
            <a:ext cx="24231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onsolas"/>
              </a:rPr>
              <a:t>claude-progress.txt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2404872"/>
            <a:ext cx="5212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Current group, completed groups, next action, coverage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83464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48640" y="2926080"/>
            <a:ext cx="310896" cy="310896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926080"/>
            <a:ext cx="310896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953512"/>
            <a:ext cx="24231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Consolas"/>
              </a:rPr>
              <a:t>features.json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2953512"/>
            <a:ext cx="5212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Pass/fail state for all features with failure layer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38328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8640" y="3474720"/>
            <a:ext cx="310896" cy="310896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474720"/>
            <a:ext cx="310896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502152"/>
            <a:ext cx="24231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onsolas"/>
              </a:rPr>
              <a:t>dependency-graph.md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3502152"/>
            <a:ext cx="5212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Pick next unfinished group in sequence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93192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48640" y="4023360"/>
            <a:ext cx="310896" cy="310896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023360"/>
            <a:ext cx="310896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050792"/>
            <a:ext cx="24231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  <a:latin typeface="Consolas"/>
              </a:rPr>
              <a:t>iteration-log.md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4050792"/>
            <a:ext cx="52120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Append-only history of evaluator verdicts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4526280"/>
            <a:ext cx="8321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Recovery cost: ~700-1000 tokens. Negligible vs context window.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22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Four Execution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Pick the mode that matches stakes and budget. /auto and /build accept --mode.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Calibri"/>
              </a:rPr>
              <a:t>Full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3736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Calibri"/>
              </a:rPr>
              <a:t>$100-300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148840"/>
            <a:ext cx="168249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Gates
</a:t>
            </a:r>
            <a:r>
              <a:rPr sz="1100">
                <a:solidFill>
                  <a:srgbClr val="F8FAFC"/>
                </a:solidFill>
                <a:latin typeface="Calibri"/>
              </a:rPr>
              <a:t>All 6 gates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Teams
</a:t>
            </a:r>
            <a:r>
              <a:rPr sz="1100">
                <a:solidFill>
                  <a:srgbClr val="F8FAFC"/>
                </a:solidFill>
                <a:latin typeface="Calibri"/>
              </a:rPr>
              <a:t>Phased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Use
</a:t>
            </a:r>
            <a:r>
              <a:rPr sz="1100">
                <a:solidFill>
                  <a:srgbClr val="F8FAFC"/>
                </a:solidFill>
                <a:latin typeface="Calibri"/>
              </a:rPr>
              <a:t>Complex, high-stakes apps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1460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28016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>
                <a:solidFill>
                  <a:srgbClr val="FB923C"/>
                </a:solidFill>
                <a:latin typeface="Calibri"/>
              </a:rPr>
              <a:t>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73736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Calibri"/>
              </a:rPr>
              <a:t>$30-80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148840"/>
            <a:ext cx="168249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Gates
</a:t>
            </a:r>
            <a:r>
              <a:rPr sz="1100">
                <a:solidFill>
                  <a:srgbClr val="F8FAFC"/>
                </a:solidFill>
                <a:latin typeface="Calibri"/>
              </a:rPr>
              <a:t>Gates 1-5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Teams
</a:t>
            </a:r>
            <a:r>
              <a:rPr sz="1100">
                <a:solidFill>
                  <a:srgbClr val="F8FAFC"/>
                </a:solidFill>
                <a:latin typeface="Calibri"/>
              </a:rPr>
              <a:t>Phased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Use
</a:t>
            </a:r>
            <a:r>
              <a:rPr sz="1100">
                <a:solidFill>
                  <a:srgbClr val="F8FAFC"/>
                </a:solidFill>
                <a:latin typeface="Calibri"/>
              </a:rPr>
              <a:t>Backend-heavy, internal tools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28016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>
                <a:solidFill>
                  <a:srgbClr val="4ADE80"/>
                </a:solidFill>
                <a:latin typeface="Calibri"/>
              </a:rPr>
              <a:t>Solo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73736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Calibri"/>
              </a:rPr>
              <a:t>$5-15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148840"/>
            <a:ext cx="168249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Gates
</a:t>
            </a:r>
            <a:r>
              <a:rPr sz="1100">
                <a:solidFill>
                  <a:srgbClr val="F8FAFC"/>
                </a:solidFill>
                <a:latin typeface="Calibri"/>
              </a:rPr>
              <a:t>Gates 1-3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Teams
</a:t>
            </a:r>
            <a:r>
              <a:rPr sz="1100">
                <a:solidFill>
                  <a:srgbClr val="F8FAFC"/>
                </a:solidFill>
                <a:latin typeface="Calibri"/>
              </a:rPr>
              <a:t>None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Use
</a:t>
            </a:r>
            <a:r>
              <a:rPr sz="1100">
                <a:solidFill>
                  <a:srgbClr val="F8FAFC"/>
                </a:solidFill>
                <a:latin typeface="Calibri"/>
              </a:rPr>
              <a:t>Bug fixes, small features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128016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1">
                <a:solidFill>
                  <a:srgbClr val="A78BFA"/>
                </a:solidFill>
                <a:latin typeface="Calibri"/>
              </a:rPr>
              <a:t>Turbo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73736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Calibri"/>
              </a:rPr>
              <a:t>$30-50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5432" y="2148840"/>
            <a:ext cx="168249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Gates
</a:t>
            </a:r>
            <a:r>
              <a:rPr sz="1100">
                <a:solidFill>
                  <a:srgbClr val="F8FAFC"/>
                </a:solidFill>
                <a:latin typeface="Calibri"/>
              </a:rPr>
              <a:t>1-3 per cmt + 4-6 once at end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Teams
</a:t>
            </a:r>
            <a:r>
              <a:rPr sz="1100">
                <a:solidFill>
                  <a:srgbClr val="F8FAFC"/>
                </a:solidFill>
                <a:latin typeface="Calibri"/>
              </a:rPr>
              <a:t>Phased (single contract)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Use
</a:t>
            </a:r>
            <a:r>
              <a:rPr sz="1100">
                <a:solidFill>
                  <a:srgbClr val="F8FAFC"/>
                </a:solidFill>
                <a:latin typeface="Calibri"/>
              </a:rPr>
              <a:t>Highly capable model + well-spec'd build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23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Superpowers Integration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The harness invokes superpowers:* skills at five named pipeline stages.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88720"/>
            <a:ext cx="2606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HARNESS 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188720"/>
            <a:ext cx="2331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SUPERPOWER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1887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PURPOSE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81328"/>
            <a:ext cx="8412480" cy="53035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609344"/>
            <a:ext cx="260604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onsolas"/>
              </a:rPr>
              <a:t>/brd · /design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9344"/>
            <a:ext cx="2331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onsolas"/>
              </a:rPr>
              <a:t>brainstorming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9344"/>
            <a:ext cx="338328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Explore alternatives before committing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048256"/>
            <a:ext cx="8412480" cy="530352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176272"/>
            <a:ext cx="260604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onsolas"/>
              </a:rPr>
              <a:t>/implement · /refactor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176272"/>
            <a:ext cx="2331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onsolas"/>
              </a:rPr>
              <a:t>writing-plans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176272"/>
            <a:ext cx="338328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Structured plans before code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615184"/>
            <a:ext cx="8412480" cy="53035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743200"/>
            <a:ext cx="260604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onsolas"/>
              </a:rPr>
              <a:t>/implement (teammates)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2743200"/>
            <a:ext cx="2331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onsolas"/>
              </a:rPr>
              <a:t>test-driven-development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743200"/>
            <a:ext cx="338328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Red-green-refactor in every 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182112"/>
            <a:ext cx="8412480" cy="530352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310128"/>
            <a:ext cx="260604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Consolas"/>
              </a:rPr>
              <a:t>/fix-issue · /auto heal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310128"/>
            <a:ext cx="2331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onsolas"/>
              </a:rPr>
              <a:t>systematic-debugging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310128"/>
            <a:ext cx="338328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Root cause analysis before fixing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749040"/>
            <a:ext cx="8412480" cy="53035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877056"/>
            <a:ext cx="260604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onsolas"/>
              </a:rPr>
              <a:t>/auto (done) · evaluator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3877056"/>
            <a:ext cx="2331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onsolas"/>
              </a:rPr>
              <a:t>verification-before-completion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3877056"/>
            <a:ext cx="338328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Evidence before claiming PASS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24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Plugin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8 official plugins enabled in settings.json — complementary, never conflicting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280160"/>
            <a:ext cx="37398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onsolas"/>
              </a:rPr>
              <a:t>superpowers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572768"/>
            <a:ext cx="3739896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brainstorming · writing-plans · TDD · debugging · verification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188720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28032" y="1280160"/>
            <a:ext cx="37398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onsolas"/>
              </a:rPr>
              <a:t>code-review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8032" y="1572768"/>
            <a:ext cx="3739896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Multi-agent PR review with confidence scoring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020824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" y="2112264"/>
            <a:ext cx="37398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onsolas"/>
              </a:rPr>
              <a:t>commit-commands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2404872"/>
            <a:ext cx="3739896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/commit · /commit-push-pr git workflows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020824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8032" y="2112264"/>
            <a:ext cx="37398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onsolas"/>
              </a:rPr>
              <a:t>security-guidance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2404872"/>
            <a:ext cx="3739896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Edit-time security pattern checking (XSS, eval, raw HTML)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852928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" y="2944368"/>
            <a:ext cx="37398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onsolas"/>
              </a:rPr>
              <a:t>pr-review-toolkit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3236976"/>
            <a:ext cx="3739896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Specialized PR agents (comments, tests, errors, types)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2852928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28032" y="2944368"/>
            <a:ext cx="37398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87171"/>
                </a:solidFill>
                <a:latin typeface="Consolas"/>
              </a:rPr>
              <a:t>frontend-design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8032" y="3236976"/>
            <a:ext cx="3739896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Aesthetic-direction skill used by ui-designer + frontend teams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685032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3776472"/>
            <a:ext cx="37398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onsolas"/>
              </a:rPr>
              <a:t>context7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" y="4069080"/>
            <a:ext cx="3739896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MCP for up-to-date library/docs lookup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3685032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28032" y="3776472"/>
            <a:ext cx="3739896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onsolas"/>
              </a:rPr>
              <a:t>code-simplifier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8032" y="4069080"/>
            <a:ext cx="3739896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/simplify skill used during /refactor for cleanup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4526280"/>
            <a:ext cx="8321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Excluded by design: feature-dev (overlaps SDLC pipeline), hookify (would interfere with purpose-built hooks).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Agile Pod vs Agentic Pod — Team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Same outcome, very different cast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411480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Traditional Agile Pod  ·  6-10 people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3840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Solutions Architect  </a:t>
            </a:r>
            <a:r>
              <a:rPr sz="1100">
                <a:solidFill>
                  <a:srgbClr val="CBD5E1"/>
                </a:solidFill>
                <a:latin typeface="Calibri"/>
              </a:rPr>
              <a:t>(1) — System design, tech decisions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Frontend Developer  </a:t>
            </a:r>
            <a:r>
              <a:rPr sz="1100">
                <a:solidFill>
                  <a:srgbClr val="CBD5E1"/>
                </a:solidFill>
                <a:latin typeface="Calibri"/>
              </a:rPr>
              <a:t>(2-3) — UI/UX implementation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Backend Developer  </a:t>
            </a:r>
            <a:r>
              <a:rPr sz="1100">
                <a:solidFill>
                  <a:srgbClr val="CBD5E1"/>
                </a:solidFill>
                <a:latin typeface="Calibri"/>
              </a:rPr>
              <a:t>(2-3) — APIs, services, data layer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Business Analyst  </a:t>
            </a:r>
            <a:r>
              <a:rPr sz="1100">
                <a:solidFill>
                  <a:srgbClr val="CBD5E1"/>
                </a:solidFill>
                <a:latin typeface="Calibri"/>
              </a:rPr>
              <a:t>(1) — Requirements, acceptance criteria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QA Engineer  </a:t>
            </a:r>
            <a:r>
              <a:rPr sz="1100">
                <a:solidFill>
                  <a:srgbClr val="CBD5E1"/>
                </a:solidFill>
                <a:latin typeface="Calibri"/>
              </a:rPr>
              <a:t>(1-2) — Test plans, manual + automated testing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Scrum Master  </a:t>
            </a:r>
            <a:r>
              <a:rPr sz="1100">
                <a:solidFill>
                  <a:srgbClr val="CBD5E1"/>
                </a:solidFill>
                <a:latin typeface="Calibri"/>
              </a:rPr>
              <a:t>(1) — Sprint ceremonies, impediment removal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143000"/>
            <a:ext cx="411480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207008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Agentic Pod  ·  3-4 people + 7 AI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627632"/>
            <a:ext cx="3840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1">
                <a:solidFill>
                  <a:srgbClr val="38BDF8"/>
                </a:solidFill>
                <a:latin typeface="Consolas"/>
              </a:rPr>
              <a:t>[HUMAN] </a:t>
            </a:r>
            <a:r>
              <a:rPr sz="1100" b="1">
                <a:solidFill>
                  <a:srgbClr val="F8FAFC"/>
                </a:solidFill>
                <a:latin typeface="Calibri"/>
              </a:rPr>
              <a:t>Engineer (Full-Stack)  </a:t>
            </a:r>
            <a:r>
              <a:rPr sz="1000">
                <a:solidFill>
                  <a:srgbClr val="CBD5E1"/>
                </a:solidFill>
                <a:latin typeface="Calibri"/>
              </a:rPr>
              <a:t>Reviews + steers /auto via program.md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38BDF8"/>
                </a:solidFill>
                <a:latin typeface="Consolas"/>
              </a:rPr>
              <a:t>[HUMAN] </a:t>
            </a:r>
            <a:r>
              <a:rPr sz="1100" b="1">
                <a:solidFill>
                  <a:srgbClr val="F8FAFC"/>
                </a:solidFill>
                <a:latin typeface="Calibri"/>
              </a:rPr>
              <a:t>Business Analyst  </a:t>
            </a:r>
            <a:r>
              <a:rPr sz="1000">
                <a:solidFill>
                  <a:srgbClr val="CBD5E1"/>
                </a:solidFill>
                <a:latin typeface="Calibri"/>
              </a:rPr>
              <a:t>Owns BRD — the highest-leverage role now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38BDF8"/>
                </a:solidFill>
                <a:latin typeface="Consolas"/>
              </a:rPr>
              <a:t>[HUMAN] </a:t>
            </a:r>
            <a:r>
              <a:rPr sz="1100" b="1">
                <a:solidFill>
                  <a:srgbClr val="F8FAFC"/>
                </a:solidFill>
                <a:latin typeface="Calibri"/>
              </a:rPr>
              <a:t>Solutions Architect  </a:t>
            </a:r>
            <a:r>
              <a:rPr sz="1000">
                <a:solidFill>
                  <a:srgbClr val="CBD5E1"/>
                </a:solidFill>
                <a:latin typeface="Calibri"/>
              </a:rPr>
              <a:t>Design phase + lane selection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FB923C"/>
                </a:solidFill>
                <a:latin typeface="Consolas"/>
              </a:rPr>
              <a:t>[AGENT] </a:t>
            </a:r>
            <a:r>
              <a:rPr sz="1100" b="1">
                <a:solidFill>
                  <a:srgbClr val="F8FAFC"/>
                </a:solidFill>
                <a:latin typeface="Calibri"/>
              </a:rPr>
              <a:t>planner / generator  </a:t>
            </a:r>
            <a:r>
              <a:rPr sz="1000">
                <a:solidFill>
                  <a:srgbClr val="CBD5E1"/>
                </a:solidFill>
                <a:latin typeface="Calibri"/>
              </a:rPr>
              <a:t>BRD/specs · code + tests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FB923C"/>
                </a:solidFill>
                <a:latin typeface="Consolas"/>
              </a:rPr>
              <a:t>[AGENT] </a:t>
            </a:r>
            <a:r>
              <a:rPr sz="1100" b="1">
                <a:solidFill>
                  <a:srgbClr val="F8FAFC"/>
                </a:solidFill>
                <a:latin typeface="Calibri"/>
              </a:rPr>
              <a:t>evaluator / design-critic  </a:t>
            </a:r>
            <a:r>
              <a:rPr sz="1000">
                <a:solidFill>
                  <a:srgbClr val="CBD5E1"/>
                </a:solidFill>
                <a:latin typeface="Calibri"/>
              </a:rPr>
              <a:t>Verification (3-layer + vision)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FB923C"/>
                </a:solidFill>
                <a:latin typeface="Consolas"/>
              </a:rPr>
              <a:t>[AGENT] </a:t>
            </a:r>
            <a:r>
              <a:rPr sz="1100" b="1">
                <a:solidFill>
                  <a:srgbClr val="F8FAFC"/>
                </a:solidFill>
                <a:latin typeface="Calibri"/>
              </a:rPr>
              <a:t>test-engineer / security-reviewer / ui-designer  </a:t>
            </a:r>
            <a:r>
              <a:rPr sz="1000">
                <a:solidFill>
                  <a:srgbClr val="CBD5E1"/>
                </a:solidFill>
                <a:latin typeface="Calibri"/>
              </a:rPr>
              <a:t>Specialist subagents on demand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26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How the Agentic Pod Changes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Side-by-side dimensions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88720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DIMENSION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3160" y="1188720"/>
            <a:ext cx="3108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TRADITIONAL AGILE POD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118872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AGENTIC POD + HARNESS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81328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72768"/>
            <a:ext cx="201168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Team 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572768"/>
            <a:ext cx="310896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6-10 people (dedicated)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1572768"/>
            <a:ext cx="320040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3-4 people + 7 AI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901952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993392"/>
            <a:ext cx="201168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Frontend/Backend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1993392"/>
            <a:ext cx="310896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Separate devs, handoff overhead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993392"/>
            <a:ext cx="320040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One agent generates both, TDD-first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322576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414016"/>
            <a:ext cx="201168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QA 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414016"/>
            <a:ext cx="310896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Manual + automated by QA engineer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2414016"/>
            <a:ext cx="320040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3-layer eval: API + Playwright + Vision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743200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834640"/>
            <a:ext cx="201168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Code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2834640"/>
            <a:ext cx="310896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Peer review, async, delays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834640"/>
            <a:ext cx="320040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GAN evaluator + security reviewer (real-time)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163824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255264"/>
            <a:ext cx="201168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Requirements Quality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3255264"/>
            <a:ext cx="310896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Important but recoverable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3255264"/>
            <a:ext cx="320040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Critical — drives entire autonomous pipeline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3584448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675888"/>
            <a:ext cx="201168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Sprint Velocity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3675888"/>
            <a:ext cx="310896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Story points per sprint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3675888"/>
            <a:ext cx="320040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Stories per ratchet iteration (10-50×)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4005072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096512"/>
            <a:ext cx="201168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Quality Gates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096512"/>
            <a:ext cx="310896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PR reviews, CI checks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2120" y="4096512"/>
            <a:ext cx="3200400" cy="42062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15 hooks + 6 ratchet gates on every edit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27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Case Study — PE Document 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Built with Claude Harness Engine — Private Equity LPA / Subscription Document Processing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0116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400" b="1">
                <a:solidFill>
                  <a:srgbClr val="38BDF8"/>
                </a:solidFill>
                <a:latin typeface="Calibri"/>
              </a:rPr>
              <a:t>128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1168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F8FAFC"/>
                </a:solidFill>
                <a:latin typeface="Calibri"/>
              </a:rPr>
              <a:t>Features Delivered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143000"/>
            <a:ext cx="20116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128016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400" b="1">
                <a:solidFill>
                  <a:srgbClr val="FB923C"/>
                </a:solidFill>
                <a:latin typeface="Calibri"/>
              </a:rPr>
              <a:t>511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01168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F8FAFC"/>
                </a:solidFill>
                <a:latin typeface="Calibri"/>
              </a:rPr>
              <a:t>Automated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143000"/>
            <a:ext cx="20116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28016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400" b="1">
                <a:solidFill>
                  <a:srgbClr val="4ADE80"/>
                </a:solidFill>
                <a:latin typeface="Calibri"/>
              </a:rPr>
              <a:t>97%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01168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F8FAFC"/>
                </a:solidFill>
                <a:latin typeface="Calibri"/>
              </a:rPr>
              <a:t>Code Coverage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1143000"/>
            <a:ext cx="20116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128016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400" b="1">
                <a:solidFill>
                  <a:srgbClr val="A78BFA"/>
                </a:solidFill>
                <a:latin typeface="Calibri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011680"/>
            <a:ext cx="20116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F8FAFC"/>
                </a:solidFill>
                <a:latin typeface="Calibri"/>
              </a:rPr>
              <a:t>Epics across 6 Groups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743200"/>
            <a:ext cx="8321040" cy="1874519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834640"/>
            <a:ext cx="81381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Tech Stack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54680"/>
            <a:ext cx="8138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onsolas"/>
              </a:rPr>
              <a:t>Frontend   </a:t>
            </a:r>
            <a:r>
              <a:rPr sz="1100">
                <a:solidFill>
                  <a:srgbClr val="CBD5E1"/>
                </a:solidFill>
                <a:latin typeface="Calibri"/>
              </a:rPr>
              <a:t>React 19 · Vite · TypeScript · Tailwind CSS 4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onsolas"/>
              </a:rPr>
              <a:t>Backend    </a:t>
            </a:r>
            <a:r>
              <a:rPr sz="1100">
                <a:solidFill>
                  <a:srgbClr val="CBD5E1"/>
                </a:solidFill>
                <a:latin typeface="Calibri"/>
              </a:rPr>
              <a:t>Python 3.13 · FastAPI · SQLAlchemy 2.0 (async)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onsolas"/>
              </a:rPr>
              <a:t>Agents     </a:t>
            </a:r>
            <a:r>
              <a:rPr sz="1100">
                <a:solidFill>
                  <a:srgbClr val="CBD5E1"/>
                </a:solidFill>
                <a:latin typeface="Calibri"/>
              </a:rPr>
              <a:t>DeepAgents 0.4.12 (LangGraph) + 5 subagents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onsolas"/>
              </a:rPr>
              <a:t>LLM        </a:t>
            </a:r>
            <a:r>
              <a:rPr sz="1100">
                <a:solidFill>
                  <a:srgbClr val="CBD5E1"/>
                </a:solidFill>
                <a:latin typeface="Calibri"/>
              </a:rPr>
              <a:t>OpenAI GPT-5.4-mini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onsolas"/>
              </a:rPr>
              <a:t>Database   </a:t>
            </a:r>
            <a:r>
              <a:rPr sz="1100">
                <a:solidFill>
                  <a:srgbClr val="CBD5E1"/>
                </a:solidFill>
                <a:latin typeface="Calibri"/>
              </a:rPr>
              <a:t>PostgreSQL 16 + Weaviate (hybrid vector search)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28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Lesson Learned — Requirements Are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The scaffolding is only as good as the inputs it receives.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4114800" cy="3108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Well-Written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Clear Requirements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Comprehensive BRD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Detailed Stories + Dep Graph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Autonomous /auto Build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ADE80"/>
                </a:solidFill>
                <a:latin typeface="Calibri"/>
              </a:rPr>
              <a:t>→ 128 features  ·  97%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188720"/>
            <a:ext cx="4114800" cy="3108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280160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Calibri"/>
              </a:rPr>
              <a:t>Vague or Incomplete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69164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Vague Requirements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Shallow BRD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Incomplete Spec + Stories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/auto stalls or misbuilds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→ Fallback to /vibe coding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343400"/>
            <a:ext cx="8321040" cy="384048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370832"/>
            <a:ext cx="8138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alibri"/>
              </a:rPr>
              <a:t>Takeaway: Invest in the BRD. The BA / Architect role becomes the highest-leverage position in an agentic pod.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29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Key Takeaways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97280"/>
            <a:ext cx="8321040" cy="640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261872"/>
            <a:ext cx="310896" cy="31089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61872"/>
            <a:ext cx="310896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88720"/>
            <a:ext cx="7589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GAN separation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26464"/>
            <a:ext cx="758952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Eliminates self-evaluation bias — the single biggest failure mode in agentic builds.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810512"/>
            <a:ext cx="8321040" cy="6400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48640" y="1975104"/>
            <a:ext cx="310896" cy="31089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75104"/>
            <a:ext cx="310896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901952"/>
            <a:ext cx="7589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Karpathy ratchet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39696"/>
            <a:ext cx="758952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Guarantees monotonic progress — every commit makes the system strictly better.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523744"/>
            <a:ext cx="8321040" cy="640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" y="2688336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688336"/>
            <a:ext cx="310896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615184"/>
            <a:ext cx="7589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alibri"/>
              </a:rPr>
              <a:t>Skills-as-commands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52928"/>
            <a:ext cx="758952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One real `/scaffold` command bootstraps a runtime where 25 skills act as virtual commands. Keeps context cheap and discovery progressive.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236976"/>
            <a:ext cx="8321040" cy="6400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8640" y="3401568"/>
            <a:ext cx="310896" cy="310896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401568"/>
            <a:ext cx="310896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328416"/>
            <a:ext cx="7589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alibri"/>
              </a:rPr>
              <a:t>Brownfield + Vibe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566160"/>
            <a:ext cx="758952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Two new lanes in v1.1.4 make the harness adaptable to real codebases and tiny safe edits, without bypassing the ratchet.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950208"/>
            <a:ext cx="8321040" cy="640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8640" y="4114800"/>
            <a:ext cx="310896" cy="310896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114800"/>
            <a:ext cx="310896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041648"/>
            <a:ext cx="7589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alibri"/>
              </a:rPr>
              <a:t>Requirements quality is the bottleneck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279392"/>
            <a:ext cx="758952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An agentic pod of 3-4 people + 7 AI agents can outpace a 10-person agile team — but only if the BRD is rigorous.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4736592"/>
            <a:ext cx="8321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Claude Harness Engine v1.1.4  —  Autonomous SDLC for the Age of Agents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30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11827"/>
                </a:solidFill>
              </a:defRPr>
            </a:pPr>
            <a:r>
              <a:t>Agent Factory: Tracker-Orchestrated Claude Harness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78992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4B5563"/>
                </a:solidFill>
              </a:defRPr>
            </a:pPr>
            <a:r>
              <a:t>The optional flow keeps the scaffold local-first while letting Linear/Jira schedule independent story clusters.</a:t>
            </a:r>
          </a:p>
        </p:txBody>
      </p:sp>
      <p:pic>
        <p:nvPicPr>
          <p:cNvPr id="4" name="Picture 3" descr="symphony_c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10835640" cy="594584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234440" y="5989320"/>
            <a:ext cx="9738360" cy="320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Default path remains local-only. Tracker mode mirrors approved harness groups to Linear/Jira, then symphony_clone schedules eligible groups.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66070"/>
                </a:solidFill>
              </a:defRPr>
            </a:pPr>
            <a:r>
              <a:t>Claude Harness Engine v1.1.4   ·   Agent Factory + Tracker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66070"/>
                </a:solidFill>
              </a:defRPr>
            </a:pPr>
            <a:r>
              <a:t>31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11827"/>
                </a:solidFill>
              </a:defRPr>
            </a:pPr>
            <a:r>
              <a:t>How symphony_clone Spins Up Claude Code Workspaces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78992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4B5563"/>
                </a:solidFill>
              </a:defRPr>
            </a:pPr>
            <a:r>
              <a:t>One orchestrator process creates isolated agent runs from tracker-ready dependency groups.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572768" cy="27432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1. Read config</a:t>
            </a:r>
          </a:p>
          <a:p>
            <a:pPr>
              <a:spcBef>
                <a:spcPts val="200"/>
              </a:spcBef>
              <a:defRPr sz="919">
                <a:solidFill>
                  <a:srgbClr val="334155"/>
                </a:solidFill>
              </a:defRPr>
            </a:pPr>
            <a:r>
              <a:t>.env supplies Linear, GitHub, repo, labels, states, retry policy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075688" y="2743200"/>
            <a:ext cx="347472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423160" y="1417320"/>
            <a:ext cx="1572768" cy="274320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2. Monitor tracker</a:t>
            </a:r>
          </a:p>
          <a:p>
            <a:pPr>
              <a:spcBef>
                <a:spcPts val="200"/>
              </a:spcBef>
              <a:defRPr sz="919">
                <a:solidFill>
                  <a:srgbClr val="334155"/>
                </a:solidFill>
              </a:defRPr>
            </a:pPr>
            <a:r>
              <a:t>Poll Linear project for Ready + label and running states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95928" y="2743200"/>
            <a:ext cx="347472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417320"/>
            <a:ext cx="1572768" cy="27432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3. Pick cluster</a:t>
            </a:r>
          </a:p>
          <a:p>
            <a:pPr>
              <a:spcBef>
                <a:spcPts val="200"/>
              </a:spcBef>
              <a:defRPr sz="919">
                <a:solidFill>
                  <a:srgbClr val="334155"/>
                </a:solidFill>
              </a:defRPr>
            </a:pPr>
            <a:r>
              <a:t>Filter blockers using dependency links and terminal states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16168" y="2743200"/>
            <a:ext cx="347472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63640" y="1417320"/>
            <a:ext cx="1572768" cy="274320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4. Claim work</a:t>
            </a:r>
          </a:p>
          <a:p>
            <a:pPr>
              <a:spcBef>
                <a:spcPts val="200"/>
              </a:spcBef>
              <a:defRPr sz="919">
                <a:solidFill>
                  <a:srgbClr val="334155"/>
                </a:solidFill>
              </a:defRPr>
            </a:pPr>
            <a:r>
              <a:t>Move issue to In Progress and add claim comment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6408" y="2743200"/>
            <a:ext cx="347471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83879" y="1417320"/>
            <a:ext cx="1572768" cy="27432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5. Launch Claude</a:t>
            </a:r>
          </a:p>
          <a:p>
            <a:pPr>
              <a:spcBef>
                <a:spcPts val="200"/>
              </a:spcBef>
              <a:defRPr sz="919">
                <a:solidFill>
                  <a:srgbClr val="334155"/>
                </a:solidFill>
              </a:defRPr>
            </a:pPr>
            <a:r>
              <a:t>Clone repo, create agent/&lt;key&gt;, run claude --print prompt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756648" y="2743200"/>
            <a:ext cx="347472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104120" y="1417320"/>
            <a:ext cx="1572768" cy="274320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6. Deliver proof</a:t>
            </a:r>
          </a:p>
          <a:p>
            <a:pPr>
              <a:spcBef>
                <a:spcPts val="200"/>
              </a:spcBef>
              <a:defRPr sz="919">
                <a:solidFill>
                  <a:srgbClr val="334155"/>
                </a:solidFill>
              </a:defRPr>
            </a:pPr>
            <a:r>
              <a:t>Read result.json, push branch, open PR, comment, move review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800600"/>
            <a:ext cx="3108960" cy="7772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Instance boundary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Each Linear issue maps to one workspace under WORKSPACE_ROOT/&lt;issue-key&gt;.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4800600"/>
            <a:ext cx="3108960" cy="777240"/>
          </a:xfrm>
          <a:prstGeom prst="roundRect">
            <a:avLst/>
          </a:prstGeom>
          <a:solidFill>
            <a:srgbClr val="F5F3FF"/>
          </a:solidFill>
          <a:ln w="1524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Agent team boundary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Inside the workspace, /auto --group A creates story-level teammates and verifier loops.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800600"/>
            <a:ext cx="3108960" cy="77724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Delivery boundary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The orchestrator can create PRs, but humans still review, merge, and mark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46520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66070"/>
                </a:solidFill>
              </a:defRPr>
            </a:pPr>
            <a:r>
              <a:t>Claude Harness Engine v1.1.4   ·   Agent Factory + Tracker 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66070"/>
                </a:solidFill>
              </a:defRPr>
            </a:pPr>
            <a: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11827"/>
                </a:solidFill>
              </a:defRPr>
            </a:pPr>
            <a:r>
              <a:t>Packaging Contract: What Gets Copied vs What Runs Outside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78992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4B5563"/>
                </a:solidFill>
              </a:defRPr>
            </a:pPr>
            <a:r>
              <a:t>The scaffold defines the work contract; symphony_clone consumes it as infrastructure.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514600" cy="429768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Scaffolded target repo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.claude/ skills, agents, hooks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CLAUDE.md + design.md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specs/stories + dependency graph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features.json + component-map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tracker-config only if enabled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417320"/>
            <a:ext cx="2514600" cy="429768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Tracker system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Linear/Jira group issues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ready label + workflow state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blocker relationships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proof comments + PR links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Human Review visible queue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2514600" cy="429768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symphony_clone runtime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Docker or local Node process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StateStore + JSONL logs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Linear state alias mapping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retry/backoff scheduler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ClaudeRunner + WorkspaceManager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0" y="1417320"/>
            <a:ext cx="2514600" cy="4297680"/>
          </a:xfrm>
          <a:prstGeom prst="roundRect">
            <a:avLst/>
          </a:prstGeom>
          <a:solidFill>
            <a:srgbClr val="F5F3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Delivery repo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agent/&lt;issue-key&gt; branch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GitHub pull request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result.json proof contract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review reports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human merge decision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360" y="3584448"/>
            <a:ext cx="41148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760720" y="3584448"/>
            <a:ext cx="41148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641080" y="3584448"/>
            <a:ext cx="411479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60120" y="5897880"/>
            <a:ext cx="10287000" cy="320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Key rule: symphony_clone/ is versioned with the harness repo, but /scaffold does not copy it into applications.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46520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66070"/>
                </a:solidFill>
              </a:defRPr>
            </a:pPr>
            <a:r>
              <a:t>Claude Harness Engine v1.1.4   ·   Agent Factory + Tracker Orchestration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66070"/>
                </a:solidFill>
              </a:defRPr>
            </a:pPr>
            <a:r>
              <a:t>33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11827"/>
                </a:solidFill>
              </a:defRPr>
            </a:pPr>
            <a:r>
              <a:t>Agent Factory Hardening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78992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4B5563"/>
                </a:solidFill>
              </a:defRPr>
            </a:pPr>
            <a:r>
              <a:t>The orchestrator is deliberately boring infrastructure: deterministic state, visible logs, safe retries, explicit review gates.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429000" cy="416052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Retry policy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MAX_RETRY_ATTEMPTS controls final block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Exponential backoff: base * 2^(attempt-1)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Failures stay retry_wait until due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Tracker is moved to blocked only after exhaustion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25880"/>
            <a:ext cx="3429000" cy="416052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Workspace state mapping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READY_STATE + READY_LABEL gate dispatch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REVIEW_STATE_CANDIDATES handles Linear variants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BLOCKED_STATE_CANDIDATES avoids brittle workflows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Terminal blocker states prevent premature clusters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325880"/>
            <a:ext cx="3429000" cy="416052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Visibility + security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STATE_DIR/state.json records every run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LOG_ROOT/orchestrator.jsonl gives event history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STATUS_PORT exposes /, /health, /state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.env is runtime-only; secrets are never scaffolded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806440"/>
            <a:ext cx="10332720" cy="411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 b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Result: a repeatable SDLC agent factory: tracker chooses the cluster, symphony_clone creates the workspace, Claude Harness forms the team, GitHub receives the reviewable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66070"/>
                </a:solidFill>
              </a:defRPr>
            </a:pPr>
            <a:r>
              <a:t>Claude Harness Engine v1.1.4   ·   Agent Factory + Tracker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66070"/>
                </a:solidFill>
              </a:defRPr>
            </a:pPr>
            <a:r>
              <a:t>34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11827"/>
                </a:solidFill>
              </a:defRPr>
            </a:pPr>
            <a:r>
              <a:t>Graph-Grounded Brownfield Discovery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4B5563"/>
                </a:solidFill>
              </a:defRPr>
            </a:pPr>
            <a:r>
              <a:t>v4 ports the enriched v3 brownfield flow: code graph first, narrative second.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874519" cy="3246120"/>
          </a:xfrm>
          <a:prstGeom prst="roundRect">
            <a:avLst/>
          </a:prstGeom>
          <a:solidFill>
            <a:srgbClr val="EFF6FF"/>
          </a:solidFill>
          <a:ln w="1397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/brownfield</a:t>
            </a:r>
          </a:p>
          <a:p>
            <a:pPr>
              <a:spcBef>
                <a:spcPts val="300"/>
              </a:spcBef>
              <a:defRPr sz="930">
                <a:solidFill>
                  <a:srgbClr val="334155"/>
                </a:solidFill>
              </a:defRPr>
            </a:pPr>
            <a:r>
              <a:t>Entry point for existing-codebase work</a:t>
            </a:r>
          </a:p>
          <a:p>
            <a:pPr>
              <a:spcBef>
                <a:spcPts val="300"/>
              </a:spcBef>
              <a:defRPr sz="930">
                <a:solidFill>
                  <a:srgbClr val="334155"/>
                </a:solidFill>
              </a:defRPr>
            </a:pPr>
            <a:r>
              <a:t>Read-only except brownfield docs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77439" y="3063240"/>
            <a:ext cx="411481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788920" y="1508760"/>
            <a:ext cx="1874519" cy="3246120"/>
          </a:xfrm>
          <a:prstGeom prst="roundRect">
            <a:avLst/>
          </a:prstGeom>
          <a:solidFill>
            <a:srgbClr val="FFFBEB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/code-map</a:t>
            </a:r>
          </a:p>
          <a:p>
            <a:pPr>
              <a:spcBef>
                <a:spcPts val="300"/>
              </a:spcBef>
              <a:defRPr sz="930">
                <a:solidFill>
                  <a:srgbClr val="334155"/>
                </a:solidFill>
              </a:defRPr>
            </a:pPr>
            <a:r>
              <a:t>Producer chain: graphify, hex-graph, vendored Node</a:t>
            </a:r>
          </a:p>
          <a:p>
            <a:pPr>
              <a:spcBef>
                <a:spcPts val="300"/>
              </a:spcBef>
              <a:defRPr sz="930">
                <a:solidFill>
                  <a:srgbClr val="334155"/>
                </a:solidFill>
              </a:defRPr>
            </a:pPr>
            <a:r>
              <a:t>Writes deterministic graph artifacts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663440" y="3063240"/>
            <a:ext cx="41148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4920" y="1508760"/>
            <a:ext cx="1874519" cy="3246120"/>
          </a:xfrm>
          <a:prstGeom prst="roundRect">
            <a:avLst/>
          </a:prstGeom>
          <a:solidFill>
            <a:srgbClr val="F0FDF4"/>
          </a:solidFill>
          <a:ln w="1397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Graph artifacts</a:t>
            </a:r>
          </a:p>
          <a:p>
            <a:pPr>
              <a:spcBef>
                <a:spcPts val="300"/>
              </a:spcBef>
              <a:defRPr sz="930">
                <a:solidFill>
                  <a:srgbClr val="334155"/>
                </a:solidFill>
              </a:defRPr>
            </a:pPr>
            <a:r>
              <a:t>code-graph.json + meta</a:t>
            </a:r>
          </a:p>
          <a:p>
            <a:pPr>
              <a:spcBef>
                <a:spcPts val="300"/>
              </a:spcBef>
              <a:defRPr sz="930">
                <a:solidFill>
                  <a:srgbClr val="334155"/>
                </a:solidFill>
              </a:defRPr>
            </a:pPr>
            <a:r>
              <a:t>dependency-graph.md</a:t>
            </a:r>
          </a:p>
          <a:p>
            <a:pPr>
              <a:spcBef>
                <a:spcPts val="300"/>
              </a:spcBef>
              <a:defRPr sz="930">
                <a:solidFill>
                  <a:srgbClr val="334155"/>
                </a:solidFill>
              </a:defRPr>
            </a:pPr>
            <a:r>
              <a:t>coupling-report.md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0" y="3063240"/>
            <a:ext cx="41148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60920" y="1508760"/>
            <a:ext cx="1874519" cy="3246120"/>
          </a:xfrm>
          <a:prstGeom prst="roundRect">
            <a:avLst/>
          </a:prstGeom>
          <a:solidFill>
            <a:srgbClr val="F5F3FF"/>
          </a:solidFill>
          <a:ln w="1397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Evidence maps</a:t>
            </a:r>
          </a:p>
          <a:p>
            <a:pPr>
              <a:spcBef>
                <a:spcPts val="300"/>
              </a:spcBef>
              <a:defRPr sz="930">
                <a:solidFill>
                  <a:srgbClr val="334155"/>
                </a:solidFill>
              </a:defRPr>
            </a:pPr>
            <a:r>
              <a:t>architecture-map.md cites edges</a:t>
            </a:r>
          </a:p>
          <a:p>
            <a:pPr>
              <a:spcBef>
                <a:spcPts val="300"/>
              </a:spcBef>
              <a:defRPr sz="930">
                <a:solidFill>
                  <a:srgbClr val="334155"/>
                </a:solidFill>
              </a:defRPr>
            </a:pPr>
            <a:r>
              <a:t>risk-map.md cites hubs/cycles</a:t>
            </a:r>
          </a:p>
          <a:p>
            <a:pPr>
              <a:spcBef>
                <a:spcPts val="300"/>
              </a:spcBef>
              <a:defRPr sz="930">
                <a:solidFill>
                  <a:srgbClr val="334155"/>
                </a:solidFill>
              </a:defRPr>
            </a:pPr>
            <a:r>
              <a:t>change-strategy.md chooses lane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35440" y="3063240"/>
            <a:ext cx="41148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646920" y="1508760"/>
            <a:ext cx="1874519" cy="324612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/seam-finder</a:t>
            </a:r>
          </a:p>
          <a:p>
            <a:pPr>
              <a:spcBef>
                <a:spcPts val="300"/>
              </a:spcBef>
              <a:defRPr sz="930">
                <a:solidFill>
                  <a:srgbClr val="334155"/>
                </a:solidFill>
              </a:defRPr>
            </a:pPr>
            <a:r>
              <a:t>Ranks safe cut-points for a goal</a:t>
            </a:r>
          </a:p>
          <a:p>
            <a:pPr>
              <a:spcBef>
                <a:spcPts val="300"/>
              </a:spcBef>
              <a:defRPr sz="930">
                <a:solidFill>
                  <a:srgbClr val="334155"/>
                </a:solidFill>
              </a:defRPr>
            </a:pPr>
            <a:r>
              <a:t>Writes seams-&lt;goal&gt;.md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257800"/>
            <a:ext cx="10378440" cy="5943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Agent contract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Any brownfield claim such as "module X depends on Y" must cite code-graph.json edge evidence. Refactor targets read coupling-report.md and seams-&lt;goal&gt;.md.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46520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66070"/>
                </a:solidFill>
              </a:defRPr>
            </a:pPr>
            <a:r>
              <a:t>Claude Harness Engine v1.1.4   ·   Graph-Grounded Brownfield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66070"/>
                </a:solidFill>
              </a:defRPr>
            </a:pPr>
            <a:r>
              <a:t>35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11827"/>
                </a:solidFill>
              </a:defRPr>
            </a:pPr>
            <a:r>
              <a:t>Brownfield Seam Scoring: Where Should the Agent Cut?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4B5563"/>
                </a:solidFill>
              </a:defRPr>
            </a:pPr>
            <a:r>
              <a:t>/seam-finder turns graph structure plus a goal into ranked extension/refactor candidates.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2743200" cy="4114800"/>
          </a:xfrm>
          <a:prstGeom prst="roundRect">
            <a:avLst/>
          </a:prstGeom>
          <a:solidFill>
            <a:srgbClr val="EFF6FF"/>
          </a:solidFill>
          <a:ln w="1397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Inputs</a:t>
            </a:r>
          </a:p>
          <a:p>
            <a:pPr>
              <a:spcBef>
                <a:spcPts val="300"/>
              </a:spcBef>
              <a:defRPr sz="1019">
                <a:solidFill>
                  <a:srgbClr val="334155"/>
                </a:solidFill>
              </a:defRPr>
            </a:pPr>
            <a:r>
              <a:t>code-graph.json</a:t>
            </a:r>
          </a:p>
          <a:p>
            <a:pPr>
              <a:spcBef>
                <a:spcPts val="300"/>
              </a:spcBef>
              <a:defRPr sz="1019">
                <a:solidFill>
                  <a:srgbClr val="334155"/>
                </a:solidFill>
              </a:defRPr>
            </a:pPr>
            <a:r>
              <a:t>coupling-report.md</a:t>
            </a:r>
          </a:p>
          <a:p>
            <a:pPr>
              <a:spcBef>
                <a:spcPts val="300"/>
              </a:spcBef>
              <a:defRPr sz="1019">
                <a:solidFill>
                  <a:srgbClr val="334155"/>
                </a:solidFill>
              </a:defRPr>
            </a:pPr>
            <a:r>
              <a:t>goal phrase</a:t>
            </a:r>
          </a:p>
          <a:p>
            <a:pPr>
              <a:spcBef>
                <a:spcPts val="300"/>
              </a:spcBef>
              <a:defRPr sz="1019">
                <a:solidFill>
                  <a:srgbClr val="334155"/>
                </a:solidFill>
              </a:defRPr>
            </a:pPr>
            <a:r>
              <a:t>optional graphify / hex-graph fidelity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325880"/>
            <a:ext cx="4206240" cy="4114800"/>
          </a:xfrm>
          <a:prstGeom prst="roundRect">
            <a:avLst/>
          </a:prstGeom>
          <a:solidFill>
            <a:srgbClr val="FFFBEB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Score model</a:t>
            </a:r>
          </a:p>
          <a:p>
            <a:pPr>
              <a:spcBef>
                <a:spcPts val="300"/>
              </a:spcBef>
              <a:defRPr sz="1019">
                <a:solidFill>
                  <a:srgbClr val="334155"/>
                </a:solidFill>
              </a:defRPr>
            </a:pPr>
            <a:r>
              <a:t>Observable boundary 0.4</a:t>
            </a:r>
          </a:p>
          <a:p>
            <a:pPr>
              <a:spcBef>
                <a:spcPts val="300"/>
              </a:spcBef>
              <a:defRPr sz="1019">
                <a:solidFill>
                  <a:srgbClr val="334155"/>
                </a:solidFill>
              </a:defRPr>
            </a:pPr>
            <a:r>
              <a:t>Funnel score 0.4</a:t>
            </a:r>
          </a:p>
          <a:p>
            <a:pPr>
              <a:spcBef>
                <a:spcPts val="300"/>
              </a:spcBef>
              <a:defRPr sz="1019">
                <a:solidFill>
                  <a:srgbClr val="334155"/>
                </a:solidFill>
              </a:defRPr>
            </a:pPr>
            <a:r>
              <a:t>Read/write asymmetry 0.2</a:t>
            </a:r>
          </a:p>
          <a:p>
            <a:pPr>
              <a:spcBef>
                <a:spcPts val="300"/>
              </a:spcBef>
              <a:defRPr sz="1019">
                <a:solidFill>
                  <a:srgbClr val="334155"/>
                </a:solidFill>
              </a:defRPr>
            </a:pPr>
            <a:r>
              <a:t>Goal keyword bump x1.5</a:t>
            </a:r>
          </a:p>
          <a:p>
            <a:pPr>
              <a:spcBef>
                <a:spcPts val="300"/>
              </a:spcBef>
              <a:defRPr sz="1019">
                <a:solidFill>
                  <a:srgbClr val="334155"/>
                </a:solidFill>
              </a:defRPr>
            </a:pPr>
            <a:r>
              <a:t>Tests/fixtures excluded by default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325880"/>
            <a:ext cx="3337560" cy="4114800"/>
          </a:xfrm>
          <a:prstGeom prst="roundRect">
            <a:avLst/>
          </a:prstGeom>
          <a:solidFill>
            <a:srgbClr val="F0FDF4"/>
          </a:solidFill>
          <a:ln w="1397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Recommended action</a:t>
            </a:r>
          </a:p>
          <a:p>
            <a:pPr>
              <a:spcBef>
                <a:spcPts val="300"/>
              </a:spcBef>
              <a:defRPr sz="1019">
                <a:solidFill>
                  <a:srgbClr val="334155"/>
                </a:solidFill>
              </a:defRPr>
            </a:pPr>
            <a:r>
              <a:t>extend existing seam</a:t>
            </a:r>
          </a:p>
          <a:p>
            <a:pPr>
              <a:spcBef>
                <a:spcPts val="300"/>
              </a:spcBef>
              <a:defRPr sz="1019">
                <a:solidFill>
                  <a:srgbClr val="334155"/>
                </a:solidFill>
              </a:defRPr>
            </a:pPr>
            <a:r>
              <a:t>wrap a boundary</a:t>
            </a:r>
          </a:p>
          <a:p>
            <a:pPr>
              <a:spcBef>
                <a:spcPts val="300"/>
              </a:spcBef>
              <a:defRPr sz="1019">
                <a:solidFill>
                  <a:srgbClr val="334155"/>
                </a:solidFill>
              </a:defRPr>
            </a:pPr>
            <a:r>
              <a:t>introduce adapter</a:t>
            </a:r>
          </a:p>
          <a:p>
            <a:pPr>
              <a:spcBef>
                <a:spcPts val="300"/>
              </a:spcBef>
              <a:defRPr sz="1019">
                <a:solidFill>
                  <a:srgbClr val="334155"/>
                </a:solidFill>
              </a:defRPr>
            </a:pPr>
            <a:r>
              <a:t>split read/write path</a:t>
            </a:r>
          </a:p>
          <a:p>
            <a:pPr>
              <a:spcBef>
                <a:spcPts val="300"/>
              </a:spcBef>
              <a:defRPr sz="1019">
                <a:solidFill>
                  <a:srgbClr val="334155"/>
                </a:solidFill>
              </a:defRPr>
            </a:pPr>
            <a:r>
              <a:t>avoid poor seam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715000"/>
            <a:ext cx="10332720" cy="438912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73152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Result: brownfield work lands in existing architecture instead of creating parallel implementations.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6766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66070"/>
                </a:solidFill>
              </a:defRPr>
            </a:pPr>
            <a:r>
              <a:t>Claude Harness Engine v1.1.4   ·   Graph-Grounded Brownfield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731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66070"/>
                </a:solidFill>
              </a:defRPr>
            </a:pPr>
            <a: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